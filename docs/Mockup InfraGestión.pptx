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9"/>
  </p:handoutMasterIdLst>
  <p:sldIdLst>
    <p:sldId id="256" r:id="rId3"/>
    <p:sldId id="258" r:id="rId4"/>
    <p:sldId id="263" r:id="rId5"/>
    <p:sldId id="262" r:id="rId7"/>
    <p:sldId id="266" r:id="rId8"/>
    <p:sldId id="265" r:id="rId9"/>
    <p:sldId id="267" r:id="rId10"/>
    <p:sldId id="268" r:id="rId11"/>
    <p:sldId id="269" r:id="rId12"/>
    <p:sldId id="270" r:id="rId13"/>
    <p:sldId id="273" r:id="rId14"/>
    <p:sldId id="275" r:id="rId15"/>
    <p:sldId id="276" r:id="rId16"/>
    <p:sldId id="277" r:id="rId17"/>
    <p:sldId id="264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2E2"/>
    <a:srgbClr val="A33030"/>
    <a:srgbClr val="F2E7FF"/>
    <a:srgbClr val="F3E8FF"/>
    <a:srgbClr val="8E54BD"/>
    <a:srgbClr val="FDF8C2"/>
    <a:srgbClr val="FEF9C3"/>
    <a:srgbClr val="824A0D"/>
    <a:srgbClr val="354155"/>
    <a:srgbClr val="E5E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354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/home/lianny/Descargas/calendar-blank.svg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/home/lianny/Descargas/calendar-blank.svg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image" Target="../media/image7.svg"/><Relationship Id="rId13" Type="http://schemas.openxmlformats.org/officeDocument/2006/relationships/image" Target="../media/image7.png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0.svg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11.png"/><Relationship Id="rId3" Type="http://schemas.openxmlformats.org/officeDocument/2006/relationships/image" Target="../media/image8.svg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17.svg"/><Relationship Id="rId21" Type="http://schemas.openxmlformats.org/officeDocument/2006/relationships/image" Target="../media/image20.png"/><Relationship Id="rId20" Type="http://schemas.openxmlformats.org/officeDocument/2006/relationships/image" Target="../media/image16.svg"/><Relationship Id="rId2" Type="http://schemas.openxmlformats.org/officeDocument/2006/relationships/image" Target="../media/image10.png"/><Relationship Id="rId19" Type="http://schemas.openxmlformats.org/officeDocument/2006/relationships/image" Target="../media/image19.png"/><Relationship Id="rId18" Type="http://schemas.openxmlformats.org/officeDocument/2006/relationships/image" Target="../media/image15.svg"/><Relationship Id="rId17" Type="http://schemas.openxmlformats.org/officeDocument/2006/relationships/image" Target="../media/image18.png"/><Relationship Id="rId16" Type="http://schemas.openxmlformats.org/officeDocument/2006/relationships/image" Target="../media/image14.svg"/><Relationship Id="rId15" Type="http://schemas.openxmlformats.org/officeDocument/2006/relationships/image" Target="../media/image17.png"/><Relationship Id="rId14" Type="http://schemas.openxmlformats.org/officeDocument/2006/relationships/image" Target="../media/image13.svg"/><Relationship Id="rId13" Type="http://schemas.openxmlformats.org/officeDocument/2006/relationships/image" Target="../media/image16.png"/><Relationship Id="rId12" Type="http://schemas.openxmlformats.org/officeDocument/2006/relationships/image" Target="../media/image12.svg"/><Relationship Id="rId11" Type="http://schemas.openxmlformats.org/officeDocument/2006/relationships/image" Target="../media/image15.png"/><Relationship Id="rId10" Type="http://schemas.openxmlformats.org/officeDocument/2006/relationships/image" Target="../media/image11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8.svg"/><Relationship Id="rId6" Type="http://schemas.openxmlformats.org/officeDocument/2006/relationships/image" Target="../media/image21.png"/><Relationship Id="rId5" Type="http://schemas.openxmlformats.org/officeDocument/2006/relationships/image" Target="../media/image9.svg"/><Relationship Id="rId4" Type="http://schemas.openxmlformats.org/officeDocument/2006/relationships/image" Target="../media/image11.png"/><Relationship Id="rId34" Type="http://schemas.openxmlformats.org/officeDocument/2006/relationships/notesSlide" Target="../notesSlides/notesSlide1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24.svg"/><Relationship Id="rId31" Type="http://schemas.openxmlformats.org/officeDocument/2006/relationships/image" Target="../media/image27.png"/><Relationship Id="rId30" Type="http://schemas.openxmlformats.org/officeDocument/2006/relationships/image" Target="../media/image23.svg"/><Relationship Id="rId3" Type="http://schemas.openxmlformats.org/officeDocument/2006/relationships/image" Target="../media/image8.svg"/><Relationship Id="rId29" Type="http://schemas.openxmlformats.org/officeDocument/2006/relationships/image" Target="../media/image26.png"/><Relationship Id="rId28" Type="http://schemas.openxmlformats.org/officeDocument/2006/relationships/image" Target="../media/image22.svg"/><Relationship Id="rId27" Type="http://schemas.openxmlformats.org/officeDocument/2006/relationships/image" Target="../media/image25.png"/><Relationship Id="rId26" Type="http://schemas.openxmlformats.org/officeDocument/2006/relationships/image" Target="../media/image21.svg"/><Relationship Id="rId25" Type="http://schemas.openxmlformats.org/officeDocument/2006/relationships/image" Target="../media/image24.png"/><Relationship Id="rId24" Type="http://schemas.openxmlformats.org/officeDocument/2006/relationships/image" Target="../media/image20.svg"/><Relationship Id="rId23" Type="http://schemas.openxmlformats.org/officeDocument/2006/relationships/image" Target="../media/image23.png"/><Relationship Id="rId22" Type="http://schemas.openxmlformats.org/officeDocument/2006/relationships/image" Target="../media/image17.svg"/><Relationship Id="rId21" Type="http://schemas.openxmlformats.org/officeDocument/2006/relationships/image" Target="../media/image20.png"/><Relationship Id="rId20" Type="http://schemas.openxmlformats.org/officeDocument/2006/relationships/image" Target="../media/image16.svg"/><Relationship Id="rId2" Type="http://schemas.openxmlformats.org/officeDocument/2006/relationships/image" Target="../media/image10.png"/><Relationship Id="rId19" Type="http://schemas.openxmlformats.org/officeDocument/2006/relationships/image" Target="../media/image19.png"/><Relationship Id="rId18" Type="http://schemas.openxmlformats.org/officeDocument/2006/relationships/image" Target="../media/image15.svg"/><Relationship Id="rId17" Type="http://schemas.openxmlformats.org/officeDocument/2006/relationships/image" Target="../media/image18.png"/><Relationship Id="rId16" Type="http://schemas.openxmlformats.org/officeDocument/2006/relationships/image" Target="../media/image14.svg"/><Relationship Id="rId15" Type="http://schemas.openxmlformats.org/officeDocument/2006/relationships/image" Target="../media/image17.png"/><Relationship Id="rId14" Type="http://schemas.openxmlformats.org/officeDocument/2006/relationships/image" Target="../media/image13.svg"/><Relationship Id="rId13" Type="http://schemas.openxmlformats.org/officeDocument/2006/relationships/image" Target="../media/image16.png"/><Relationship Id="rId12" Type="http://schemas.openxmlformats.org/officeDocument/2006/relationships/image" Target="../media/image19.svg"/><Relationship Id="rId11" Type="http://schemas.openxmlformats.org/officeDocument/2006/relationships/image" Target="../media/image22.png"/><Relationship Id="rId10" Type="http://schemas.openxmlformats.org/officeDocument/2006/relationships/image" Target="../media/image11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8.svg"/><Relationship Id="rId6" Type="http://schemas.openxmlformats.org/officeDocument/2006/relationships/image" Target="../media/image21.png"/><Relationship Id="rId5" Type="http://schemas.openxmlformats.org/officeDocument/2006/relationships/image" Target="../media/image9.svg"/><Relationship Id="rId4" Type="http://schemas.openxmlformats.org/officeDocument/2006/relationships/image" Target="../media/image11.png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27.svg"/><Relationship Id="rId35" Type="http://schemas.openxmlformats.org/officeDocument/2006/relationships/image" Target="../media/image30.png"/><Relationship Id="rId34" Type="http://schemas.openxmlformats.org/officeDocument/2006/relationships/image" Target="../media/image26.svg"/><Relationship Id="rId33" Type="http://schemas.openxmlformats.org/officeDocument/2006/relationships/image" Target="../media/image29.png"/><Relationship Id="rId32" Type="http://schemas.openxmlformats.org/officeDocument/2006/relationships/image" Target="../media/image25.svg"/><Relationship Id="rId31" Type="http://schemas.openxmlformats.org/officeDocument/2006/relationships/image" Target="../media/image28.png"/><Relationship Id="rId30" Type="http://schemas.openxmlformats.org/officeDocument/2006/relationships/image" Target="../media/image23.svg"/><Relationship Id="rId3" Type="http://schemas.openxmlformats.org/officeDocument/2006/relationships/image" Target="../media/image8.svg"/><Relationship Id="rId29" Type="http://schemas.openxmlformats.org/officeDocument/2006/relationships/image" Target="../media/image26.png"/><Relationship Id="rId28" Type="http://schemas.openxmlformats.org/officeDocument/2006/relationships/image" Target="../media/image22.svg"/><Relationship Id="rId27" Type="http://schemas.openxmlformats.org/officeDocument/2006/relationships/image" Target="../media/image25.png"/><Relationship Id="rId26" Type="http://schemas.openxmlformats.org/officeDocument/2006/relationships/image" Target="../media/image21.svg"/><Relationship Id="rId25" Type="http://schemas.openxmlformats.org/officeDocument/2006/relationships/image" Target="../media/image24.png"/><Relationship Id="rId24" Type="http://schemas.openxmlformats.org/officeDocument/2006/relationships/image" Target="../media/image20.svg"/><Relationship Id="rId23" Type="http://schemas.openxmlformats.org/officeDocument/2006/relationships/image" Target="../media/image23.png"/><Relationship Id="rId22" Type="http://schemas.openxmlformats.org/officeDocument/2006/relationships/image" Target="../media/image17.svg"/><Relationship Id="rId21" Type="http://schemas.openxmlformats.org/officeDocument/2006/relationships/image" Target="../media/image20.png"/><Relationship Id="rId20" Type="http://schemas.openxmlformats.org/officeDocument/2006/relationships/image" Target="../media/image16.svg"/><Relationship Id="rId2" Type="http://schemas.openxmlformats.org/officeDocument/2006/relationships/image" Target="../media/image10.png"/><Relationship Id="rId19" Type="http://schemas.openxmlformats.org/officeDocument/2006/relationships/image" Target="../media/image19.png"/><Relationship Id="rId18" Type="http://schemas.openxmlformats.org/officeDocument/2006/relationships/image" Target="../media/image15.svg"/><Relationship Id="rId17" Type="http://schemas.openxmlformats.org/officeDocument/2006/relationships/image" Target="../media/image18.png"/><Relationship Id="rId16" Type="http://schemas.openxmlformats.org/officeDocument/2006/relationships/image" Target="../media/image14.svg"/><Relationship Id="rId15" Type="http://schemas.openxmlformats.org/officeDocument/2006/relationships/image" Target="../media/image17.png"/><Relationship Id="rId14" Type="http://schemas.openxmlformats.org/officeDocument/2006/relationships/image" Target="../media/image13.svg"/><Relationship Id="rId13" Type="http://schemas.openxmlformats.org/officeDocument/2006/relationships/image" Target="../media/image16.png"/><Relationship Id="rId12" Type="http://schemas.openxmlformats.org/officeDocument/2006/relationships/image" Target="../media/image19.svg"/><Relationship Id="rId11" Type="http://schemas.openxmlformats.org/officeDocument/2006/relationships/image" Target="../media/image22.png"/><Relationship Id="rId10" Type="http://schemas.openxmlformats.org/officeDocument/2006/relationships/image" Target="../media/image11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8.svg"/><Relationship Id="rId6" Type="http://schemas.openxmlformats.org/officeDocument/2006/relationships/image" Target="../media/image21.png"/><Relationship Id="rId5" Type="http://schemas.openxmlformats.org/officeDocument/2006/relationships/image" Target="../media/image9.svg"/><Relationship Id="rId4" Type="http://schemas.openxmlformats.org/officeDocument/2006/relationships/image" Target="../media/image11.png"/><Relationship Id="rId3" Type="http://schemas.openxmlformats.org/officeDocument/2006/relationships/image" Target="../media/image8.svg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23.svg"/><Relationship Id="rId25" Type="http://schemas.openxmlformats.org/officeDocument/2006/relationships/image" Target="../media/image26.png"/><Relationship Id="rId24" Type="http://schemas.openxmlformats.org/officeDocument/2006/relationships/image" Target="../media/image28.svg"/><Relationship Id="rId23" Type="http://schemas.openxmlformats.org/officeDocument/2006/relationships/image" Target="../media/image31.png"/><Relationship Id="rId22" Type="http://schemas.openxmlformats.org/officeDocument/2006/relationships/image" Target="../media/image17.svg"/><Relationship Id="rId21" Type="http://schemas.openxmlformats.org/officeDocument/2006/relationships/image" Target="../media/image20.png"/><Relationship Id="rId20" Type="http://schemas.openxmlformats.org/officeDocument/2006/relationships/image" Target="../media/image16.svg"/><Relationship Id="rId2" Type="http://schemas.openxmlformats.org/officeDocument/2006/relationships/image" Target="../media/image10.png"/><Relationship Id="rId19" Type="http://schemas.openxmlformats.org/officeDocument/2006/relationships/image" Target="../media/image19.png"/><Relationship Id="rId18" Type="http://schemas.openxmlformats.org/officeDocument/2006/relationships/image" Target="../media/image15.svg"/><Relationship Id="rId17" Type="http://schemas.openxmlformats.org/officeDocument/2006/relationships/image" Target="../media/image18.png"/><Relationship Id="rId16" Type="http://schemas.openxmlformats.org/officeDocument/2006/relationships/image" Target="../media/image14.svg"/><Relationship Id="rId15" Type="http://schemas.openxmlformats.org/officeDocument/2006/relationships/image" Target="../media/image17.png"/><Relationship Id="rId14" Type="http://schemas.openxmlformats.org/officeDocument/2006/relationships/image" Target="../media/image13.svg"/><Relationship Id="rId13" Type="http://schemas.openxmlformats.org/officeDocument/2006/relationships/image" Target="../media/image16.png"/><Relationship Id="rId12" Type="http://schemas.openxmlformats.org/officeDocument/2006/relationships/image" Target="../media/image19.svg"/><Relationship Id="rId11" Type="http://schemas.openxmlformats.org/officeDocument/2006/relationships/image" Target="../media/image22.png"/><Relationship Id="rId10" Type="http://schemas.openxmlformats.org/officeDocument/2006/relationships/image" Target="../media/image11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8.svg"/><Relationship Id="rId6" Type="http://schemas.openxmlformats.org/officeDocument/2006/relationships/image" Target="../media/image21.png"/><Relationship Id="rId5" Type="http://schemas.openxmlformats.org/officeDocument/2006/relationships/image" Target="../media/image9.svg"/><Relationship Id="rId4" Type="http://schemas.openxmlformats.org/officeDocument/2006/relationships/image" Target="../media/image11.png"/><Relationship Id="rId3" Type="http://schemas.openxmlformats.org/officeDocument/2006/relationships/image" Target="../media/image8.svg"/><Relationship Id="rId28" Type="http://schemas.openxmlformats.org/officeDocument/2006/relationships/notesSlide" Target="../notesSlides/notesSlide3.x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23.svg"/><Relationship Id="rId25" Type="http://schemas.openxmlformats.org/officeDocument/2006/relationships/image" Target="../media/image26.png"/><Relationship Id="rId24" Type="http://schemas.openxmlformats.org/officeDocument/2006/relationships/image" Target="../media/image28.svg"/><Relationship Id="rId23" Type="http://schemas.openxmlformats.org/officeDocument/2006/relationships/image" Target="../media/image31.png"/><Relationship Id="rId22" Type="http://schemas.openxmlformats.org/officeDocument/2006/relationships/image" Target="../media/image17.svg"/><Relationship Id="rId21" Type="http://schemas.openxmlformats.org/officeDocument/2006/relationships/image" Target="../media/image20.png"/><Relationship Id="rId20" Type="http://schemas.openxmlformats.org/officeDocument/2006/relationships/image" Target="../media/image16.svg"/><Relationship Id="rId2" Type="http://schemas.openxmlformats.org/officeDocument/2006/relationships/image" Target="../media/image10.png"/><Relationship Id="rId19" Type="http://schemas.openxmlformats.org/officeDocument/2006/relationships/image" Target="../media/image19.png"/><Relationship Id="rId18" Type="http://schemas.openxmlformats.org/officeDocument/2006/relationships/image" Target="../media/image15.svg"/><Relationship Id="rId17" Type="http://schemas.openxmlformats.org/officeDocument/2006/relationships/image" Target="../media/image18.png"/><Relationship Id="rId16" Type="http://schemas.openxmlformats.org/officeDocument/2006/relationships/image" Target="../media/image14.svg"/><Relationship Id="rId15" Type="http://schemas.openxmlformats.org/officeDocument/2006/relationships/image" Target="../media/image17.png"/><Relationship Id="rId14" Type="http://schemas.openxmlformats.org/officeDocument/2006/relationships/image" Target="../media/image13.svg"/><Relationship Id="rId13" Type="http://schemas.openxmlformats.org/officeDocument/2006/relationships/image" Target="../media/image16.png"/><Relationship Id="rId12" Type="http://schemas.openxmlformats.org/officeDocument/2006/relationships/image" Target="../media/image19.svg"/><Relationship Id="rId11" Type="http://schemas.openxmlformats.org/officeDocument/2006/relationships/image" Target="../media/image22.png"/><Relationship Id="rId10" Type="http://schemas.openxmlformats.org/officeDocument/2006/relationships/image" Target="../media/image11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22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6.png"/><Relationship Id="rId13" Type="http://schemas.openxmlformats.org/officeDocument/2006/relationships/image" Target="../media/image3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22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31.svg"/><Relationship Id="rId24" Type="http://schemas.openxmlformats.org/officeDocument/2006/relationships/image" Target="../media/image34.png"/><Relationship Id="rId23" Type="http://schemas.openxmlformats.org/officeDocument/2006/relationships/image" Target="../media/image30.svg"/><Relationship Id="rId22" Type="http://schemas.openxmlformats.org/officeDocument/2006/relationships/image" Target="../media/image33.png"/><Relationship Id="rId21" Type="http://schemas.openxmlformats.org/officeDocument/2006/relationships/image" Target="../media/image29.svg"/><Relationship Id="rId20" Type="http://schemas.openxmlformats.org/officeDocument/2006/relationships/image" Target="../media/image32.png"/><Relationship Id="rId2" Type="http://schemas.openxmlformats.org/officeDocument/2006/relationships/image" Target="../media/image10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22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22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31.svg"/><Relationship Id="rId24" Type="http://schemas.openxmlformats.org/officeDocument/2006/relationships/image" Target="../media/image34.png"/><Relationship Id="rId23" Type="http://schemas.openxmlformats.org/officeDocument/2006/relationships/image" Target="../media/image30.svg"/><Relationship Id="rId22" Type="http://schemas.openxmlformats.org/officeDocument/2006/relationships/image" Target="../media/image33.png"/><Relationship Id="rId21" Type="http://schemas.openxmlformats.org/officeDocument/2006/relationships/image" Target="../media/image29.svg"/><Relationship Id="rId20" Type="http://schemas.openxmlformats.org/officeDocument/2006/relationships/image" Target="../media/image32.png"/><Relationship Id="rId2" Type="http://schemas.openxmlformats.org/officeDocument/2006/relationships/image" Target="../media/image10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15.png"/><Relationship Id="rId7" Type="http://schemas.openxmlformats.org/officeDocument/2006/relationships/image" Target="../media/image32.svg"/><Relationship Id="rId6" Type="http://schemas.openxmlformats.org/officeDocument/2006/relationships/image" Target="../media/image35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34.svg"/><Relationship Id="rId20" Type="http://schemas.openxmlformats.org/officeDocument/2006/relationships/image" Target="../media/image36.png"/><Relationship Id="rId2" Type="http://schemas.openxmlformats.org/officeDocument/2006/relationships/image" Target="../media/image10.png"/><Relationship Id="rId19" Type="http://schemas.openxmlformats.org/officeDocument/2006/relationships/image" Target="../media/image29.png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15.png"/><Relationship Id="rId7" Type="http://schemas.openxmlformats.org/officeDocument/2006/relationships/image" Target="../media/image32.svg"/><Relationship Id="rId6" Type="http://schemas.openxmlformats.org/officeDocument/2006/relationships/image" Target="../media/image35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7" Type="http://schemas.openxmlformats.org/officeDocument/2006/relationships/notesSlide" Target="../notesSlides/notesSlide8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31.svg"/><Relationship Id="rId24" Type="http://schemas.openxmlformats.org/officeDocument/2006/relationships/image" Target="../media/image34.png"/><Relationship Id="rId23" Type="http://schemas.openxmlformats.org/officeDocument/2006/relationships/image" Target="../media/image30.svg"/><Relationship Id="rId22" Type="http://schemas.openxmlformats.org/officeDocument/2006/relationships/image" Target="../media/image33.png"/><Relationship Id="rId21" Type="http://schemas.openxmlformats.org/officeDocument/2006/relationships/image" Target="../media/image34.svg"/><Relationship Id="rId20" Type="http://schemas.openxmlformats.org/officeDocument/2006/relationships/image" Target="../media/image36.png"/><Relationship Id="rId2" Type="http://schemas.openxmlformats.org/officeDocument/2006/relationships/image" Target="../media/image10.png"/><Relationship Id="rId19" Type="http://schemas.openxmlformats.org/officeDocument/2006/relationships/image" Target="../media/image29.png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15.png"/><Relationship Id="rId7" Type="http://schemas.openxmlformats.org/officeDocument/2006/relationships/image" Target="../media/image32.svg"/><Relationship Id="rId6" Type="http://schemas.openxmlformats.org/officeDocument/2006/relationships/image" Target="../media/image35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34.svg"/><Relationship Id="rId20" Type="http://schemas.openxmlformats.org/officeDocument/2006/relationships/image" Target="../media/image36.png"/><Relationship Id="rId2" Type="http://schemas.openxmlformats.org/officeDocument/2006/relationships/image" Target="../media/image10.png"/><Relationship Id="rId19" Type="http://schemas.openxmlformats.org/officeDocument/2006/relationships/image" Target="../media/image29.png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15.png"/><Relationship Id="rId7" Type="http://schemas.openxmlformats.org/officeDocument/2006/relationships/image" Target="../media/image32.svg"/><Relationship Id="rId6" Type="http://schemas.openxmlformats.org/officeDocument/2006/relationships/image" Target="../media/image35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7" Type="http://schemas.openxmlformats.org/officeDocument/2006/relationships/notesSlide" Target="../notesSlides/notesSlide10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31.svg"/><Relationship Id="rId24" Type="http://schemas.openxmlformats.org/officeDocument/2006/relationships/image" Target="../media/image34.png"/><Relationship Id="rId23" Type="http://schemas.openxmlformats.org/officeDocument/2006/relationships/image" Target="../media/image30.svg"/><Relationship Id="rId22" Type="http://schemas.openxmlformats.org/officeDocument/2006/relationships/image" Target="../media/image33.png"/><Relationship Id="rId21" Type="http://schemas.openxmlformats.org/officeDocument/2006/relationships/image" Target="../media/image34.svg"/><Relationship Id="rId20" Type="http://schemas.openxmlformats.org/officeDocument/2006/relationships/image" Target="../media/image36.png"/><Relationship Id="rId2" Type="http://schemas.openxmlformats.org/officeDocument/2006/relationships/image" Target="../media/image10.png"/><Relationship Id="rId19" Type="http://schemas.openxmlformats.org/officeDocument/2006/relationships/image" Target="../media/image29.png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5D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855085" y="270510"/>
            <a:ext cx="4481830" cy="6326505"/>
          </a:xfrm>
          <a:prstGeom prst="roundRect">
            <a:avLst>
              <a:gd name="adj" fmla="val 375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542155" y="1455420"/>
            <a:ext cx="3108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095DD0"/>
                </a:solidFill>
              </a:rPr>
              <a:t>Bienvenido a InfraCom</a:t>
            </a:r>
            <a:endParaRPr lang="en-US" b="1">
              <a:solidFill>
                <a:srgbClr val="095DD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550410" y="1851025"/>
            <a:ext cx="309181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Inicia sesión para gestionar tu infraestructura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028440" y="2391410"/>
            <a:ext cx="14128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Nombre de Usuario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4028440" y="3225165"/>
            <a:ext cx="91249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Contrasena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23690" y="2674620"/>
            <a:ext cx="3948430" cy="497840"/>
          </a:xfrm>
          <a:prstGeom prst="roundRect">
            <a:avLst>
              <a:gd name="adj" fmla="val 19005"/>
            </a:avLst>
          </a:prstGeom>
          <a:solidFill>
            <a:schemeClr val="bg1"/>
          </a:solidFill>
          <a:ln>
            <a:solidFill>
              <a:srgbClr val="E5EA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123690" y="3508375"/>
            <a:ext cx="3948430" cy="497840"/>
          </a:xfrm>
          <a:prstGeom prst="roundRect">
            <a:avLst>
              <a:gd name="adj" fmla="val 19005"/>
            </a:avLst>
          </a:prstGeom>
          <a:solidFill>
            <a:schemeClr val="bg1"/>
          </a:solidFill>
          <a:ln>
            <a:solidFill>
              <a:srgbClr val="E5EA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124008" y="4194810"/>
            <a:ext cx="3948430" cy="497840"/>
          </a:xfrm>
          <a:prstGeom prst="roundRect">
            <a:avLst>
              <a:gd name="adj" fmla="val 19005"/>
            </a:avLst>
          </a:prstGeom>
          <a:solidFill>
            <a:srgbClr val="235DE6"/>
          </a:solidFill>
          <a:ln>
            <a:solidFill>
              <a:srgbClr val="235DE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5426710" y="4305935"/>
            <a:ext cx="134302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 b="1">
                <a:solidFill>
                  <a:schemeClr val="bg1"/>
                </a:solidFill>
              </a:rPr>
              <a:t>Iniciar Sesión</a:t>
            </a:r>
            <a:endParaRPr lang="en-US" sz="1200" b="1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4105275" y="4921885"/>
            <a:ext cx="3971290" cy="0"/>
          </a:xfrm>
          <a:prstGeom prst="line">
            <a:avLst/>
          </a:prstGeom>
          <a:ln w="12700"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5169535" y="4998085"/>
            <a:ext cx="18580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Usuarios de Demostración</a:t>
            </a:r>
            <a:endParaRPr lang="en-US" sz="1000">
              <a:solidFill>
                <a:srgbClr val="354155"/>
              </a:solidFill>
            </a:endParaRPr>
          </a:p>
        </p:txBody>
      </p:sp>
      <p:pic>
        <p:nvPicPr>
          <p:cNvPr id="24" name="Picture 23" descr="user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45610" y="2786380"/>
            <a:ext cx="274320" cy="274320"/>
          </a:xfrm>
          <a:prstGeom prst="rect">
            <a:avLst/>
          </a:prstGeom>
        </p:spPr>
      </p:pic>
      <p:pic>
        <p:nvPicPr>
          <p:cNvPr id="25" name="Picture 24" descr="lock-key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5610" y="3620135"/>
            <a:ext cx="274320" cy="27432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4550410" y="2785745"/>
            <a:ext cx="15640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Ingresa tu usuario</a:t>
            </a:r>
            <a:endParaRPr lang="en-US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550410" y="3619500"/>
            <a:ext cx="185229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Ingresa tu contrasena</a:t>
            </a:r>
            <a:endParaRPr lang="en-US" sz="120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5485765" y="5382895"/>
            <a:ext cx="1153160" cy="326390"/>
            <a:chOff x="8375" y="6914"/>
            <a:chExt cx="1816" cy="514"/>
          </a:xfrm>
        </p:grpSpPr>
        <p:sp>
          <p:nvSpPr>
            <p:cNvPr id="33" name="Rounded Rectangle 32"/>
            <p:cNvSpPr/>
            <p:nvPr/>
          </p:nvSpPr>
          <p:spPr>
            <a:xfrm>
              <a:off x="8375" y="6914"/>
              <a:ext cx="1816" cy="514"/>
            </a:xfrm>
            <a:prstGeom prst="roundRect">
              <a:avLst>
                <a:gd name="adj" fmla="val 19005"/>
              </a:avLst>
            </a:prstGeom>
            <a:solidFill>
              <a:srgbClr val="F8FAFC"/>
            </a:solidFill>
            <a:ln>
              <a:solidFill>
                <a:srgbClr val="E5EAF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8596" y="6978"/>
              <a:ext cx="1375" cy="386"/>
              <a:chOff x="6686" y="6978"/>
              <a:chExt cx="1375" cy="386"/>
            </a:xfrm>
          </p:grpSpPr>
          <p:pic>
            <p:nvPicPr>
              <p:cNvPr id="61" name="Picture 60" descr="wrench-fill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686" y="7027"/>
                <a:ext cx="288" cy="288"/>
              </a:xfrm>
              <a:prstGeom prst="rect">
                <a:avLst/>
              </a:prstGeom>
            </p:spPr>
          </p:pic>
          <p:sp>
            <p:nvSpPr>
              <p:cNvPr id="62" name="Text Box 61"/>
              <p:cNvSpPr txBox="1"/>
              <p:nvPr/>
            </p:nvSpPr>
            <p:spPr>
              <a:xfrm>
                <a:off x="7003" y="6978"/>
                <a:ext cx="1058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Técnico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grpSp>
        <p:nvGrpSpPr>
          <p:cNvPr id="79" name="Group 78"/>
          <p:cNvGrpSpPr/>
          <p:nvPr/>
        </p:nvGrpSpPr>
        <p:grpSpPr>
          <a:xfrm>
            <a:off x="4059555" y="5875020"/>
            <a:ext cx="2137410" cy="326390"/>
            <a:chOff x="6465" y="7533"/>
            <a:chExt cx="3366" cy="514"/>
          </a:xfrm>
        </p:grpSpPr>
        <p:sp>
          <p:nvSpPr>
            <p:cNvPr id="32" name="Rounded Rectangle 31"/>
            <p:cNvSpPr/>
            <p:nvPr/>
          </p:nvSpPr>
          <p:spPr>
            <a:xfrm>
              <a:off x="6465" y="7533"/>
              <a:ext cx="3366" cy="514"/>
            </a:xfrm>
            <a:prstGeom prst="roundRect">
              <a:avLst>
                <a:gd name="adj" fmla="val 19005"/>
              </a:avLst>
            </a:prstGeom>
            <a:solidFill>
              <a:srgbClr val="F8FAFC"/>
            </a:solidFill>
            <a:ln>
              <a:solidFill>
                <a:srgbClr val="E5EAF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6668" y="7597"/>
              <a:ext cx="3033" cy="386"/>
              <a:chOff x="6686" y="7597"/>
              <a:chExt cx="3033" cy="386"/>
            </a:xfrm>
          </p:grpSpPr>
          <p:pic>
            <p:nvPicPr>
              <p:cNvPr id="60" name="Picture 59" descr="users-three-fill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686" y="7646"/>
                <a:ext cx="288" cy="288"/>
              </a:xfrm>
              <a:prstGeom prst="rect">
                <a:avLst/>
              </a:prstGeom>
            </p:spPr>
          </p:pic>
          <p:sp>
            <p:nvSpPr>
              <p:cNvPr id="63" name="Text Box 62"/>
              <p:cNvSpPr txBox="1"/>
              <p:nvPr/>
            </p:nvSpPr>
            <p:spPr>
              <a:xfrm>
                <a:off x="7003" y="7597"/>
                <a:ext cx="271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Responsable de Sección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4059555" y="5382895"/>
            <a:ext cx="1153160" cy="326390"/>
            <a:chOff x="6465" y="6914"/>
            <a:chExt cx="1816" cy="514"/>
          </a:xfrm>
        </p:grpSpPr>
        <p:sp>
          <p:nvSpPr>
            <p:cNvPr id="28" name="Rounded Rectangle 27"/>
            <p:cNvSpPr/>
            <p:nvPr/>
          </p:nvSpPr>
          <p:spPr>
            <a:xfrm>
              <a:off x="6465" y="6914"/>
              <a:ext cx="1816" cy="514"/>
            </a:xfrm>
            <a:prstGeom prst="roundRect">
              <a:avLst>
                <a:gd name="adj" fmla="val 19005"/>
              </a:avLst>
            </a:prstGeom>
            <a:solidFill>
              <a:srgbClr val="F8FAFC"/>
            </a:solidFill>
            <a:ln>
              <a:solidFill>
                <a:srgbClr val="E5EAF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71" name="Group 70"/>
            <p:cNvGrpSpPr/>
            <p:nvPr/>
          </p:nvGrpSpPr>
          <p:grpSpPr>
            <a:xfrm rot="0">
              <a:off x="6668" y="6978"/>
              <a:ext cx="1411" cy="386"/>
              <a:chOff x="6686" y="8216"/>
              <a:chExt cx="1411" cy="386"/>
            </a:xfrm>
          </p:grpSpPr>
          <p:pic>
            <p:nvPicPr>
              <p:cNvPr id="59" name="Picture 58" descr="chart-line-up-bold(1)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686" y="8265"/>
                <a:ext cx="288" cy="288"/>
              </a:xfrm>
              <a:prstGeom prst="rect">
                <a:avLst/>
              </a:prstGeom>
            </p:spPr>
          </p:pic>
          <p:sp>
            <p:nvSpPr>
              <p:cNvPr id="64" name="Text Box 63"/>
              <p:cNvSpPr txBox="1"/>
              <p:nvPr/>
            </p:nvSpPr>
            <p:spPr>
              <a:xfrm>
                <a:off x="7003" y="8216"/>
                <a:ext cx="1095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Director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grpSp>
        <p:nvGrpSpPr>
          <p:cNvPr id="78" name="Group 77"/>
          <p:cNvGrpSpPr/>
          <p:nvPr/>
        </p:nvGrpSpPr>
        <p:grpSpPr>
          <a:xfrm>
            <a:off x="6505575" y="5875020"/>
            <a:ext cx="1518920" cy="326390"/>
            <a:chOff x="10285" y="6905"/>
            <a:chExt cx="2392" cy="514"/>
          </a:xfrm>
        </p:grpSpPr>
        <p:sp>
          <p:nvSpPr>
            <p:cNvPr id="34" name="Rounded Rectangle 33"/>
            <p:cNvSpPr/>
            <p:nvPr/>
          </p:nvSpPr>
          <p:spPr>
            <a:xfrm>
              <a:off x="10285" y="6905"/>
              <a:ext cx="2392" cy="514"/>
            </a:xfrm>
            <a:prstGeom prst="roundRect">
              <a:avLst>
                <a:gd name="adj" fmla="val 19005"/>
              </a:avLst>
            </a:prstGeom>
            <a:solidFill>
              <a:srgbClr val="F8FAFC"/>
            </a:solidFill>
            <a:ln>
              <a:solidFill>
                <a:srgbClr val="E5EAF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72" name="Group 71"/>
            <p:cNvGrpSpPr/>
            <p:nvPr/>
          </p:nvGrpSpPr>
          <p:grpSpPr>
            <a:xfrm rot="0">
              <a:off x="10471" y="6969"/>
              <a:ext cx="2021" cy="386"/>
              <a:chOff x="6686" y="8835"/>
              <a:chExt cx="2021" cy="386"/>
            </a:xfrm>
          </p:grpSpPr>
          <p:pic>
            <p:nvPicPr>
              <p:cNvPr id="57" name="Picture 56" descr="hard-hat-bold"/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686" y="8884"/>
                <a:ext cx="288" cy="288"/>
              </a:xfrm>
              <a:prstGeom prst="rect">
                <a:avLst/>
              </a:prstGeom>
            </p:spPr>
          </p:pic>
          <p:sp>
            <p:nvSpPr>
              <p:cNvPr id="65" name="Text Box 64"/>
              <p:cNvSpPr txBox="1"/>
              <p:nvPr/>
            </p:nvSpPr>
            <p:spPr>
              <a:xfrm>
                <a:off x="7003" y="8835"/>
                <a:ext cx="1704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Administrador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grpSp>
        <p:nvGrpSpPr>
          <p:cNvPr id="80" name="Group 79"/>
          <p:cNvGrpSpPr/>
          <p:nvPr/>
        </p:nvGrpSpPr>
        <p:grpSpPr>
          <a:xfrm>
            <a:off x="6911975" y="5382895"/>
            <a:ext cx="1118870" cy="326390"/>
            <a:chOff x="10956" y="6920"/>
            <a:chExt cx="1762" cy="514"/>
          </a:xfrm>
        </p:grpSpPr>
        <p:sp>
          <p:nvSpPr>
            <p:cNvPr id="35" name="Rounded Rectangle 34"/>
            <p:cNvSpPr/>
            <p:nvPr/>
          </p:nvSpPr>
          <p:spPr>
            <a:xfrm>
              <a:off x="10956" y="6920"/>
              <a:ext cx="1763" cy="514"/>
            </a:xfrm>
            <a:prstGeom prst="roundRect">
              <a:avLst>
                <a:gd name="adj" fmla="val 19005"/>
              </a:avLst>
            </a:prstGeom>
            <a:solidFill>
              <a:srgbClr val="F8FAFC"/>
            </a:solidFill>
            <a:ln>
              <a:solidFill>
                <a:srgbClr val="E5EAF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73" name="Group 72"/>
            <p:cNvGrpSpPr/>
            <p:nvPr/>
          </p:nvGrpSpPr>
          <p:grpSpPr>
            <a:xfrm rot="0">
              <a:off x="11092" y="6984"/>
              <a:ext cx="1491" cy="386"/>
              <a:chOff x="6686" y="9454"/>
              <a:chExt cx="1491" cy="386"/>
            </a:xfrm>
          </p:grpSpPr>
          <p:pic>
            <p:nvPicPr>
              <p:cNvPr id="58" name="Picture 57" descr="user-circle-gear-bold"/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686" y="9503"/>
                <a:ext cx="288" cy="288"/>
              </a:xfrm>
              <a:prstGeom prst="rect">
                <a:avLst/>
              </a:prstGeom>
            </p:spPr>
          </p:pic>
          <p:sp>
            <p:nvSpPr>
              <p:cNvPr id="66" name="Text Box 65"/>
              <p:cNvSpPr txBox="1"/>
              <p:nvPr/>
            </p:nvSpPr>
            <p:spPr>
              <a:xfrm>
                <a:off x="7003" y="9454"/>
                <a:ext cx="1174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Logístico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pic>
        <p:nvPicPr>
          <p:cNvPr id="84" name="Picture 83" descr="ChatGPT Image 3 nov 2025, 02_26_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06735" y="5382895"/>
            <a:ext cx="1475105" cy="1475105"/>
          </a:xfrm>
          <a:prstGeom prst="rect">
            <a:avLst/>
          </a:prstGeom>
        </p:spPr>
      </p:pic>
      <p:pic>
        <p:nvPicPr>
          <p:cNvPr id="85" name="Picture 84" descr="ChatGPT Image 3 nov 2025, 02_28_06"/>
          <p:cNvPicPr>
            <a:picLocks noChangeAspect="1"/>
          </p:cNvPicPr>
          <p:nvPr/>
        </p:nvPicPr>
        <p:blipFill>
          <a:blip r:embed="rId16"/>
          <a:srcRect l="12120" t="15741" r="11398" b="42353"/>
          <a:stretch>
            <a:fillRect/>
          </a:stretch>
        </p:blipFill>
        <p:spPr>
          <a:xfrm>
            <a:off x="5109845" y="327660"/>
            <a:ext cx="1971675" cy="1080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Rounded Rectangle 47"/>
          <p:cNvSpPr/>
          <p:nvPr/>
        </p:nvSpPr>
        <p:spPr>
          <a:xfrm>
            <a:off x="2814955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0" name="Group 59"/>
          <p:cNvGrpSpPr/>
          <p:nvPr/>
        </p:nvGrpSpPr>
        <p:grpSpPr>
          <a:xfrm>
            <a:off x="2947670" y="1763395"/>
            <a:ext cx="1239520" cy="490220"/>
            <a:chOff x="4641" y="2752"/>
            <a:chExt cx="1952" cy="772"/>
          </a:xfrm>
        </p:grpSpPr>
        <p:sp>
          <p:nvSpPr>
            <p:cNvPr id="56" name="Text Box 55"/>
            <p:cNvSpPr txBox="1"/>
            <p:nvPr/>
          </p:nvSpPr>
          <p:spPr>
            <a:xfrm>
              <a:off x="5279" y="2752"/>
              <a:ext cx="67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10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57" name="Text Box 56"/>
            <p:cNvSpPr txBox="1"/>
            <p:nvPr/>
          </p:nvSpPr>
          <p:spPr>
            <a:xfrm>
              <a:off x="4641" y="3138"/>
              <a:ext cx="195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Total de equipos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2971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Inventario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306197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equipos de infraestructura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488440" cy="337820"/>
            <a:chOff x="16151" y="1596"/>
            <a:chExt cx="234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077" cy="386"/>
              <a:chOff x="16279" y="1669"/>
              <a:chExt cx="2077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1838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Equipo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9" name="Rounded Rectangle 48"/>
          <p:cNvSpPr/>
          <p:nvPr/>
        </p:nvSpPr>
        <p:spPr>
          <a:xfrm>
            <a:off x="443865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6062345" y="1625600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768604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4753610" y="1763395"/>
            <a:ext cx="875030" cy="490220"/>
            <a:chOff x="4832" y="2752"/>
            <a:chExt cx="1378" cy="772"/>
          </a:xfrm>
        </p:grpSpPr>
        <p:sp>
          <p:nvSpPr>
            <p:cNvPr id="64" name="Text Box 63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7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0" name="Text Box 69"/>
            <p:cNvSpPr txBox="1"/>
            <p:nvPr/>
          </p:nvSpPr>
          <p:spPr>
            <a:xfrm>
              <a:off x="4832" y="3138"/>
              <a:ext cx="137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Operativos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244590" y="1755140"/>
            <a:ext cx="1140460" cy="490220"/>
            <a:chOff x="4629" y="2752"/>
            <a:chExt cx="1796" cy="772"/>
          </a:xfrm>
        </p:grpSpPr>
        <p:sp>
          <p:nvSpPr>
            <p:cNvPr id="73" name="Text Box 72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4" name="Text Box 73"/>
            <p:cNvSpPr txBox="1"/>
            <p:nvPr/>
          </p:nvSpPr>
          <p:spPr>
            <a:xfrm>
              <a:off x="4629" y="3138"/>
              <a:ext cx="17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Mantenimiento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923848" y="1763395"/>
            <a:ext cx="1029335" cy="490220"/>
            <a:chOff x="4724" y="2752"/>
            <a:chExt cx="1621" cy="772"/>
          </a:xfrm>
        </p:grpSpPr>
        <p:sp>
          <p:nvSpPr>
            <p:cNvPr id="76" name="Text Box 7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2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7" name="Text Box 76"/>
            <p:cNvSpPr txBox="1"/>
            <p:nvPr/>
          </p:nvSpPr>
          <p:spPr>
            <a:xfrm>
              <a:off x="4724" y="3138"/>
              <a:ext cx="1621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Dado de baja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2814955" y="25736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637780" y="2573655"/>
            <a:ext cx="633095" cy="292100"/>
            <a:chOff x="13478" y="4031"/>
            <a:chExt cx="997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3479" y="4031"/>
              <a:ext cx="996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3478" y="4067"/>
              <a:ext cx="715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Tipo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341360" y="2573655"/>
            <a:ext cx="811530" cy="292100"/>
            <a:chOff x="13197" y="4031"/>
            <a:chExt cx="1278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3197" y="4031"/>
              <a:ext cx="1278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3225" y="4067"/>
              <a:ext cx="96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223375" y="2573655"/>
            <a:ext cx="1425575" cy="292100"/>
            <a:chOff x="12233" y="4030"/>
            <a:chExt cx="2245" cy="460"/>
          </a:xfrm>
        </p:grpSpPr>
        <p:sp>
          <p:nvSpPr>
            <p:cNvPr id="95" name="Rounded Rectangle 94"/>
            <p:cNvSpPr/>
            <p:nvPr/>
          </p:nvSpPr>
          <p:spPr>
            <a:xfrm>
              <a:off x="12233" y="4030"/>
              <a:ext cx="22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6" name="Picture 95" descr="caret-down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7" name="Text Box 96"/>
            <p:cNvSpPr txBox="1"/>
            <p:nvPr/>
          </p:nvSpPr>
          <p:spPr>
            <a:xfrm>
              <a:off x="12233" y="4067"/>
              <a:ext cx="1960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Ubicación Actual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805" y="25723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30880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14320" y="3066415"/>
            <a:ext cx="911225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0" name="Picture 79" descr="magnifying-glass-bold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96760" y="4271962"/>
            <a:ext cx="548640" cy="548640"/>
          </a:xfrm>
          <a:prstGeom prst="rect">
            <a:avLst/>
          </a:prstGeom>
        </p:spPr>
      </p:pic>
      <p:sp>
        <p:nvSpPr>
          <p:cNvPr id="101" name="Text Box 100"/>
          <p:cNvSpPr txBox="1"/>
          <p:nvPr/>
        </p:nvSpPr>
        <p:spPr>
          <a:xfrm>
            <a:off x="5194935" y="4965700"/>
            <a:ext cx="435864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No se encontraron equipos que coincidan con los filtros aplicados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5" name="Group 294"/>
          <p:cNvGrpSpPr/>
          <p:nvPr/>
        </p:nvGrpSpPr>
        <p:grpSpPr>
          <a:xfrm>
            <a:off x="2947670" y="3173730"/>
            <a:ext cx="7165975" cy="275590"/>
            <a:chOff x="4642" y="4998"/>
            <a:chExt cx="11285" cy="434"/>
          </a:xfrm>
        </p:grpSpPr>
        <p:sp>
          <p:nvSpPr>
            <p:cNvPr id="131" name="Text Box 130"/>
            <p:cNvSpPr txBox="1"/>
            <p:nvPr/>
          </p:nvSpPr>
          <p:spPr>
            <a:xfrm>
              <a:off x="4642" y="4998"/>
              <a:ext cx="2004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ID de equipo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7" name="Text Box 136"/>
            <p:cNvSpPr txBox="1"/>
            <p:nvPr/>
          </p:nvSpPr>
          <p:spPr>
            <a:xfrm>
              <a:off x="10149" y="4998"/>
              <a:ext cx="87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Tipo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8" name="Text Box 137"/>
            <p:cNvSpPr txBox="1"/>
            <p:nvPr/>
          </p:nvSpPr>
          <p:spPr>
            <a:xfrm>
              <a:off x="7095" y="4998"/>
              <a:ext cx="1357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Nombre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9" name="Text Box 138"/>
            <p:cNvSpPr txBox="1"/>
            <p:nvPr/>
          </p:nvSpPr>
          <p:spPr>
            <a:xfrm>
              <a:off x="12069" y="4998"/>
              <a:ext cx="1209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Estado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40" name="Text Box 139"/>
            <p:cNvSpPr txBox="1"/>
            <p:nvPr/>
          </p:nvSpPr>
          <p:spPr>
            <a:xfrm>
              <a:off x="14327" y="4998"/>
              <a:ext cx="160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Ubicación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Rounded Rectangle 47"/>
          <p:cNvSpPr/>
          <p:nvPr/>
        </p:nvSpPr>
        <p:spPr>
          <a:xfrm>
            <a:off x="2814955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0" name="Group 59"/>
          <p:cNvGrpSpPr/>
          <p:nvPr/>
        </p:nvGrpSpPr>
        <p:grpSpPr>
          <a:xfrm>
            <a:off x="2947670" y="1763395"/>
            <a:ext cx="1240155" cy="490220"/>
            <a:chOff x="4641" y="2752"/>
            <a:chExt cx="1953" cy="772"/>
          </a:xfrm>
        </p:grpSpPr>
        <p:sp>
          <p:nvSpPr>
            <p:cNvPr id="56" name="Text Box 5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5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57" name="Text Box 56"/>
            <p:cNvSpPr txBox="1"/>
            <p:nvPr/>
          </p:nvSpPr>
          <p:spPr>
            <a:xfrm>
              <a:off x="4641" y="3138"/>
              <a:ext cx="195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Total de equipos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2971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Inventario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306197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equipos de infraestructura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488440" cy="337820"/>
            <a:chOff x="16151" y="1596"/>
            <a:chExt cx="234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077" cy="386"/>
              <a:chOff x="16279" y="1669"/>
              <a:chExt cx="2077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1838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Equipo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9" name="Rounded Rectangle 48"/>
          <p:cNvSpPr/>
          <p:nvPr/>
        </p:nvSpPr>
        <p:spPr>
          <a:xfrm>
            <a:off x="443865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6062345" y="1625600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768604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4753610" y="1763395"/>
            <a:ext cx="875030" cy="490220"/>
            <a:chOff x="4832" y="2752"/>
            <a:chExt cx="1378" cy="772"/>
          </a:xfrm>
        </p:grpSpPr>
        <p:sp>
          <p:nvSpPr>
            <p:cNvPr id="64" name="Text Box 63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2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0" name="Text Box 69"/>
            <p:cNvSpPr txBox="1"/>
            <p:nvPr/>
          </p:nvSpPr>
          <p:spPr>
            <a:xfrm>
              <a:off x="4832" y="3138"/>
              <a:ext cx="137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Operativos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244590" y="1755140"/>
            <a:ext cx="1140460" cy="490220"/>
            <a:chOff x="4629" y="2752"/>
            <a:chExt cx="1796" cy="772"/>
          </a:xfrm>
        </p:grpSpPr>
        <p:sp>
          <p:nvSpPr>
            <p:cNvPr id="73" name="Text Box 72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4" name="Text Box 73"/>
            <p:cNvSpPr txBox="1"/>
            <p:nvPr/>
          </p:nvSpPr>
          <p:spPr>
            <a:xfrm>
              <a:off x="4629" y="3138"/>
              <a:ext cx="17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Mantenimiento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923848" y="1763395"/>
            <a:ext cx="1029335" cy="490220"/>
            <a:chOff x="4724" y="2752"/>
            <a:chExt cx="1621" cy="772"/>
          </a:xfrm>
        </p:grpSpPr>
        <p:sp>
          <p:nvSpPr>
            <p:cNvPr id="76" name="Text Box 7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7" name="Text Box 76"/>
            <p:cNvSpPr txBox="1"/>
            <p:nvPr/>
          </p:nvSpPr>
          <p:spPr>
            <a:xfrm>
              <a:off x="4724" y="3138"/>
              <a:ext cx="1621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Dado de baja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2814955" y="25736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637780" y="2573655"/>
            <a:ext cx="633095" cy="292100"/>
            <a:chOff x="13478" y="4031"/>
            <a:chExt cx="997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3479" y="4031"/>
              <a:ext cx="996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3478" y="4067"/>
              <a:ext cx="715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Tipo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341360" y="2573655"/>
            <a:ext cx="811530" cy="292100"/>
            <a:chOff x="13197" y="4031"/>
            <a:chExt cx="1278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3197" y="4031"/>
              <a:ext cx="1278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3225" y="4067"/>
              <a:ext cx="96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223375" y="2573655"/>
            <a:ext cx="1425575" cy="292100"/>
            <a:chOff x="12233" y="4030"/>
            <a:chExt cx="2245" cy="460"/>
          </a:xfrm>
        </p:grpSpPr>
        <p:sp>
          <p:nvSpPr>
            <p:cNvPr id="95" name="Rounded Rectangle 94"/>
            <p:cNvSpPr/>
            <p:nvPr/>
          </p:nvSpPr>
          <p:spPr>
            <a:xfrm>
              <a:off x="12233" y="4030"/>
              <a:ext cx="22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6" name="Picture 95" descr="caret-down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7" name="Text Box 96"/>
            <p:cNvSpPr txBox="1"/>
            <p:nvPr/>
          </p:nvSpPr>
          <p:spPr>
            <a:xfrm>
              <a:off x="12233" y="4067"/>
              <a:ext cx="1960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Ubicación Actual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805" y="25723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30880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30664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40538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45415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50292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55168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/>
          <p:cNvGrpSpPr/>
          <p:nvPr/>
        </p:nvGrpSpPr>
        <p:grpSpPr>
          <a:xfrm>
            <a:off x="2947670" y="3173730"/>
            <a:ext cx="7165975" cy="275590"/>
            <a:chOff x="4642" y="4998"/>
            <a:chExt cx="11285" cy="434"/>
          </a:xfrm>
        </p:grpSpPr>
        <p:sp>
          <p:nvSpPr>
            <p:cNvPr id="132" name="Text Box 131"/>
            <p:cNvSpPr txBox="1"/>
            <p:nvPr/>
          </p:nvSpPr>
          <p:spPr>
            <a:xfrm>
              <a:off x="4642" y="4998"/>
              <a:ext cx="2004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ID de equipo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3" name="Text Box 132"/>
            <p:cNvSpPr txBox="1"/>
            <p:nvPr/>
          </p:nvSpPr>
          <p:spPr>
            <a:xfrm>
              <a:off x="10149" y="4998"/>
              <a:ext cx="87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Tipo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4" name="Text Box 133"/>
            <p:cNvSpPr txBox="1"/>
            <p:nvPr/>
          </p:nvSpPr>
          <p:spPr>
            <a:xfrm>
              <a:off x="7095" y="4998"/>
              <a:ext cx="1357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Nombre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5" name="Text Box 134"/>
            <p:cNvSpPr txBox="1"/>
            <p:nvPr/>
          </p:nvSpPr>
          <p:spPr>
            <a:xfrm>
              <a:off x="12069" y="4998"/>
              <a:ext cx="1209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Estado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6" name="Text Box 135"/>
            <p:cNvSpPr txBox="1"/>
            <p:nvPr/>
          </p:nvSpPr>
          <p:spPr>
            <a:xfrm>
              <a:off x="14327" y="4998"/>
              <a:ext cx="160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Ubicación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10788650" y="3681095"/>
            <a:ext cx="994410" cy="274320"/>
            <a:chOff x="16958" y="5770"/>
            <a:chExt cx="1566" cy="432"/>
          </a:xfrm>
        </p:grpSpPr>
        <p:grpSp>
          <p:nvGrpSpPr>
            <p:cNvPr id="139" name="Group 13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27" name="Rounded Rectangle 126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8" name="Picture 127" descr="trash-fill"/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1" name="Group 140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6" name="Group 14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2" name="Picture 141" descr="file-text-fill"/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8" name="Group 157"/>
          <p:cNvGrpSpPr/>
          <p:nvPr/>
        </p:nvGrpSpPr>
        <p:grpSpPr>
          <a:xfrm>
            <a:off x="10788650" y="4168775"/>
            <a:ext cx="994410" cy="274320"/>
            <a:chOff x="16958" y="5770"/>
            <a:chExt cx="1566" cy="432"/>
          </a:xfrm>
        </p:grpSpPr>
        <p:grpSp>
          <p:nvGrpSpPr>
            <p:cNvPr id="159" name="Group 15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60" name="Rounded Rectangle 159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1" name="Picture 160" descr="trash-fill"/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2" name="Group 161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63" name="Rounded Rectangle 16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4" name="Picture 163" descr="note-pencil-fill"/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5" name="Group 164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66" name="Rounded Rectangle 165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7" name="Picture 166" descr="file-text-fill"/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69" name="Group 168"/>
          <p:cNvGrpSpPr/>
          <p:nvPr/>
        </p:nvGrpSpPr>
        <p:grpSpPr>
          <a:xfrm>
            <a:off x="10788650" y="4665980"/>
            <a:ext cx="994410" cy="274320"/>
            <a:chOff x="16958" y="5770"/>
            <a:chExt cx="1566" cy="432"/>
          </a:xfrm>
        </p:grpSpPr>
        <p:grpSp>
          <p:nvGrpSpPr>
            <p:cNvPr id="170" name="Group 169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71" name="Rounded Rectangle 170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2" name="Picture 171" descr="trash-fill"/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3" name="Group 172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74" name="Rounded Rectangle 173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5" name="Picture 174" descr="note-pencil-fill"/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6" name="Group 17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77" name="Rounded Rectangle 176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8" name="Picture 177" descr="file-text-fill"/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/>
          <p:cNvGrpSpPr/>
          <p:nvPr/>
        </p:nvGrpSpPr>
        <p:grpSpPr>
          <a:xfrm>
            <a:off x="10788650" y="5142865"/>
            <a:ext cx="994410" cy="274320"/>
            <a:chOff x="16958" y="5770"/>
            <a:chExt cx="1566" cy="432"/>
          </a:xfrm>
        </p:grpSpPr>
        <p:grpSp>
          <p:nvGrpSpPr>
            <p:cNvPr id="181" name="Group 180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82" name="Rounded Rectangle 181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3" name="Picture 182" descr="trash-fill"/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4" name="Group 183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85" name="Rounded Rectangle 18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6" name="Picture 185" descr="note-pencil-fill"/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7" name="Group 186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88" name="Rounded Rectangle 187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9" name="Picture 188" descr="file-text-fill"/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91" name="Group 190"/>
          <p:cNvGrpSpPr/>
          <p:nvPr/>
        </p:nvGrpSpPr>
        <p:grpSpPr>
          <a:xfrm>
            <a:off x="10788650" y="5622290"/>
            <a:ext cx="994410" cy="274320"/>
            <a:chOff x="16958" y="5770"/>
            <a:chExt cx="1566" cy="432"/>
          </a:xfrm>
        </p:grpSpPr>
        <p:grpSp>
          <p:nvGrpSpPr>
            <p:cNvPr id="192" name="Group 191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93" name="Rounded Rectangle 192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4" name="Picture 193" descr="trash-fill"/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5" name="Group 194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96" name="Rounded Rectangle 195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7" name="Picture 196" descr="note-pencil-fill"/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8" name="Group 197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99" name="Rounded Rectangle 198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200" name="Picture 199" descr="file-text-fill"/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4505325" y="3618865"/>
            <a:ext cx="160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Router de Agregación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ASR 9000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369570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DEV001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5" name="Text Box 204"/>
          <p:cNvSpPr txBox="1"/>
          <p:nvPr/>
        </p:nvSpPr>
        <p:spPr>
          <a:xfrm>
            <a:off x="6444615" y="361886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Conectividad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Red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3695700"/>
            <a:ext cx="1341120" cy="245110"/>
            <a:chOff x="12069" y="6588"/>
            <a:chExt cx="2112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2113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2113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En Mantenimiento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grpSp>
        <p:nvGrpSpPr>
          <p:cNvPr id="297" name="Group 296"/>
          <p:cNvGrpSpPr/>
          <p:nvPr/>
        </p:nvGrpSpPr>
        <p:grpSpPr>
          <a:xfrm>
            <a:off x="7663815" y="4183380"/>
            <a:ext cx="808990" cy="245110"/>
            <a:chOff x="12069" y="5820"/>
            <a:chExt cx="1274" cy="386"/>
          </a:xfrm>
        </p:grpSpPr>
        <p:sp>
          <p:nvSpPr>
            <p:cNvPr id="206" name="Rounded Rectangle 20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Text Box 206"/>
            <p:cNvSpPr txBox="1"/>
            <p:nvPr/>
          </p:nvSpPr>
          <p:spPr>
            <a:xfrm>
              <a:off x="12069" y="5820"/>
              <a:ext cx="127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Operativo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  <p:sp>
        <p:nvSpPr>
          <p:cNvPr id="214" name="Text Box 213"/>
          <p:cNvSpPr txBox="1"/>
          <p:nvPr/>
        </p:nvSpPr>
        <p:spPr>
          <a:xfrm>
            <a:off x="9097645" y="361886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Mantenimiento 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>
                <a:solidFill>
                  <a:srgbClr val="354155"/>
                </a:solidFill>
              </a:rPr>
              <a:t>Correctivo y Urgencias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5" name="Text Box 214"/>
          <p:cNvSpPr txBox="1"/>
          <p:nvPr/>
        </p:nvSpPr>
        <p:spPr>
          <a:xfrm>
            <a:off x="4505325" y="4106545"/>
            <a:ext cx="18573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Servidor de Virtualización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HP DL380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418338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DEV002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7" name="Text Box 216"/>
          <p:cNvSpPr txBox="1"/>
          <p:nvPr/>
        </p:nvSpPr>
        <p:spPr>
          <a:xfrm>
            <a:off x="6444615" y="4106545"/>
            <a:ext cx="1122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Cómputo e Informática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20" name="Text Box 219"/>
          <p:cNvSpPr txBox="1"/>
          <p:nvPr/>
        </p:nvSpPr>
        <p:spPr>
          <a:xfrm>
            <a:off x="9097645" y="410654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Recepción y Diagnóstico Técnico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2947670" y="4603750"/>
            <a:ext cx="7886700" cy="398780"/>
            <a:chOff x="4642" y="5699"/>
            <a:chExt cx="12420" cy="628"/>
          </a:xfrm>
        </p:grpSpPr>
        <p:sp>
          <p:nvSpPr>
            <p:cNvPr id="236" name="Rounded Rectangle 23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237" name="Group 236"/>
            <p:cNvGrpSpPr/>
            <p:nvPr/>
          </p:nvGrpSpPr>
          <p:grpSpPr>
            <a:xfrm>
              <a:off x="4642" y="5699"/>
              <a:ext cx="12421" cy="628"/>
              <a:chOff x="4642" y="5699"/>
              <a:chExt cx="12421" cy="628"/>
            </a:xfrm>
          </p:grpSpPr>
          <p:sp>
            <p:nvSpPr>
              <p:cNvPr id="238" name="Text Box 237"/>
              <p:cNvSpPr txBox="1"/>
              <p:nvPr/>
            </p:nvSpPr>
            <p:spPr>
              <a:xfrm>
                <a:off x="7095" y="5699"/>
                <a:ext cx="274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Firewall de Próxima Generación PA-5200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39" name="Text Box 238"/>
              <p:cNvSpPr txBox="1"/>
              <p:nvPr/>
            </p:nvSpPr>
            <p:spPr>
              <a:xfrm>
                <a:off x="4642" y="5820"/>
                <a:ext cx="108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DEV003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0" name="Text Box 239"/>
              <p:cNvSpPr txBox="1"/>
              <p:nvPr/>
            </p:nvSpPr>
            <p:spPr>
              <a:xfrm>
                <a:off x="10149" y="5699"/>
                <a:ext cx="161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Conectividad </a:t>
                </a:r>
                <a:endParaRPr lang="en-US" sz="1000">
                  <a:solidFill>
                    <a:srgbClr val="354155"/>
                  </a:solidFill>
                </a:endParaRPr>
              </a:p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y Red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1" name="Text Box 240"/>
              <p:cNvSpPr txBox="1"/>
              <p:nvPr/>
            </p:nvSpPr>
            <p:spPr>
              <a:xfrm>
                <a:off x="12069" y="5820"/>
                <a:ext cx="127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A8054"/>
                    </a:solidFill>
                  </a:rPr>
                  <a:t>Operativo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  <p:sp>
            <p:nvSpPr>
              <p:cNvPr id="242" name="Text Box 241"/>
              <p:cNvSpPr txBox="1"/>
              <p:nvPr/>
            </p:nvSpPr>
            <p:spPr>
              <a:xfrm>
                <a:off x="14327" y="5699"/>
                <a:ext cx="2736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Análisis Forense y Respuesta a Incidentes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sp>
        <p:nvSpPr>
          <p:cNvPr id="265" name="Rounded Rectangle 264"/>
          <p:cNvSpPr/>
          <p:nvPr/>
        </p:nvSpPr>
        <p:spPr>
          <a:xfrm>
            <a:off x="7663815" y="5161280"/>
            <a:ext cx="695960" cy="23685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5157470"/>
            <a:ext cx="67818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9A1E1E"/>
                </a:solidFill>
              </a:rPr>
              <a:t>De Baja</a:t>
            </a:r>
            <a:endParaRPr lang="en-US" sz="1000">
              <a:solidFill>
                <a:srgbClr val="9A1E1E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4505325" y="50806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Sistema UPS Eaton 20kVA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515747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DEV004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9" name="Text Box 268"/>
          <p:cNvSpPr txBox="1"/>
          <p:nvPr/>
        </p:nvSpPr>
        <p:spPr>
          <a:xfrm>
            <a:off x="6444615" y="508063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y Soporte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1" name="Text Box 270"/>
          <p:cNvSpPr txBox="1"/>
          <p:nvPr/>
        </p:nvSpPr>
        <p:spPr>
          <a:xfrm>
            <a:off x="9097645" y="508063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Análisis Forense y 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4" name="Rounded Rectangle 273"/>
          <p:cNvSpPr/>
          <p:nvPr/>
        </p:nvSpPr>
        <p:spPr>
          <a:xfrm>
            <a:off x="7663815" y="5640705"/>
            <a:ext cx="1342390" cy="23685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9" name="Text Box 278"/>
          <p:cNvSpPr txBox="1"/>
          <p:nvPr/>
        </p:nvSpPr>
        <p:spPr>
          <a:xfrm>
            <a:off x="7663815" y="5636895"/>
            <a:ext cx="13608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3555B8"/>
                </a:solidFill>
              </a:rPr>
              <a:t>Siendo Trasladado</a:t>
            </a:r>
            <a:endParaRPr lang="en-US" sz="1000">
              <a:solidFill>
                <a:srgbClr val="3555B8"/>
              </a:solidFill>
            </a:endParaRPr>
          </a:p>
        </p:txBody>
      </p:sp>
      <p:sp>
        <p:nvSpPr>
          <p:cNvPr id="276" name="Text Box 275"/>
          <p:cNvSpPr txBox="1"/>
          <p:nvPr/>
        </p:nvSpPr>
        <p:spPr>
          <a:xfrm>
            <a:off x="4505325" y="55600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Analizador de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Espectro Viavi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5636895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DEV005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8" name="Text Box 277"/>
          <p:cNvSpPr txBox="1"/>
          <p:nvPr/>
        </p:nvSpPr>
        <p:spPr>
          <a:xfrm>
            <a:off x="6444615" y="5560060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Diagnóstico y Medición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80" name="Text Box 279"/>
          <p:cNvSpPr txBox="1"/>
          <p:nvPr/>
        </p:nvSpPr>
        <p:spPr>
          <a:xfrm>
            <a:off x="9097645" y="5560060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Plataforma como Servicio</a:t>
            </a:r>
            <a:endParaRPr lang="en-US" sz="1000">
              <a:solidFill>
                <a:srgbClr val="3541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554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rgbClr val="354155"/>
                </a:solidFill>
                <a:sym typeface="+mn-ea"/>
              </a:rPr>
              <a:t>Servidor de Virtualización HP DL380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23939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Ficha Técnica detallada del equipo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" name="Group 296"/>
          <p:cNvGrpSpPr/>
          <p:nvPr/>
        </p:nvGrpSpPr>
        <p:grpSpPr>
          <a:xfrm>
            <a:off x="7774305" y="937895"/>
            <a:ext cx="808990" cy="245110"/>
            <a:chOff x="12069" y="5820"/>
            <a:chExt cx="1274" cy="386"/>
          </a:xfrm>
        </p:grpSpPr>
        <p:sp>
          <p:nvSpPr>
            <p:cNvPr id="206" name="Rounded Rectangle 20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Text Box 206"/>
            <p:cNvSpPr txBox="1"/>
            <p:nvPr/>
          </p:nvSpPr>
          <p:spPr>
            <a:xfrm>
              <a:off x="12069" y="5820"/>
              <a:ext cx="127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Operativo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  <p:grpSp>
        <p:nvGrpSpPr>
          <p:cNvPr id="298" name="Group 297"/>
          <p:cNvGrpSpPr/>
          <p:nvPr/>
        </p:nvGrpSpPr>
        <p:grpSpPr>
          <a:xfrm>
            <a:off x="10874375" y="1013143"/>
            <a:ext cx="870585" cy="337820"/>
            <a:chOff x="16151" y="1596"/>
            <a:chExt cx="1371" cy="532"/>
          </a:xfrm>
        </p:grpSpPr>
        <p:sp>
          <p:nvSpPr>
            <p:cNvPr id="299" name="Rounded Rectangle 298"/>
            <p:cNvSpPr/>
            <p:nvPr/>
          </p:nvSpPr>
          <p:spPr>
            <a:xfrm>
              <a:off x="16151" y="1596"/>
              <a:ext cx="1371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300" name="Picture 299" descr="pencil-simple-fill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6285" y="1718"/>
              <a:ext cx="288" cy="288"/>
            </a:xfrm>
            <a:prstGeom prst="rect">
              <a:avLst/>
            </a:prstGeom>
          </p:spPr>
        </p:pic>
        <p:sp>
          <p:nvSpPr>
            <p:cNvPr id="301" name="Text Box 300"/>
            <p:cNvSpPr txBox="1"/>
            <p:nvPr/>
          </p:nvSpPr>
          <p:spPr>
            <a:xfrm>
              <a:off x="16524" y="1669"/>
              <a:ext cx="99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sz="1000">
                  <a:solidFill>
                    <a:schemeClr val="bg1"/>
                  </a:solidFill>
                </a:rPr>
                <a:t>Editar</a:t>
              </a:r>
              <a:endParaRPr lang="en-US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302" name="Group 301"/>
          <p:cNvGrpSpPr/>
          <p:nvPr/>
        </p:nvGrpSpPr>
        <p:grpSpPr>
          <a:xfrm>
            <a:off x="9702165" y="1013460"/>
            <a:ext cx="1063625" cy="337185"/>
            <a:chOff x="16943" y="4017"/>
            <a:chExt cx="1675" cy="531"/>
          </a:xfrm>
        </p:grpSpPr>
        <p:sp>
          <p:nvSpPr>
            <p:cNvPr id="303" name="Rounded Rectangle 302"/>
            <p:cNvSpPr/>
            <p:nvPr/>
          </p:nvSpPr>
          <p:spPr>
            <a:xfrm>
              <a:off x="16943" y="4017"/>
              <a:ext cx="1675" cy="53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304" name="Picture 303" descr="download-fill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305" name="Text Box 304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10" name="Rounded Rectangle 109"/>
          <p:cNvSpPr/>
          <p:nvPr/>
        </p:nvSpPr>
        <p:spPr>
          <a:xfrm>
            <a:off x="2815590" y="1657350"/>
            <a:ext cx="5351145" cy="219329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2" name="Text Box 111"/>
          <p:cNvSpPr txBox="1"/>
          <p:nvPr/>
        </p:nvSpPr>
        <p:spPr>
          <a:xfrm>
            <a:off x="2910205" y="1816100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  <a:sym typeface="+mn-ea"/>
              </a:rPr>
              <a:t>Detalles Principales</a:t>
            </a:r>
            <a:endParaRPr lang="en-US" sz="1400" b="1">
              <a:solidFill>
                <a:srgbClr val="354155"/>
              </a:solidFill>
            </a:endParaRPr>
          </a:p>
        </p:txBody>
      </p:sp>
      <p:cxnSp>
        <p:nvCxnSpPr>
          <p:cNvPr id="113" name="Straight Connector 112"/>
          <p:cNvCxnSpPr/>
          <p:nvPr/>
        </p:nvCxnSpPr>
        <p:spPr>
          <a:xfrm>
            <a:off x="2976563" y="2153285"/>
            <a:ext cx="5029200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 Box 113"/>
          <p:cNvSpPr txBox="1"/>
          <p:nvPr/>
        </p:nvSpPr>
        <p:spPr>
          <a:xfrm>
            <a:off x="2976880" y="2191385"/>
            <a:ext cx="18256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Tipo de Equipo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Cómputo e Informática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5" name="Text Box 114"/>
          <p:cNvSpPr txBox="1"/>
          <p:nvPr/>
        </p:nvSpPr>
        <p:spPr>
          <a:xfrm>
            <a:off x="5488305" y="2191385"/>
            <a:ext cx="17837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Número de Identificación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 b="1">
                <a:solidFill>
                  <a:srgbClr val="354155"/>
                </a:solidFill>
                <a:sym typeface="+mn-ea"/>
              </a:rPr>
              <a:t>DEV002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7" name="Text Box 116"/>
          <p:cNvSpPr txBox="1"/>
          <p:nvPr/>
        </p:nvSpPr>
        <p:spPr>
          <a:xfrm>
            <a:off x="2976880" y="2719705"/>
            <a:ext cx="15322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Fecha de Adquisición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10/11/2023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8" name="Text Box 117"/>
          <p:cNvSpPr txBox="1"/>
          <p:nvPr/>
        </p:nvSpPr>
        <p:spPr>
          <a:xfrm>
            <a:off x="5488305" y="2719705"/>
            <a:ext cx="19316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Mantenimientos Realizados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2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9" name="Text Box 118"/>
          <p:cNvSpPr txBox="1"/>
          <p:nvPr/>
        </p:nvSpPr>
        <p:spPr>
          <a:xfrm>
            <a:off x="2976880" y="3248025"/>
            <a:ext cx="21367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Costo total en Mantenimientos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124.90 USD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20" name="Text Box 119"/>
          <p:cNvSpPr txBox="1"/>
          <p:nvPr/>
        </p:nvSpPr>
        <p:spPr>
          <a:xfrm>
            <a:off x="5488305" y="3248025"/>
            <a:ext cx="22529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Fecha del último mantenimiento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01/07/2025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8359775" y="1656715"/>
            <a:ext cx="3385185" cy="219329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6" name="Text Box 125"/>
          <p:cNvSpPr txBox="1"/>
          <p:nvPr/>
        </p:nvSpPr>
        <p:spPr>
          <a:xfrm>
            <a:off x="8454390" y="1816100"/>
            <a:ext cx="3175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  <a:sym typeface="+mn-ea"/>
              </a:rPr>
              <a:t>Ubicación</a:t>
            </a:r>
            <a:endParaRPr lang="en-US" sz="1400" b="1">
              <a:solidFill>
                <a:srgbClr val="354155"/>
              </a:solidFill>
            </a:endParaRPr>
          </a:p>
        </p:txBody>
      </p:sp>
      <p:cxnSp>
        <p:nvCxnSpPr>
          <p:cNvPr id="127" name="Straight Connector 126"/>
          <p:cNvCxnSpPr/>
          <p:nvPr/>
        </p:nvCxnSpPr>
        <p:spPr>
          <a:xfrm>
            <a:off x="8520748" y="2152650"/>
            <a:ext cx="3108960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127"/>
          <p:cNvSpPr txBox="1"/>
          <p:nvPr/>
        </p:nvSpPr>
        <p:spPr>
          <a:xfrm>
            <a:off x="8521065" y="2190750"/>
            <a:ext cx="19748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Sección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 b="1">
                <a:solidFill>
                  <a:srgbClr val="354155"/>
                </a:solidFill>
              </a:rPr>
              <a:t>Taller Central y Logística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30" name="Text Box 129"/>
          <p:cNvSpPr txBox="1"/>
          <p:nvPr/>
        </p:nvSpPr>
        <p:spPr>
          <a:xfrm>
            <a:off x="8521065" y="2719070"/>
            <a:ext cx="25228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Departamento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 b="1">
                <a:solidFill>
                  <a:srgbClr val="354155"/>
                </a:solidFill>
              </a:rPr>
              <a:t>Recepción y Diagnóstico Técnico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33" name="Text Box 132"/>
          <p:cNvSpPr txBox="1"/>
          <p:nvPr/>
        </p:nvSpPr>
        <p:spPr>
          <a:xfrm>
            <a:off x="8521065" y="3247390"/>
            <a:ext cx="172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Responsable de Sección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Alejandro Torres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41" name="Rounded Rectangle 140"/>
          <p:cNvSpPr/>
          <p:nvPr/>
        </p:nvSpPr>
        <p:spPr>
          <a:xfrm>
            <a:off x="2814955" y="4064635"/>
            <a:ext cx="8930005" cy="219329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2" name="Text Box 141"/>
          <p:cNvSpPr txBox="1"/>
          <p:nvPr/>
        </p:nvSpPr>
        <p:spPr>
          <a:xfrm>
            <a:off x="2909570" y="4223385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</a:rPr>
              <a:t>Historial de Mantenimientos</a:t>
            </a:r>
            <a:endParaRPr lang="en-US" sz="1400" b="1">
              <a:solidFill>
                <a:srgbClr val="354155"/>
              </a:solidFill>
            </a:endParaRPr>
          </a:p>
        </p:txBody>
      </p:sp>
      <p:sp>
        <p:nvSpPr>
          <p:cNvPr id="150" name="Rectangles 149"/>
          <p:cNvSpPr/>
          <p:nvPr/>
        </p:nvSpPr>
        <p:spPr>
          <a:xfrm>
            <a:off x="2815590" y="4558665"/>
            <a:ext cx="8929370" cy="351155"/>
          </a:xfrm>
          <a:prstGeom prst="rect">
            <a:avLst/>
          </a:prstGeom>
          <a:solidFill>
            <a:srgbClr val="E5EAF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1" name="Text Box 150"/>
          <p:cNvSpPr txBox="1"/>
          <p:nvPr/>
        </p:nvSpPr>
        <p:spPr>
          <a:xfrm>
            <a:off x="2976880" y="4596765"/>
            <a:ext cx="6921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FECHA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2" name="Text Box 151"/>
          <p:cNvSpPr txBox="1"/>
          <p:nvPr/>
        </p:nvSpPr>
        <p:spPr>
          <a:xfrm>
            <a:off x="10342245" y="4596765"/>
            <a:ext cx="7194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COSTO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3" name="Text Box 152"/>
          <p:cNvSpPr txBox="1"/>
          <p:nvPr/>
        </p:nvSpPr>
        <p:spPr>
          <a:xfrm>
            <a:off x="6240145" y="4596765"/>
            <a:ext cx="8655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TÉCNICO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4" name="Text Box 153"/>
          <p:cNvSpPr txBox="1"/>
          <p:nvPr/>
        </p:nvSpPr>
        <p:spPr>
          <a:xfrm>
            <a:off x="7923530" y="4596765"/>
            <a:ext cx="69913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NOTAS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8" name="Text Box 157"/>
          <p:cNvSpPr txBox="1"/>
          <p:nvPr/>
        </p:nvSpPr>
        <p:spPr>
          <a:xfrm>
            <a:off x="4594860" y="4596765"/>
            <a:ext cx="5334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TIPO</a:t>
            </a:r>
            <a:endParaRPr lang="en-US" sz="1200">
              <a:solidFill>
                <a:srgbClr val="354155"/>
              </a:solidFill>
            </a:endParaRPr>
          </a:p>
        </p:txBody>
      </p:sp>
      <p:cxnSp>
        <p:nvCxnSpPr>
          <p:cNvPr id="161" name="Straight Connector 160"/>
          <p:cNvCxnSpPr/>
          <p:nvPr/>
        </p:nvCxnSpPr>
        <p:spPr>
          <a:xfrm flipV="1">
            <a:off x="2814955" y="5534025"/>
            <a:ext cx="8914130" cy="22860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 Box 161"/>
          <p:cNvSpPr txBox="1"/>
          <p:nvPr/>
        </p:nvSpPr>
        <p:spPr>
          <a:xfrm>
            <a:off x="2976880" y="5772150"/>
            <a:ext cx="9131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05/01/2024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3" name="Text Box 162"/>
          <p:cNvSpPr txBox="1"/>
          <p:nvPr/>
        </p:nvSpPr>
        <p:spPr>
          <a:xfrm>
            <a:off x="2976880" y="5127625"/>
            <a:ext cx="9131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01/07/2025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5" name="Text Box 164"/>
          <p:cNvSpPr txBox="1"/>
          <p:nvPr/>
        </p:nvSpPr>
        <p:spPr>
          <a:xfrm>
            <a:off x="4594860" y="5772150"/>
            <a:ext cx="813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Predictivo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6" name="Text Box 165"/>
          <p:cNvSpPr txBox="1"/>
          <p:nvPr/>
        </p:nvSpPr>
        <p:spPr>
          <a:xfrm>
            <a:off x="4594860" y="5127625"/>
            <a:ext cx="8610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Preventivo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7" name="Text Box 166"/>
          <p:cNvSpPr txBox="1"/>
          <p:nvPr/>
        </p:nvSpPr>
        <p:spPr>
          <a:xfrm>
            <a:off x="6240145" y="5127625"/>
            <a:ext cx="8928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Carlos Ruiz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8" name="Text Box 167"/>
          <p:cNvSpPr txBox="1"/>
          <p:nvPr/>
        </p:nvSpPr>
        <p:spPr>
          <a:xfrm>
            <a:off x="6240145" y="5772150"/>
            <a:ext cx="84264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Ana López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9" name="Text Box 168"/>
          <p:cNvSpPr txBox="1"/>
          <p:nvPr/>
        </p:nvSpPr>
        <p:spPr>
          <a:xfrm>
            <a:off x="7923530" y="5695315"/>
            <a:ext cx="2077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Actualización de firmware a v2.5.1 sin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70" name="Text Box 169"/>
          <p:cNvSpPr txBox="1"/>
          <p:nvPr/>
        </p:nvSpPr>
        <p:spPr>
          <a:xfrm>
            <a:off x="7923530" y="5050790"/>
            <a:ext cx="2077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Limpieza de ventiladores y componentes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71" name="Text Box 170"/>
          <p:cNvSpPr txBox="1"/>
          <p:nvPr/>
        </p:nvSpPr>
        <p:spPr>
          <a:xfrm>
            <a:off x="10342245" y="5772150"/>
            <a:ext cx="62674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120.90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72" name="Text Box 171"/>
          <p:cNvSpPr txBox="1"/>
          <p:nvPr/>
        </p:nvSpPr>
        <p:spPr>
          <a:xfrm>
            <a:off x="10342245" y="5127625"/>
            <a:ext cx="54610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24.00</a:t>
            </a:r>
            <a:endParaRPr lang="en-US" sz="1000">
              <a:solidFill>
                <a:srgbClr val="3541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141" name="Rounded Rectangle 140"/>
          <p:cNvSpPr/>
          <p:nvPr/>
        </p:nvSpPr>
        <p:spPr>
          <a:xfrm>
            <a:off x="2814955" y="1031875"/>
            <a:ext cx="8930005" cy="219329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2" name="Text Box 141"/>
          <p:cNvSpPr txBox="1"/>
          <p:nvPr/>
        </p:nvSpPr>
        <p:spPr>
          <a:xfrm>
            <a:off x="2909570" y="1190625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</a:rPr>
              <a:t>Historial de Mantenimientos</a:t>
            </a:r>
            <a:endParaRPr lang="en-US" sz="1400" b="1">
              <a:solidFill>
                <a:srgbClr val="354155"/>
              </a:solidFill>
            </a:endParaRPr>
          </a:p>
        </p:txBody>
      </p:sp>
      <p:sp>
        <p:nvSpPr>
          <p:cNvPr id="150" name="Rectangles 149"/>
          <p:cNvSpPr/>
          <p:nvPr/>
        </p:nvSpPr>
        <p:spPr>
          <a:xfrm>
            <a:off x="2815590" y="1525905"/>
            <a:ext cx="8929370" cy="351155"/>
          </a:xfrm>
          <a:prstGeom prst="rect">
            <a:avLst/>
          </a:prstGeom>
          <a:solidFill>
            <a:srgbClr val="E5EAF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1" name="Text Box 150"/>
          <p:cNvSpPr txBox="1"/>
          <p:nvPr/>
        </p:nvSpPr>
        <p:spPr>
          <a:xfrm>
            <a:off x="2976880" y="1564005"/>
            <a:ext cx="6921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FECHA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2" name="Text Box 151"/>
          <p:cNvSpPr txBox="1"/>
          <p:nvPr/>
        </p:nvSpPr>
        <p:spPr>
          <a:xfrm>
            <a:off x="10342245" y="1564005"/>
            <a:ext cx="7194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COSTO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3" name="Text Box 152"/>
          <p:cNvSpPr txBox="1"/>
          <p:nvPr/>
        </p:nvSpPr>
        <p:spPr>
          <a:xfrm>
            <a:off x="6240145" y="1564005"/>
            <a:ext cx="8655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TÉCNICO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4" name="Text Box 153"/>
          <p:cNvSpPr txBox="1"/>
          <p:nvPr/>
        </p:nvSpPr>
        <p:spPr>
          <a:xfrm>
            <a:off x="7923530" y="1564005"/>
            <a:ext cx="69913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NOTAS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8" name="Text Box 157"/>
          <p:cNvSpPr txBox="1"/>
          <p:nvPr/>
        </p:nvSpPr>
        <p:spPr>
          <a:xfrm>
            <a:off x="4594860" y="1564005"/>
            <a:ext cx="5334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TIPO</a:t>
            </a:r>
            <a:endParaRPr lang="en-US" sz="1200">
              <a:solidFill>
                <a:srgbClr val="354155"/>
              </a:solidFill>
            </a:endParaRPr>
          </a:p>
        </p:txBody>
      </p:sp>
      <p:cxnSp>
        <p:nvCxnSpPr>
          <p:cNvPr id="161" name="Straight Connector 160"/>
          <p:cNvCxnSpPr/>
          <p:nvPr/>
        </p:nvCxnSpPr>
        <p:spPr>
          <a:xfrm flipV="1">
            <a:off x="2814955" y="2501265"/>
            <a:ext cx="8914130" cy="22860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 Box 161"/>
          <p:cNvSpPr txBox="1"/>
          <p:nvPr/>
        </p:nvSpPr>
        <p:spPr>
          <a:xfrm>
            <a:off x="2976880" y="2739390"/>
            <a:ext cx="9131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05/01/2024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3" name="Text Box 162"/>
          <p:cNvSpPr txBox="1"/>
          <p:nvPr/>
        </p:nvSpPr>
        <p:spPr>
          <a:xfrm>
            <a:off x="2976880" y="2094865"/>
            <a:ext cx="9131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01/07/2025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5" name="Text Box 164"/>
          <p:cNvSpPr txBox="1"/>
          <p:nvPr/>
        </p:nvSpPr>
        <p:spPr>
          <a:xfrm>
            <a:off x="4594860" y="2739390"/>
            <a:ext cx="813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Predictivo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6" name="Text Box 165"/>
          <p:cNvSpPr txBox="1"/>
          <p:nvPr/>
        </p:nvSpPr>
        <p:spPr>
          <a:xfrm>
            <a:off x="4594860" y="2094865"/>
            <a:ext cx="8610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Preventivo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7" name="Text Box 166"/>
          <p:cNvSpPr txBox="1"/>
          <p:nvPr/>
        </p:nvSpPr>
        <p:spPr>
          <a:xfrm>
            <a:off x="6240145" y="2094865"/>
            <a:ext cx="8928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Carlos Ruiz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8" name="Text Box 167"/>
          <p:cNvSpPr txBox="1"/>
          <p:nvPr/>
        </p:nvSpPr>
        <p:spPr>
          <a:xfrm>
            <a:off x="6240145" y="2739390"/>
            <a:ext cx="84264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Ana López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69" name="Text Box 168"/>
          <p:cNvSpPr txBox="1"/>
          <p:nvPr/>
        </p:nvSpPr>
        <p:spPr>
          <a:xfrm>
            <a:off x="7923530" y="2662555"/>
            <a:ext cx="2077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Actualización de firmware a v2.5.1 sin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70" name="Text Box 169"/>
          <p:cNvSpPr txBox="1"/>
          <p:nvPr/>
        </p:nvSpPr>
        <p:spPr>
          <a:xfrm>
            <a:off x="7923530" y="2018030"/>
            <a:ext cx="2077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Limpieza de ventiladores y componentes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71" name="Text Box 170"/>
          <p:cNvSpPr txBox="1"/>
          <p:nvPr/>
        </p:nvSpPr>
        <p:spPr>
          <a:xfrm>
            <a:off x="10342245" y="2739390"/>
            <a:ext cx="62674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120.90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72" name="Text Box 171"/>
          <p:cNvSpPr txBox="1"/>
          <p:nvPr/>
        </p:nvSpPr>
        <p:spPr>
          <a:xfrm>
            <a:off x="10342245" y="2094865"/>
            <a:ext cx="54610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24.00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73" name="Rectangles 172"/>
          <p:cNvSpPr/>
          <p:nvPr/>
        </p:nvSpPr>
        <p:spPr>
          <a:xfrm>
            <a:off x="2762250" y="829310"/>
            <a:ext cx="9157970" cy="828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2814955" y="876300"/>
            <a:ext cx="554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rgbClr val="354155"/>
                </a:solidFill>
                <a:sym typeface="+mn-ea"/>
              </a:rPr>
              <a:t>Servidor de Virtualización HP DL380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23939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Ficha Técnica detallada del equipo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" name="Group 296"/>
          <p:cNvGrpSpPr/>
          <p:nvPr/>
        </p:nvGrpSpPr>
        <p:grpSpPr>
          <a:xfrm>
            <a:off x="7774305" y="937895"/>
            <a:ext cx="808990" cy="245110"/>
            <a:chOff x="12069" y="5820"/>
            <a:chExt cx="1274" cy="386"/>
          </a:xfrm>
        </p:grpSpPr>
        <p:sp>
          <p:nvSpPr>
            <p:cNvPr id="206" name="Rounded Rectangle 20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Text Box 206"/>
            <p:cNvSpPr txBox="1"/>
            <p:nvPr/>
          </p:nvSpPr>
          <p:spPr>
            <a:xfrm>
              <a:off x="12069" y="5820"/>
              <a:ext cx="127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Operativo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  <p:grpSp>
        <p:nvGrpSpPr>
          <p:cNvPr id="298" name="Group 297"/>
          <p:cNvGrpSpPr/>
          <p:nvPr/>
        </p:nvGrpSpPr>
        <p:grpSpPr>
          <a:xfrm>
            <a:off x="10874375" y="1013143"/>
            <a:ext cx="870585" cy="337820"/>
            <a:chOff x="16151" y="1596"/>
            <a:chExt cx="1371" cy="532"/>
          </a:xfrm>
        </p:grpSpPr>
        <p:sp>
          <p:nvSpPr>
            <p:cNvPr id="299" name="Rounded Rectangle 298"/>
            <p:cNvSpPr/>
            <p:nvPr/>
          </p:nvSpPr>
          <p:spPr>
            <a:xfrm>
              <a:off x="16151" y="1596"/>
              <a:ext cx="1371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300" name="Picture 299" descr="pencil-simple-fill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6285" y="1718"/>
              <a:ext cx="288" cy="288"/>
            </a:xfrm>
            <a:prstGeom prst="rect">
              <a:avLst/>
            </a:prstGeom>
          </p:spPr>
        </p:pic>
        <p:sp>
          <p:nvSpPr>
            <p:cNvPr id="301" name="Text Box 300"/>
            <p:cNvSpPr txBox="1"/>
            <p:nvPr/>
          </p:nvSpPr>
          <p:spPr>
            <a:xfrm>
              <a:off x="16524" y="1669"/>
              <a:ext cx="99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sz="1000">
                  <a:solidFill>
                    <a:schemeClr val="bg1"/>
                  </a:solidFill>
                </a:rPr>
                <a:t>Editar</a:t>
              </a:r>
              <a:endParaRPr lang="en-US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302" name="Group 301"/>
          <p:cNvGrpSpPr/>
          <p:nvPr/>
        </p:nvGrpSpPr>
        <p:grpSpPr>
          <a:xfrm>
            <a:off x="9702165" y="1013460"/>
            <a:ext cx="1063625" cy="337185"/>
            <a:chOff x="16943" y="4017"/>
            <a:chExt cx="1675" cy="531"/>
          </a:xfrm>
        </p:grpSpPr>
        <p:sp>
          <p:nvSpPr>
            <p:cNvPr id="303" name="Rounded Rectangle 302"/>
            <p:cNvSpPr/>
            <p:nvPr/>
          </p:nvSpPr>
          <p:spPr>
            <a:xfrm>
              <a:off x="16943" y="4017"/>
              <a:ext cx="1675" cy="53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304" name="Picture 303" descr="download-fill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305" name="Text Box 304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74" name="Rounded Rectangle 173"/>
          <p:cNvSpPr/>
          <p:nvPr/>
        </p:nvSpPr>
        <p:spPr>
          <a:xfrm>
            <a:off x="2815590" y="3388360"/>
            <a:ext cx="8930005" cy="149225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5" name="Text Box 174"/>
          <p:cNvSpPr txBox="1"/>
          <p:nvPr/>
        </p:nvSpPr>
        <p:spPr>
          <a:xfrm>
            <a:off x="2910205" y="3547110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</a:rPr>
              <a:t>Registro de Traslados</a:t>
            </a:r>
            <a:endParaRPr lang="en-US" sz="1400" b="1">
              <a:solidFill>
                <a:srgbClr val="354155"/>
              </a:solidFill>
            </a:endParaRPr>
          </a:p>
        </p:txBody>
      </p:sp>
      <p:sp>
        <p:nvSpPr>
          <p:cNvPr id="176" name="Rectangles 175"/>
          <p:cNvSpPr/>
          <p:nvPr/>
        </p:nvSpPr>
        <p:spPr>
          <a:xfrm>
            <a:off x="2816225" y="3882390"/>
            <a:ext cx="8929370" cy="351155"/>
          </a:xfrm>
          <a:prstGeom prst="rect">
            <a:avLst/>
          </a:prstGeom>
          <a:solidFill>
            <a:srgbClr val="E5EAF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7" name="Text Box 176"/>
          <p:cNvSpPr txBox="1"/>
          <p:nvPr/>
        </p:nvSpPr>
        <p:spPr>
          <a:xfrm>
            <a:off x="2977515" y="3920490"/>
            <a:ext cx="6921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FECHA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78" name="Text Box 177"/>
          <p:cNvSpPr txBox="1"/>
          <p:nvPr/>
        </p:nvSpPr>
        <p:spPr>
          <a:xfrm>
            <a:off x="10027920" y="3920490"/>
            <a:ext cx="100012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RECEPTOR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79" name="Text Box 178"/>
          <p:cNvSpPr txBox="1"/>
          <p:nvPr/>
        </p:nvSpPr>
        <p:spPr>
          <a:xfrm>
            <a:off x="6158230" y="3920490"/>
            <a:ext cx="8661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DESTINO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80" name="Text Box 179"/>
          <p:cNvSpPr txBox="1"/>
          <p:nvPr/>
        </p:nvSpPr>
        <p:spPr>
          <a:xfrm>
            <a:off x="7877175" y="3920490"/>
            <a:ext cx="12979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RESPONSABLE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84" name="Text Box 183"/>
          <p:cNvSpPr txBox="1"/>
          <p:nvPr/>
        </p:nvSpPr>
        <p:spPr>
          <a:xfrm>
            <a:off x="2977515" y="4451350"/>
            <a:ext cx="9131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20/12/2023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87" name="Text Box 186"/>
          <p:cNvSpPr txBox="1"/>
          <p:nvPr/>
        </p:nvSpPr>
        <p:spPr>
          <a:xfrm>
            <a:off x="6158230" y="4374515"/>
            <a:ext cx="14611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  <a:sym typeface="+mn-ea"/>
              </a:rPr>
              <a:t>Recepción y </a:t>
            </a:r>
            <a:endParaRPr lang="en-US" sz="1000">
              <a:solidFill>
                <a:srgbClr val="354155"/>
              </a:solidFill>
              <a:sym typeface="+mn-ea"/>
            </a:endParaRPr>
          </a:p>
          <a:p>
            <a:pPr algn="l"/>
            <a:r>
              <a:rPr lang="en-US" sz="1000">
                <a:solidFill>
                  <a:srgbClr val="354155"/>
                </a:solidFill>
                <a:sym typeface="+mn-ea"/>
              </a:rPr>
              <a:t>Diagnóstico Técnico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90" name="Text Box 189"/>
          <p:cNvSpPr txBox="1"/>
          <p:nvPr/>
        </p:nvSpPr>
        <p:spPr>
          <a:xfrm>
            <a:off x="7877175" y="4451350"/>
            <a:ext cx="1778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Alejandro Torres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92" name="Text Box 191"/>
          <p:cNvSpPr txBox="1"/>
          <p:nvPr/>
        </p:nvSpPr>
        <p:spPr>
          <a:xfrm>
            <a:off x="10027920" y="4451350"/>
            <a:ext cx="85217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Juan Pérez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81" name="Text Box 180"/>
          <p:cNvSpPr txBox="1"/>
          <p:nvPr/>
        </p:nvSpPr>
        <p:spPr>
          <a:xfrm>
            <a:off x="4522470" y="3920490"/>
            <a:ext cx="7829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ORIGEN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86" name="Text Box 185"/>
          <p:cNvSpPr txBox="1"/>
          <p:nvPr/>
        </p:nvSpPr>
        <p:spPr>
          <a:xfrm>
            <a:off x="4522470" y="4374515"/>
            <a:ext cx="14097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Gestión de Activos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Red Local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2799080" y="5047615"/>
            <a:ext cx="8930005" cy="149225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4" name="Text Box 193"/>
          <p:cNvSpPr txBox="1"/>
          <p:nvPr/>
        </p:nvSpPr>
        <p:spPr>
          <a:xfrm>
            <a:off x="2893695" y="5206365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</a:rPr>
              <a:t>Defectación incial</a:t>
            </a:r>
            <a:endParaRPr lang="en-US" sz="1400" b="1">
              <a:solidFill>
                <a:srgbClr val="354155"/>
              </a:solidFill>
            </a:endParaRPr>
          </a:p>
        </p:txBody>
      </p:sp>
      <p:sp>
        <p:nvSpPr>
          <p:cNvPr id="195" name="Rectangles 194"/>
          <p:cNvSpPr/>
          <p:nvPr/>
        </p:nvSpPr>
        <p:spPr>
          <a:xfrm>
            <a:off x="2799715" y="5541645"/>
            <a:ext cx="8929370" cy="351155"/>
          </a:xfrm>
          <a:prstGeom prst="rect">
            <a:avLst/>
          </a:prstGeom>
          <a:solidFill>
            <a:srgbClr val="E5EAF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6" name="Text Box 195"/>
          <p:cNvSpPr txBox="1"/>
          <p:nvPr/>
        </p:nvSpPr>
        <p:spPr>
          <a:xfrm>
            <a:off x="2961005" y="5579745"/>
            <a:ext cx="13893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FECHA EMISIÓN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97" name="Text Box 196"/>
          <p:cNvSpPr txBox="1"/>
          <p:nvPr/>
        </p:nvSpPr>
        <p:spPr>
          <a:xfrm>
            <a:off x="10011410" y="5579745"/>
            <a:ext cx="162179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FECHA RESPUESTA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98" name="Text Box 197"/>
          <p:cNvSpPr txBox="1"/>
          <p:nvPr/>
        </p:nvSpPr>
        <p:spPr>
          <a:xfrm>
            <a:off x="6141720" y="5579745"/>
            <a:ext cx="8655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TÉCNICO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99" name="Text Box 198"/>
          <p:cNvSpPr txBox="1"/>
          <p:nvPr/>
        </p:nvSpPr>
        <p:spPr>
          <a:xfrm>
            <a:off x="7860665" y="5579745"/>
            <a:ext cx="7988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ESTADO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200" name="Text Box 199"/>
          <p:cNvSpPr txBox="1"/>
          <p:nvPr/>
        </p:nvSpPr>
        <p:spPr>
          <a:xfrm>
            <a:off x="2961005" y="6110605"/>
            <a:ext cx="9131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10/11/2023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1" name="Text Box 200"/>
          <p:cNvSpPr txBox="1"/>
          <p:nvPr/>
        </p:nvSpPr>
        <p:spPr>
          <a:xfrm>
            <a:off x="6141720" y="6110605"/>
            <a:ext cx="8928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  <a:sym typeface="+mn-ea"/>
              </a:rPr>
              <a:t>Carlos Ruiz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3" name="Text Box 202"/>
          <p:cNvSpPr txBox="1"/>
          <p:nvPr/>
        </p:nvSpPr>
        <p:spPr>
          <a:xfrm>
            <a:off x="10011410" y="6110605"/>
            <a:ext cx="9131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11/11/2023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4505960" y="5579745"/>
            <a:ext cx="11709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SOLICITANTE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205" name="Text Box 204"/>
          <p:cNvSpPr txBox="1"/>
          <p:nvPr/>
        </p:nvSpPr>
        <p:spPr>
          <a:xfrm>
            <a:off x="4505960" y="6110605"/>
            <a:ext cx="8813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Ana García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08" name="Group 207"/>
          <p:cNvGrpSpPr/>
          <p:nvPr/>
        </p:nvGrpSpPr>
        <p:grpSpPr>
          <a:xfrm>
            <a:off x="7860665" y="6110605"/>
            <a:ext cx="808990" cy="245110"/>
            <a:chOff x="12069" y="5820"/>
            <a:chExt cx="1274" cy="386"/>
          </a:xfrm>
        </p:grpSpPr>
        <p:sp>
          <p:nvSpPr>
            <p:cNvPr id="209" name="Rounded Rectangle 208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0" name="Text Box 209"/>
            <p:cNvSpPr txBox="1"/>
            <p:nvPr/>
          </p:nvSpPr>
          <p:spPr>
            <a:xfrm>
              <a:off x="12069" y="5820"/>
              <a:ext cx="125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Aprobado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0" name="Rounded Rectangle 109"/>
          <p:cNvSpPr/>
          <p:nvPr/>
        </p:nvSpPr>
        <p:spPr>
          <a:xfrm>
            <a:off x="2815590" y="1008380"/>
            <a:ext cx="5351145" cy="219329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2" name="Text Box 111"/>
          <p:cNvSpPr txBox="1"/>
          <p:nvPr/>
        </p:nvSpPr>
        <p:spPr>
          <a:xfrm>
            <a:off x="2910205" y="1167130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  <a:sym typeface="+mn-ea"/>
              </a:rPr>
              <a:t>Detalles Principales</a:t>
            </a:r>
            <a:endParaRPr lang="en-US" sz="1400" b="1">
              <a:solidFill>
                <a:srgbClr val="354155"/>
              </a:solidFill>
            </a:endParaRPr>
          </a:p>
        </p:txBody>
      </p:sp>
      <p:cxnSp>
        <p:nvCxnSpPr>
          <p:cNvPr id="113" name="Straight Connector 112"/>
          <p:cNvCxnSpPr/>
          <p:nvPr/>
        </p:nvCxnSpPr>
        <p:spPr>
          <a:xfrm>
            <a:off x="2976563" y="1504315"/>
            <a:ext cx="5029200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 Box 113"/>
          <p:cNvSpPr txBox="1"/>
          <p:nvPr/>
        </p:nvSpPr>
        <p:spPr>
          <a:xfrm>
            <a:off x="2976880" y="1542415"/>
            <a:ext cx="18256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Tipo de Equipo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Cómputo e Informática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5" name="Text Box 114"/>
          <p:cNvSpPr txBox="1"/>
          <p:nvPr/>
        </p:nvSpPr>
        <p:spPr>
          <a:xfrm>
            <a:off x="5488305" y="1542415"/>
            <a:ext cx="17837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Número de Identificación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 b="1">
                <a:solidFill>
                  <a:srgbClr val="354155"/>
                </a:solidFill>
                <a:sym typeface="+mn-ea"/>
              </a:rPr>
              <a:t>DEV002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7" name="Text Box 116"/>
          <p:cNvSpPr txBox="1"/>
          <p:nvPr/>
        </p:nvSpPr>
        <p:spPr>
          <a:xfrm>
            <a:off x="2976880" y="2070735"/>
            <a:ext cx="15322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Fecha de Adquisición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10/11/2023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8" name="Text Box 117"/>
          <p:cNvSpPr txBox="1"/>
          <p:nvPr/>
        </p:nvSpPr>
        <p:spPr>
          <a:xfrm>
            <a:off x="5488305" y="2070735"/>
            <a:ext cx="19316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Mantenimientos Realizados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2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19" name="Text Box 118"/>
          <p:cNvSpPr txBox="1"/>
          <p:nvPr/>
        </p:nvSpPr>
        <p:spPr>
          <a:xfrm>
            <a:off x="2976880" y="2599055"/>
            <a:ext cx="21367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Costo total en Mantenimientos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124.90 USD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20" name="Text Box 119"/>
          <p:cNvSpPr txBox="1"/>
          <p:nvPr/>
        </p:nvSpPr>
        <p:spPr>
          <a:xfrm>
            <a:off x="5488305" y="2599055"/>
            <a:ext cx="22529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Fecha del último mantenimiento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01/07/2025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8359775" y="1007745"/>
            <a:ext cx="3385185" cy="219329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6" name="Text Box 125"/>
          <p:cNvSpPr txBox="1"/>
          <p:nvPr/>
        </p:nvSpPr>
        <p:spPr>
          <a:xfrm>
            <a:off x="8454390" y="1143635"/>
            <a:ext cx="3175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  <a:sym typeface="+mn-ea"/>
              </a:rPr>
              <a:t>Ubicación</a:t>
            </a:r>
            <a:endParaRPr lang="en-US" sz="1400" b="1">
              <a:solidFill>
                <a:srgbClr val="354155"/>
              </a:solidFill>
            </a:endParaRPr>
          </a:p>
        </p:txBody>
      </p:sp>
      <p:cxnSp>
        <p:nvCxnSpPr>
          <p:cNvPr id="127" name="Straight Connector 126"/>
          <p:cNvCxnSpPr/>
          <p:nvPr/>
        </p:nvCxnSpPr>
        <p:spPr>
          <a:xfrm>
            <a:off x="8520748" y="1503680"/>
            <a:ext cx="3108960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127"/>
          <p:cNvSpPr txBox="1"/>
          <p:nvPr/>
        </p:nvSpPr>
        <p:spPr>
          <a:xfrm>
            <a:off x="8521065" y="1541780"/>
            <a:ext cx="19748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Sección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 b="1">
                <a:solidFill>
                  <a:srgbClr val="354155"/>
                </a:solidFill>
              </a:rPr>
              <a:t>Taller Central y Logística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30" name="Text Box 129"/>
          <p:cNvSpPr txBox="1"/>
          <p:nvPr/>
        </p:nvSpPr>
        <p:spPr>
          <a:xfrm>
            <a:off x="8521065" y="2070100"/>
            <a:ext cx="25228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Departamento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 b="1">
                <a:solidFill>
                  <a:srgbClr val="354155"/>
                </a:solidFill>
              </a:rPr>
              <a:t>Recepción y Diagnóstico Técnico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33" name="Text Box 132"/>
          <p:cNvSpPr txBox="1"/>
          <p:nvPr/>
        </p:nvSpPr>
        <p:spPr>
          <a:xfrm>
            <a:off x="8521065" y="2598420"/>
            <a:ext cx="172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Responsable de Sección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 b="1">
                <a:solidFill>
                  <a:srgbClr val="354155"/>
                </a:solidFill>
              </a:rPr>
              <a:t>Alejandro Torres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173" name="Rectangles 172"/>
          <p:cNvSpPr/>
          <p:nvPr/>
        </p:nvSpPr>
        <p:spPr>
          <a:xfrm>
            <a:off x="2762250" y="829310"/>
            <a:ext cx="9157970" cy="828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554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rgbClr val="354155"/>
                </a:solidFill>
                <a:sym typeface="+mn-ea"/>
              </a:rPr>
              <a:t>Servidor de Virtualización HP DL380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23939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Ficha Técnica detallada del equipo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" name="Group 296"/>
          <p:cNvGrpSpPr/>
          <p:nvPr/>
        </p:nvGrpSpPr>
        <p:grpSpPr>
          <a:xfrm>
            <a:off x="7774305" y="937895"/>
            <a:ext cx="808990" cy="245110"/>
            <a:chOff x="12069" y="5820"/>
            <a:chExt cx="1274" cy="386"/>
          </a:xfrm>
        </p:grpSpPr>
        <p:sp>
          <p:nvSpPr>
            <p:cNvPr id="206" name="Rounded Rectangle 20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Text Box 206"/>
            <p:cNvSpPr txBox="1"/>
            <p:nvPr/>
          </p:nvSpPr>
          <p:spPr>
            <a:xfrm>
              <a:off x="12069" y="5820"/>
              <a:ext cx="127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Operativo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  <p:grpSp>
        <p:nvGrpSpPr>
          <p:cNvPr id="298" name="Group 297"/>
          <p:cNvGrpSpPr/>
          <p:nvPr/>
        </p:nvGrpSpPr>
        <p:grpSpPr>
          <a:xfrm>
            <a:off x="10874375" y="1013143"/>
            <a:ext cx="870585" cy="337820"/>
            <a:chOff x="16151" y="1596"/>
            <a:chExt cx="1371" cy="532"/>
          </a:xfrm>
        </p:grpSpPr>
        <p:sp>
          <p:nvSpPr>
            <p:cNvPr id="299" name="Rounded Rectangle 298"/>
            <p:cNvSpPr/>
            <p:nvPr/>
          </p:nvSpPr>
          <p:spPr>
            <a:xfrm>
              <a:off x="16151" y="1596"/>
              <a:ext cx="1371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300" name="Picture 299" descr="pencil-simple-fill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285" y="1718"/>
              <a:ext cx="288" cy="288"/>
            </a:xfrm>
            <a:prstGeom prst="rect">
              <a:avLst/>
            </a:prstGeom>
          </p:spPr>
        </p:pic>
        <p:sp>
          <p:nvSpPr>
            <p:cNvPr id="301" name="Text Box 300"/>
            <p:cNvSpPr txBox="1"/>
            <p:nvPr/>
          </p:nvSpPr>
          <p:spPr>
            <a:xfrm>
              <a:off x="16524" y="1669"/>
              <a:ext cx="99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sz="1000">
                  <a:solidFill>
                    <a:schemeClr val="bg1"/>
                  </a:solidFill>
                </a:rPr>
                <a:t>Editar</a:t>
              </a:r>
              <a:endParaRPr lang="en-US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302" name="Group 301"/>
          <p:cNvGrpSpPr/>
          <p:nvPr/>
        </p:nvGrpSpPr>
        <p:grpSpPr>
          <a:xfrm>
            <a:off x="9702165" y="1013460"/>
            <a:ext cx="1063625" cy="337185"/>
            <a:chOff x="16943" y="4017"/>
            <a:chExt cx="1675" cy="531"/>
          </a:xfrm>
        </p:grpSpPr>
        <p:sp>
          <p:nvSpPr>
            <p:cNvPr id="303" name="Rounded Rectangle 302"/>
            <p:cNvSpPr/>
            <p:nvPr/>
          </p:nvSpPr>
          <p:spPr>
            <a:xfrm>
              <a:off x="16943" y="4017"/>
              <a:ext cx="1675" cy="53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304" name="Picture 303" descr="download-fill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305" name="Text Box 304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41" name="Rounded Rectangle 140"/>
          <p:cNvSpPr/>
          <p:nvPr/>
        </p:nvSpPr>
        <p:spPr>
          <a:xfrm>
            <a:off x="2814955" y="3340735"/>
            <a:ext cx="8930005" cy="14687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2" name="Text Box 141"/>
          <p:cNvSpPr txBox="1"/>
          <p:nvPr/>
        </p:nvSpPr>
        <p:spPr>
          <a:xfrm>
            <a:off x="2909570" y="3499485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</a:rPr>
              <a:t>Historial de Mantenimientos</a:t>
            </a:r>
            <a:endParaRPr lang="en-US" sz="1400" b="1">
              <a:solidFill>
                <a:srgbClr val="354155"/>
              </a:solidFill>
            </a:endParaRPr>
          </a:p>
        </p:txBody>
      </p:sp>
      <p:sp>
        <p:nvSpPr>
          <p:cNvPr id="150" name="Rectangles 149"/>
          <p:cNvSpPr/>
          <p:nvPr/>
        </p:nvSpPr>
        <p:spPr>
          <a:xfrm>
            <a:off x="2815590" y="3834765"/>
            <a:ext cx="8929370" cy="351155"/>
          </a:xfrm>
          <a:prstGeom prst="rect">
            <a:avLst/>
          </a:prstGeom>
          <a:solidFill>
            <a:srgbClr val="E5EAF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1" name="Text Box 150"/>
          <p:cNvSpPr txBox="1"/>
          <p:nvPr/>
        </p:nvSpPr>
        <p:spPr>
          <a:xfrm>
            <a:off x="2976880" y="3872865"/>
            <a:ext cx="6921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FECHA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2" name="Text Box 151"/>
          <p:cNvSpPr txBox="1"/>
          <p:nvPr/>
        </p:nvSpPr>
        <p:spPr>
          <a:xfrm>
            <a:off x="10342245" y="3872865"/>
            <a:ext cx="7194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COSTO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3" name="Text Box 152"/>
          <p:cNvSpPr txBox="1"/>
          <p:nvPr/>
        </p:nvSpPr>
        <p:spPr>
          <a:xfrm>
            <a:off x="6240145" y="3872865"/>
            <a:ext cx="8655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TÉCNICO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4" name="Text Box 153"/>
          <p:cNvSpPr txBox="1"/>
          <p:nvPr/>
        </p:nvSpPr>
        <p:spPr>
          <a:xfrm>
            <a:off x="7923530" y="3872865"/>
            <a:ext cx="69913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NOTAS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58" name="Text Box 157"/>
          <p:cNvSpPr txBox="1"/>
          <p:nvPr/>
        </p:nvSpPr>
        <p:spPr>
          <a:xfrm>
            <a:off x="4594860" y="3872865"/>
            <a:ext cx="5334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TIPO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74" name="Rounded Rectangle 173"/>
          <p:cNvSpPr/>
          <p:nvPr/>
        </p:nvSpPr>
        <p:spPr>
          <a:xfrm>
            <a:off x="2815590" y="4983480"/>
            <a:ext cx="8930005" cy="1492250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5" name="Text Box 174"/>
          <p:cNvSpPr txBox="1"/>
          <p:nvPr/>
        </p:nvSpPr>
        <p:spPr>
          <a:xfrm>
            <a:off x="2910205" y="5142230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</a:rPr>
              <a:t>Registro de Traslados</a:t>
            </a:r>
            <a:endParaRPr lang="en-US" sz="1400" b="1">
              <a:solidFill>
                <a:srgbClr val="354155"/>
              </a:solidFill>
            </a:endParaRPr>
          </a:p>
        </p:txBody>
      </p:sp>
      <p:sp>
        <p:nvSpPr>
          <p:cNvPr id="176" name="Rectangles 175"/>
          <p:cNvSpPr/>
          <p:nvPr/>
        </p:nvSpPr>
        <p:spPr>
          <a:xfrm>
            <a:off x="2816225" y="5477510"/>
            <a:ext cx="8929370" cy="351155"/>
          </a:xfrm>
          <a:prstGeom prst="rect">
            <a:avLst/>
          </a:prstGeom>
          <a:solidFill>
            <a:srgbClr val="E5EAF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7" name="Text Box 176"/>
          <p:cNvSpPr txBox="1"/>
          <p:nvPr/>
        </p:nvSpPr>
        <p:spPr>
          <a:xfrm>
            <a:off x="2977515" y="5515610"/>
            <a:ext cx="6921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FECHA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78" name="Text Box 177"/>
          <p:cNvSpPr txBox="1"/>
          <p:nvPr/>
        </p:nvSpPr>
        <p:spPr>
          <a:xfrm>
            <a:off x="10027920" y="5515610"/>
            <a:ext cx="100012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RECEPTOR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79" name="Text Box 178"/>
          <p:cNvSpPr txBox="1"/>
          <p:nvPr/>
        </p:nvSpPr>
        <p:spPr>
          <a:xfrm>
            <a:off x="6158230" y="5515610"/>
            <a:ext cx="8661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DESTINO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80" name="Text Box 179"/>
          <p:cNvSpPr txBox="1"/>
          <p:nvPr/>
        </p:nvSpPr>
        <p:spPr>
          <a:xfrm>
            <a:off x="7877175" y="5515610"/>
            <a:ext cx="12979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RESPONSABLE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81" name="Text Box 180"/>
          <p:cNvSpPr txBox="1"/>
          <p:nvPr/>
        </p:nvSpPr>
        <p:spPr>
          <a:xfrm>
            <a:off x="4522470" y="5515610"/>
            <a:ext cx="7829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solidFill>
                  <a:srgbClr val="354155"/>
                </a:solidFill>
              </a:rPr>
              <a:t>ORIGEN</a:t>
            </a:r>
            <a:endParaRPr lang="en-US" sz="1200">
              <a:solidFill>
                <a:srgbClr val="354155"/>
              </a:solidFill>
            </a:endParaRPr>
          </a:p>
        </p:txBody>
      </p:sp>
      <p:sp>
        <p:nvSpPr>
          <p:cNvPr id="101" name="Text Box 100"/>
          <p:cNvSpPr txBox="1"/>
          <p:nvPr/>
        </p:nvSpPr>
        <p:spPr>
          <a:xfrm>
            <a:off x="5139690" y="4384675"/>
            <a:ext cx="42830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No se encontraron registros de mantenimiento para este equipo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228590" y="6016625"/>
            <a:ext cx="389509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No se encontraron registros de traslados para este equipo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816225" y="6616065"/>
            <a:ext cx="8930005" cy="53022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910840" y="6774815"/>
            <a:ext cx="4856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</a:rPr>
              <a:t>Defectación incial</a:t>
            </a:r>
            <a:endParaRPr lang="en-US" sz="1400" b="1">
              <a:solidFill>
                <a:srgbClr val="3541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Rounded Rectangle 47"/>
          <p:cNvSpPr/>
          <p:nvPr/>
        </p:nvSpPr>
        <p:spPr>
          <a:xfrm>
            <a:off x="2814955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0" name="Group 59"/>
          <p:cNvGrpSpPr/>
          <p:nvPr/>
        </p:nvGrpSpPr>
        <p:grpSpPr>
          <a:xfrm>
            <a:off x="2947670" y="1763395"/>
            <a:ext cx="1240155" cy="490220"/>
            <a:chOff x="4641" y="2752"/>
            <a:chExt cx="1953" cy="772"/>
          </a:xfrm>
        </p:grpSpPr>
        <p:sp>
          <p:nvSpPr>
            <p:cNvPr id="56" name="Text Box 5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5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57" name="Text Box 56"/>
            <p:cNvSpPr txBox="1"/>
            <p:nvPr/>
          </p:nvSpPr>
          <p:spPr>
            <a:xfrm>
              <a:off x="4641" y="3138"/>
              <a:ext cx="195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Total de equipos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2971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Inventario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306197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equipos de infraestructura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488440" cy="337820"/>
            <a:chOff x="16151" y="1596"/>
            <a:chExt cx="234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077" cy="386"/>
              <a:chOff x="16279" y="1669"/>
              <a:chExt cx="2077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1838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Equipo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9" name="Rounded Rectangle 48"/>
          <p:cNvSpPr/>
          <p:nvPr/>
        </p:nvSpPr>
        <p:spPr>
          <a:xfrm>
            <a:off x="443865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6062345" y="1625600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768604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4753610" y="1763395"/>
            <a:ext cx="875030" cy="490220"/>
            <a:chOff x="4832" y="2752"/>
            <a:chExt cx="1378" cy="772"/>
          </a:xfrm>
        </p:grpSpPr>
        <p:sp>
          <p:nvSpPr>
            <p:cNvPr id="64" name="Text Box 63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2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0" name="Text Box 69"/>
            <p:cNvSpPr txBox="1"/>
            <p:nvPr/>
          </p:nvSpPr>
          <p:spPr>
            <a:xfrm>
              <a:off x="4832" y="3138"/>
              <a:ext cx="137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Operativos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244590" y="1755140"/>
            <a:ext cx="1140460" cy="490220"/>
            <a:chOff x="4629" y="2752"/>
            <a:chExt cx="1796" cy="772"/>
          </a:xfrm>
        </p:grpSpPr>
        <p:sp>
          <p:nvSpPr>
            <p:cNvPr id="73" name="Text Box 72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4" name="Text Box 73"/>
            <p:cNvSpPr txBox="1"/>
            <p:nvPr/>
          </p:nvSpPr>
          <p:spPr>
            <a:xfrm>
              <a:off x="4629" y="3138"/>
              <a:ext cx="17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Mantenimiento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923848" y="1763395"/>
            <a:ext cx="1029335" cy="490220"/>
            <a:chOff x="4724" y="2752"/>
            <a:chExt cx="1621" cy="772"/>
          </a:xfrm>
        </p:grpSpPr>
        <p:sp>
          <p:nvSpPr>
            <p:cNvPr id="76" name="Text Box 7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7" name="Text Box 76"/>
            <p:cNvSpPr txBox="1"/>
            <p:nvPr/>
          </p:nvSpPr>
          <p:spPr>
            <a:xfrm>
              <a:off x="4724" y="3138"/>
              <a:ext cx="1621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Dado de baja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2814955" y="25736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637780" y="2573655"/>
            <a:ext cx="633095" cy="292100"/>
            <a:chOff x="13478" y="4031"/>
            <a:chExt cx="997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3479" y="4031"/>
              <a:ext cx="996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3478" y="4067"/>
              <a:ext cx="715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Tipo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341360" y="2573655"/>
            <a:ext cx="811530" cy="292100"/>
            <a:chOff x="13197" y="4031"/>
            <a:chExt cx="1278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3197" y="4031"/>
              <a:ext cx="1278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3225" y="4067"/>
              <a:ext cx="96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223375" y="2573655"/>
            <a:ext cx="1425575" cy="292100"/>
            <a:chOff x="12233" y="4030"/>
            <a:chExt cx="2245" cy="460"/>
          </a:xfrm>
        </p:grpSpPr>
        <p:sp>
          <p:nvSpPr>
            <p:cNvPr id="95" name="Rounded Rectangle 94"/>
            <p:cNvSpPr/>
            <p:nvPr/>
          </p:nvSpPr>
          <p:spPr>
            <a:xfrm>
              <a:off x="12233" y="4030"/>
              <a:ext cx="22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6" name="Picture 95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7" name="Text Box 96"/>
            <p:cNvSpPr txBox="1"/>
            <p:nvPr/>
          </p:nvSpPr>
          <p:spPr>
            <a:xfrm>
              <a:off x="12233" y="4067"/>
              <a:ext cx="1960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Ubicación Actual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805" y="25723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30880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30664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40538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45415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50292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55168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/>
          <p:cNvGrpSpPr/>
          <p:nvPr/>
        </p:nvGrpSpPr>
        <p:grpSpPr>
          <a:xfrm>
            <a:off x="2947670" y="3173730"/>
            <a:ext cx="7165975" cy="275590"/>
            <a:chOff x="4642" y="4998"/>
            <a:chExt cx="11285" cy="434"/>
          </a:xfrm>
        </p:grpSpPr>
        <p:sp>
          <p:nvSpPr>
            <p:cNvPr id="132" name="Text Box 131"/>
            <p:cNvSpPr txBox="1"/>
            <p:nvPr/>
          </p:nvSpPr>
          <p:spPr>
            <a:xfrm>
              <a:off x="4642" y="4998"/>
              <a:ext cx="2004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ID de equipo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3" name="Text Box 132"/>
            <p:cNvSpPr txBox="1"/>
            <p:nvPr/>
          </p:nvSpPr>
          <p:spPr>
            <a:xfrm>
              <a:off x="10149" y="4998"/>
              <a:ext cx="87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Tipo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4" name="Text Box 133"/>
            <p:cNvSpPr txBox="1"/>
            <p:nvPr/>
          </p:nvSpPr>
          <p:spPr>
            <a:xfrm>
              <a:off x="7095" y="4998"/>
              <a:ext cx="1357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Nombre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5" name="Text Box 134"/>
            <p:cNvSpPr txBox="1"/>
            <p:nvPr/>
          </p:nvSpPr>
          <p:spPr>
            <a:xfrm>
              <a:off x="12069" y="4998"/>
              <a:ext cx="1209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Estado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6" name="Text Box 135"/>
            <p:cNvSpPr txBox="1"/>
            <p:nvPr/>
          </p:nvSpPr>
          <p:spPr>
            <a:xfrm>
              <a:off x="14327" y="4998"/>
              <a:ext cx="160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Ubicación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10788650" y="3681095"/>
            <a:ext cx="994410" cy="274320"/>
            <a:chOff x="16958" y="5770"/>
            <a:chExt cx="1566" cy="432"/>
          </a:xfrm>
        </p:grpSpPr>
        <p:grpSp>
          <p:nvGrpSpPr>
            <p:cNvPr id="139" name="Group 13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27" name="Rounded Rectangle 126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8" name="Picture 127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1" name="Group 140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6" name="Group 14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2" name="Picture 141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8" name="Group 157"/>
          <p:cNvGrpSpPr/>
          <p:nvPr/>
        </p:nvGrpSpPr>
        <p:grpSpPr>
          <a:xfrm>
            <a:off x="10788650" y="4168775"/>
            <a:ext cx="994410" cy="274320"/>
            <a:chOff x="16958" y="5770"/>
            <a:chExt cx="1566" cy="432"/>
          </a:xfrm>
        </p:grpSpPr>
        <p:grpSp>
          <p:nvGrpSpPr>
            <p:cNvPr id="159" name="Group 15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60" name="Rounded Rectangle 159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1" name="Picture 160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2" name="Group 161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63" name="Rounded Rectangle 16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4" name="Picture 163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5" name="Group 164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66" name="Rounded Rectangle 165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7" name="Picture 166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69" name="Group 168"/>
          <p:cNvGrpSpPr/>
          <p:nvPr/>
        </p:nvGrpSpPr>
        <p:grpSpPr>
          <a:xfrm>
            <a:off x="10788650" y="4665980"/>
            <a:ext cx="994410" cy="274320"/>
            <a:chOff x="16958" y="5770"/>
            <a:chExt cx="1566" cy="432"/>
          </a:xfrm>
        </p:grpSpPr>
        <p:grpSp>
          <p:nvGrpSpPr>
            <p:cNvPr id="170" name="Group 169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71" name="Rounded Rectangle 170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2" name="Picture 171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3" name="Group 172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74" name="Rounded Rectangle 173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5" name="Picture 174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6" name="Group 17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77" name="Rounded Rectangle 176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8" name="Picture 177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/>
          <p:cNvGrpSpPr/>
          <p:nvPr/>
        </p:nvGrpSpPr>
        <p:grpSpPr>
          <a:xfrm>
            <a:off x="10788650" y="5142865"/>
            <a:ext cx="994410" cy="274320"/>
            <a:chOff x="16958" y="5770"/>
            <a:chExt cx="1566" cy="432"/>
          </a:xfrm>
        </p:grpSpPr>
        <p:grpSp>
          <p:nvGrpSpPr>
            <p:cNvPr id="181" name="Group 180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82" name="Rounded Rectangle 181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3" name="Picture 182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4" name="Group 183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85" name="Rounded Rectangle 18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6" name="Picture 185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7" name="Group 186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88" name="Rounded Rectangle 187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9" name="Picture 188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91" name="Group 190"/>
          <p:cNvGrpSpPr/>
          <p:nvPr/>
        </p:nvGrpSpPr>
        <p:grpSpPr>
          <a:xfrm>
            <a:off x="10788650" y="5622290"/>
            <a:ext cx="994410" cy="274320"/>
            <a:chOff x="16958" y="5770"/>
            <a:chExt cx="1566" cy="432"/>
          </a:xfrm>
        </p:grpSpPr>
        <p:grpSp>
          <p:nvGrpSpPr>
            <p:cNvPr id="192" name="Group 191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93" name="Rounded Rectangle 192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4" name="Picture 193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5" name="Group 194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96" name="Rounded Rectangle 195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7" name="Picture 196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8" name="Group 197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99" name="Rounded Rectangle 198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200" name="Picture 199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4505325" y="3618865"/>
            <a:ext cx="160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Router de Agregación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ASR 9000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369570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DEV001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5" name="Text Box 204"/>
          <p:cNvSpPr txBox="1"/>
          <p:nvPr/>
        </p:nvSpPr>
        <p:spPr>
          <a:xfrm>
            <a:off x="6444615" y="361886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Conectividad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Red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3695700"/>
            <a:ext cx="1341120" cy="245110"/>
            <a:chOff x="12069" y="6588"/>
            <a:chExt cx="2112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2113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2113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En Mantenimiento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grpSp>
        <p:nvGrpSpPr>
          <p:cNvPr id="297" name="Group 296"/>
          <p:cNvGrpSpPr/>
          <p:nvPr/>
        </p:nvGrpSpPr>
        <p:grpSpPr>
          <a:xfrm>
            <a:off x="7663815" y="4183380"/>
            <a:ext cx="808990" cy="245110"/>
            <a:chOff x="12069" y="5820"/>
            <a:chExt cx="1274" cy="386"/>
          </a:xfrm>
        </p:grpSpPr>
        <p:sp>
          <p:nvSpPr>
            <p:cNvPr id="206" name="Rounded Rectangle 20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Text Box 206"/>
            <p:cNvSpPr txBox="1"/>
            <p:nvPr/>
          </p:nvSpPr>
          <p:spPr>
            <a:xfrm>
              <a:off x="12069" y="5820"/>
              <a:ext cx="127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Operativo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  <p:sp>
        <p:nvSpPr>
          <p:cNvPr id="214" name="Text Box 213"/>
          <p:cNvSpPr txBox="1"/>
          <p:nvPr/>
        </p:nvSpPr>
        <p:spPr>
          <a:xfrm>
            <a:off x="9097645" y="361886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Mantenimiento 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>
                <a:solidFill>
                  <a:srgbClr val="354155"/>
                </a:solidFill>
              </a:rPr>
              <a:t>Correctivo y Urgencias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5" name="Text Box 214"/>
          <p:cNvSpPr txBox="1"/>
          <p:nvPr/>
        </p:nvSpPr>
        <p:spPr>
          <a:xfrm>
            <a:off x="4505325" y="4106545"/>
            <a:ext cx="18573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Servidor de Virtualización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HP DL380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418338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DEV002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7" name="Text Box 216"/>
          <p:cNvSpPr txBox="1"/>
          <p:nvPr/>
        </p:nvSpPr>
        <p:spPr>
          <a:xfrm>
            <a:off x="6444615" y="4106545"/>
            <a:ext cx="1122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Cómputo e Informática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20" name="Text Box 219"/>
          <p:cNvSpPr txBox="1"/>
          <p:nvPr/>
        </p:nvSpPr>
        <p:spPr>
          <a:xfrm>
            <a:off x="9097645" y="410654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Recepción y Diagnóstico Técnico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2947670" y="4603750"/>
            <a:ext cx="7886700" cy="398780"/>
            <a:chOff x="4642" y="5699"/>
            <a:chExt cx="12420" cy="628"/>
          </a:xfrm>
        </p:grpSpPr>
        <p:sp>
          <p:nvSpPr>
            <p:cNvPr id="236" name="Rounded Rectangle 23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237" name="Group 236"/>
            <p:cNvGrpSpPr/>
            <p:nvPr/>
          </p:nvGrpSpPr>
          <p:grpSpPr>
            <a:xfrm>
              <a:off x="4642" y="5699"/>
              <a:ext cx="12421" cy="628"/>
              <a:chOff x="4642" y="5699"/>
              <a:chExt cx="12421" cy="628"/>
            </a:xfrm>
          </p:grpSpPr>
          <p:sp>
            <p:nvSpPr>
              <p:cNvPr id="238" name="Text Box 237"/>
              <p:cNvSpPr txBox="1"/>
              <p:nvPr/>
            </p:nvSpPr>
            <p:spPr>
              <a:xfrm>
                <a:off x="7095" y="5699"/>
                <a:ext cx="274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Firewall de Próxima Generación PA-5200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39" name="Text Box 238"/>
              <p:cNvSpPr txBox="1"/>
              <p:nvPr/>
            </p:nvSpPr>
            <p:spPr>
              <a:xfrm>
                <a:off x="4642" y="5820"/>
                <a:ext cx="108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DEV003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0" name="Text Box 239"/>
              <p:cNvSpPr txBox="1"/>
              <p:nvPr/>
            </p:nvSpPr>
            <p:spPr>
              <a:xfrm>
                <a:off x="10149" y="5699"/>
                <a:ext cx="161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Conectividad </a:t>
                </a:r>
                <a:endParaRPr lang="en-US" sz="1000">
                  <a:solidFill>
                    <a:srgbClr val="354155"/>
                  </a:solidFill>
                </a:endParaRPr>
              </a:p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y Red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1" name="Text Box 240"/>
              <p:cNvSpPr txBox="1"/>
              <p:nvPr/>
            </p:nvSpPr>
            <p:spPr>
              <a:xfrm>
                <a:off x="12069" y="5820"/>
                <a:ext cx="127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A8054"/>
                    </a:solidFill>
                  </a:rPr>
                  <a:t>Operativo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  <p:sp>
            <p:nvSpPr>
              <p:cNvPr id="242" name="Text Box 241"/>
              <p:cNvSpPr txBox="1"/>
              <p:nvPr/>
            </p:nvSpPr>
            <p:spPr>
              <a:xfrm>
                <a:off x="14327" y="5699"/>
                <a:ext cx="2736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Análisis Forense y Respuesta a Incidentes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sp>
        <p:nvSpPr>
          <p:cNvPr id="265" name="Rounded Rectangle 264"/>
          <p:cNvSpPr/>
          <p:nvPr/>
        </p:nvSpPr>
        <p:spPr>
          <a:xfrm>
            <a:off x="7663815" y="5161280"/>
            <a:ext cx="695960" cy="23685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5157470"/>
            <a:ext cx="67818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9A1E1E"/>
                </a:solidFill>
              </a:rPr>
              <a:t>De Baja</a:t>
            </a:r>
            <a:endParaRPr lang="en-US" sz="1000">
              <a:solidFill>
                <a:srgbClr val="9A1E1E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4505325" y="50806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Sistema UPS Eaton 20kVA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515747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DEV004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9" name="Text Box 268"/>
          <p:cNvSpPr txBox="1"/>
          <p:nvPr/>
        </p:nvSpPr>
        <p:spPr>
          <a:xfrm>
            <a:off x="6444615" y="508063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y Soporte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1" name="Text Box 270"/>
          <p:cNvSpPr txBox="1"/>
          <p:nvPr/>
        </p:nvSpPr>
        <p:spPr>
          <a:xfrm>
            <a:off x="9097645" y="508063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Análisis Forense y 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4" name="Rounded Rectangle 273"/>
          <p:cNvSpPr/>
          <p:nvPr/>
        </p:nvSpPr>
        <p:spPr>
          <a:xfrm>
            <a:off x="7663815" y="5640705"/>
            <a:ext cx="1342390" cy="23685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9" name="Text Box 278"/>
          <p:cNvSpPr txBox="1"/>
          <p:nvPr/>
        </p:nvSpPr>
        <p:spPr>
          <a:xfrm>
            <a:off x="7663815" y="5636895"/>
            <a:ext cx="13608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3555B8"/>
                </a:solidFill>
              </a:rPr>
              <a:t>Siendo Trasladado</a:t>
            </a:r>
            <a:endParaRPr lang="en-US" sz="1000">
              <a:solidFill>
                <a:srgbClr val="3555B8"/>
              </a:solidFill>
            </a:endParaRPr>
          </a:p>
        </p:txBody>
      </p:sp>
      <p:sp>
        <p:nvSpPr>
          <p:cNvPr id="276" name="Text Box 275"/>
          <p:cNvSpPr txBox="1"/>
          <p:nvPr/>
        </p:nvSpPr>
        <p:spPr>
          <a:xfrm>
            <a:off x="4505325" y="55600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Analizador de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Espectro Viavi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5636895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DEV005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8" name="Text Box 277"/>
          <p:cNvSpPr txBox="1"/>
          <p:nvPr/>
        </p:nvSpPr>
        <p:spPr>
          <a:xfrm>
            <a:off x="6444615" y="5560060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Diagnóstico y Medición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80" name="Text Box 279"/>
          <p:cNvSpPr txBox="1"/>
          <p:nvPr/>
        </p:nvSpPr>
        <p:spPr>
          <a:xfrm>
            <a:off x="9097645" y="5560060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Plataforma como Servicio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0" y="635"/>
            <a:ext cx="12255500" cy="6896100"/>
          </a:xfrm>
          <a:prstGeom prst="rect">
            <a:avLst/>
          </a:prstGeom>
          <a:solidFill>
            <a:srgbClr val="354155">
              <a:alpha val="8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3" name="Rectangles 82"/>
          <p:cNvSpPr/>
          <p:nvPr/>
        </p:nvSpPr>
        <p:spPr>
          <a:xfrm>
            <a:off x="-2078355" y="81724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-1706245" y="1807845"/>
            <a:ext cx="1073785" cy="473075"/>
          </a:xfrm>
          <a:prstGeom prst="rect">
            <a:avLst/>
          </a:prstGeom>
          <a:solidFill>
            <a:srgbClr val="35415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Rectangles 21"/>
          <p:cNvSpPr/>
          <p:nvPr/>
        </p:nvSpPr>
        <p:spPr>
          <a:xfrm>
            <a:off x="-1707515" y="2464435"/>
            <a:ext cx="1073785" cy="443865"/>
          </a:xfrm>
          <a:prstGeom prst="rect">
            <a:avLst/>
          </a:prstGeom>
          <a:solidFill>
            <a:srgbClr val="E5EAF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-1706245" y="3091815"/>
            <a:ext cx="1073785" cy="418465"/>
          </a:xfrm>
          <a:prstGeom prst="rect">
            <a:avLst/>
          </a:prstGeom>
          <a:solidFill>
            <a:srgbClr val="F8FA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s 85"/>
          <p:cNvSpPr/>
          <p:nvPr/>
        </p:nvSpPr>
        <p:spPr>
          <a:xfrm>
            <a:off x="-1707515" y="1174115"/>
            <a:ext cx="1073785" cy="450215"/>
          </a:xfrm>
          <a:prstGeom prst="rect">
            <a:avLst/>
          </a:prstGeom>
          <a:solidFill>
            <a:srgbClr val="095DD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Rectangles 70"/>
          <p:cNvSpPr/>
          <p:nvPr/>
        </p:nvSpPr>
        <p:spPr>
          <a:xfrm>
            <a:off x="-1706245" y="3693795"/>
            <a:ext cx="1073785" cy="418465"/>
          </a:xfrm>
          <a:prstGeom prst="rect">
            <a:avLst/>
          </a:prstGeom>
          <a:solidFill>
            <a:srgbClr val="E7F2F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Rectangles 80"/>
          <p:cNvSpPr/>
          <p:nvPr/>
        </p:nvSpPr>
        <p:spPr>
          <a:xfrm>
            <a:off x="-1706245" y="4283710"/>
            <a:ext cx="1073785" cy="443865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Text Box 79"/>
          <p:cNvSpPr txBox="1"/>
          <p:nvPr/>
        </p:nvSpPr>
        <p:spPr>
          <a:xfrm>
            <a:off x="-1577975" y="448945"/>
            <a:ext cx="788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Basic</a:t>
            </a:r>
            <a:endParaRPr lang="en-US"/>
          </a:p>
        </p:txBody>
      </p:sp>
      <p:sp>
        <p:nvSpPr>
          <p:cNvPr id="99" name="Text Box 98"/>
          <p:cNvSpPr txBox="1"/>
          <p:nvPr/>
        </p:nvSpPr>
        <p:spPr>
          <a:xfrm>
            <a:off x="-1668780" y="1859915"/>
            <a:ext cx="4635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1" name="Text Box 100"/>
          <p:cNvSpPr txBox="1"/>
          <p:nvPr/>
        </p:nvSpPr>
        <p:spPr>
          <a:xfrm>
            <a:off x="-1701800" y="2501900"/>
            <a:ext cx="6102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Border</a:t>
            </a:r>
            <a:endParaRPr lang="en-US" sz="1000"/>
          </a:p>
        </p:txBody>
      </p:sp>
      <p:sp>
        <p:nvSpPr>
          <p:cNvPr id="104" name="Text Box 103"/>
          <p:cNvSpPr txBox="1"/>
          <p:nvPr/>
        </p:nvSpPr>
        <p:spPr>
          <a:xfrm>
            <a:off x="-1692275" y="310134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05" name="Text Box 104"/>
          <p:cNvSpPr txBox="1"/>
          <p:nvPr/>
        </p:nvSpPr>
        <p:spPr>
          <a:xfrm>
            <a:off x="-1698625" y="369316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11" name="Text Box 110"/>
          <p:cNvSpPr txBox="1"/>
          <p:nvPr/>
        </p:nvSpPr>
        <p:spPr>
          <a:xfrm>
            <a:off x="-1687830" y="4321175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PlaceHolder</a:t>
            </a:r>
            <a:endParaRPr lang="en-US" sz="1000"/>
          </a:p>
        </p:txBody>
      </p:sp>
      <p:grpSp>
        <p:nvGrpSpPr>
          <p:cNvPr id="225" name="Group 224"/>
          <p:cNvGrpSpPr/>
          <p:nvPr/>
        </p:nvGrpSpPr>
        <p:grpSpPr>
          <a:xfrm>
            <a:off x="3747135" y="1504950"/>
            <a:ext cx="4697730" cy="3727450"/>
            <a:chOff x="5901" y="2905"/>
            <a:chExt cx="7398" cy="5870"/>
          </a:xfrm>
        </p:grpSpPr>
        <p:sp>
          <p:nvSpPr>
            <p:cNvPr id="112" name="Rounded Rectangle 111"/>
            <p:cNvSpPr/>
            <p:nvPr/>
          </p:nvSpPr>
          <p:spPr>
            <a:xfrm>
              <a:off x="5901" y="2905"/>
              <a:ext cx="7399" cy="5870"/>
            </a:xfrm>
            <a:prstGeom prst="roundRect">
              <a:avLst>
                <a:gd name="adj" fmla="val 423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5" name="Text Box 114"/>
            <p:cNvSpPr txBox="1"/>
            <p:nvPr/>
          </p:nvSpPr>
          <p:spPr>
            <a:xfrm>
              <a:off x="6166" y="3205"/>
              <a:ext cx="401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1400" b="1">
                  <a:solidFill>
                    <a:srgbClr val="354155"/>
                  </a:solidFill>
                  <a:sym typeface="+mn-ea"/>
                </a:rPr>
                <a:t>Agregar Equipo</a:t>
              </a:r>
              <a:endParaRPr lang="en-US" sz="1400" b="1">
                <a:solidFill>
                  <a:srgbClr val="354155"/>
                </a:solidFill>
              </a:endParaRPr>
            </a:p>
          </p:txBody>
        </p:sp>
        <p:cxnSp>
          <p:nvCxnSpPr>
            <p:cNvPr id="116" name="Straight Connector 115"/>
            <p:cNvCxnSpPr/>
            <p:nvPr/>
          </p:nvCxnSpPr>
          <p:spPr>
            <a:xfrm>
              <a:off x="6335" y="3849"/>
              <a:ext cx="6624" cy="17"/>
            </a:xfrm>
            <a:prstGeom prst="line">
              <a:avLst/>
            </a:prstGeom>
            <a:ln>
              <a:solidFill>
                <a:srgbClr val="E5EA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1" name="Group 130"/>
            <p:cNvGrpSpPr/>
            <p:nvPr/>
          </p:nvGrpSpPr>
          <p:grpSpPr>
            <a:xfrm>
              <a:off x="6206" y="4096"/>
              <a:ext cx="6756" cy="906"/>
              <a:chOff x="6203" y="1886"/>
              <a:chExt cx="6756" cy="906"/>
            </a:xfrm>
          </p:grpSpPr>
          <p:sp>
            <p:nvSpPr>
              <p:cNvPr id="117" name="Rounded Rectangle 116"/>
              <p:cNvSpPr/>
              <p:nvPr/>
            </p:nvSpPr>
            <p:spPr>
              <a:xfrm>
                <a:off x="6335" y="2272"/>
                <a:ext cx="6625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19" name="Text Box 118"/>
              <p:cNvSpPr txBox="1"/>
              <p:nvPr/>
            </p:nvSpPr>
            <p:spPr>
              <a:xfrm>
                <a:off x="6203" y="1886"/>
                <a:ext cx="1187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Nombre*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137" name="Group 136"/>
            <p:cNvGrpSpPr/>
            <p:nvPr/>
          </p:nvGrpSpPr>
          <p:grpSpPr>
            <a:xfrm>
              <a:off x="6206" y="5167"/>
              <a:ext cx="3296" cy="918"/>
              <a:chOff x="6207" y="2958"/>
              <a:chExt cx="3296" cy="918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6335" y="3356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20" name="Text Box 119"/>
              <p:cNvSpPr txBox="1"/>
              <p:nvPr/>
            </p:nvSpPr>
            <p:spPr>
              <a:xfrm>
                <a:off x="6207" y="2958"/>
                <a:ext cx="815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Tipo*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9666" y="5167"/>
              <a:ext cx="3296" cy="918"/>
              <a:chOff x="9642" y="2963"/>
              <a:chExt cx="3296" cy="918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9770" y="3361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22" name="Text Box 121"/>
              <p:cNvSpPr txBox="1"/>
              <p:nvPr/>
            </p:nvSpPr>
            <p:spPr>
              <a:xfrm>
                <a:off x="9642" y="2963"/>
                <a:ext cx="2513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Fecha de Adquisición*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123" name="Text Box 122"/>
              <p:cNvSpPr txBox="1"/>
              <p:nvPr/>
            </p:nvSpPr>
            <p:spPr>
              <a:xfrm>
                <a:off x="9894" y="3423"/>
                <a:ext cx="167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 b="1">
                    <a:solidFill>
                      <a:srgbClr val="354155"/>
                    </a:solidFill>
                  </a:rPr>
                  <a:t>dd/mm/aaaa</a:t>
                </a:r>
                <a:endParaRPr lang="en-US" sz="1000" b="1">
                  <a:solidFill>
                    <a:srgbClr val="354155"/>
                  </a:solidFill>
                </a:endParaRPr>
              </a:p>
            </p:txBody>
          </p:sp>
          <p:pic>
            <p:nvPicPr>
              <p:cNvPr id="124" name="Picture 123" descr="calendar-blank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2479" y="3449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143" name="Group 142"/>
            <p:cNvGrpSpPr/>
            <p:nvPr/>
          </p:nvGrpSpPr>
          <p:grpSpPr>
            <a:xfrm>
              <a:off x="6206" y="6250"/>
              <a:ext cx="6756" cy="906"/>
              <a:chOff x="6206" y="4040"/>
              <a:chExt cx="6756" cy="906"/>
            </a:xfrm>
          </p:grpSpPr>
          <p:sp>
            <p:nvSpPr>
              <p:cNvPr id="125" name="Rounded Rectangle 124"/>
              <p:cNvSpPr/>
              <p:nvPr/>
            </p:nvSpPr>
            <p:spPr>
              <a:xfrm>
                <a:off x="6338" y="4426"/>
                <a:ext cx="6625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26" name="Text Box 125"/>
              <p:cNvSpPr txBox="1"/>
              <p:nvPr/>
            </p:nvSpPr>
            <p:spPr>
              <a:xfrm>
                <a:off x="6206" y="4040"/>
                <a:ext cx="5442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Nombre del Técnico que hará la defectación inicial: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pic>
          <p:nvPicPr>
            <p:cNvPr id="211" name="Picture 210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072" y="5662"/>
              <a:ext cx="288" cy="288"/>
            </a:xfrm>
            <a:prstGeom prst="rect">
              <a:avLst/>
            </a:prstGeom>
          </p:spPr>
        </p:pic>
        <p:pic>
          <p:nvPicPr>
            <p:cNvPr id="212" name="Picture 211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2575" y="6736"/>
              <a:ext cx="288" cy="288"/>
            </a:xfrm>
            <a:prstGeom prst="rect">
              <a:avLst/>
            </a:prstGeom>
          </p:spPr>
        </p:pic>
        <p:grpSp>
          <p:nvGrpSpPr>
            <p:cNvPr id="223" name="Group 222"/>
            <p:cNvGrpSpPr/>
            <p:nvPr/>
          </p:nvGrpSpPr>
          <p:grpSpPr>
            <a:xfrm>
              <a:off x="8666" y="7862"/>
              <a:ext cx="4297" cy="532"/>
              <a:chOff x="8666" y="8615"/>
              <a:chExt cx="4297" cy="532"/>
            </a:xfrm>
          </p:grpSpPr>
          <p:sp>
            <p:nvSpPr>
              <p:cNvPr id="299" name="Rounded Rectangle 298"/>
              <p:cNvSpPr/>
              <p:nvPr/>
            </p:nvSpPr>
            <p:spPr>
              <a:xfrm>
                <a:off x="8666" y="8615"/>
                <a:ext cx="4297" cy="532"/>
              </a:xfrm>
              <a:prstGeom prst="roundRect">
                <a:avLst>
                  <a:gd name="adj" fmla="val 19005"/>
                </a:avLst>
              </a:prstGeom>
              <a:solidFill>
                <a:srgbClr val="095DD0"/>
              </a:solidFill>
              <a:ln>
                <a:solidFill>
                  <a:srgbClr val="235DE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01" name="Text Box 300"/>
              <p:cNvSpPr txBox="1"/>
              <p:nvPr/>
            </p:nvSpPr>
            <p:spPr>
              <a:xfrm>
                <a:off x="8977" y="8688"/>
                <a:ext cx="398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chemeClr val="bg1"/>
                    </a:solidFill>
                  </a:rPr>
                  <a:t>Crear Solicitud de Defectación Inicial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  <p:pic>
            <p:nvPicPr>
              <p:cNvPr id="221" name="Picture 220" descr="floppy-disk-back-fill"/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8783" y="8737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222" name="Group 221"/>
            <p:cNvGrpSpPr/>
            <p:nvPr/>
          </p:nvGrpSpPr>
          <p:grpSpPr>
            <a:xfrm>
              <a:off x="6873" y="7864"/>
              <a:ext cx="1579" cy="530"/>
              <a:chOff x="9387" y="7348"/>
              <a:chExt cx="1579" cy="530"/>
            </a:xfrm>
          </p:grpSpPr>
          <p:sp>
            <p:nvSpPr>
              <p:cNvPr id="303" name="Rounded Rectangle 302"/>
              <p:cNvSpPr/>
              <p:nvPr/>
            </p:nvSpPr>
            <p:spPr>
              <a:xfrm>
                <a:off x="9387" y="7348"/>
                <a:ext cx="1579" cy="531"/>
              </a:xfrm>
              <a:prstGeom prst="roundRect">
                <a:avLst>
                  <a:gd name="adj" fmla="val 16485"/>
                </a:avLst>
              </a:prstGeom>
              <a:solidFill>
                <a:srgbClr val="E5EAF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213" name="Picture 212" descr="x"/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9546" y="7470"/>
                <a:ext cx="288" cy="288"/>
              </a:xfrm>
              <a:prstGeom prst="rect">
                <a:avLst/>
              </a:prstGeom>
            </p:spPr>
          </p:pic>
          <p:sp>
            <p:nvSpPr>
              <p:cNvPr id="305" name="Text Box 304"/>
              <p:cNvSpPr txBox="1"/>
              <p:nvPr/>
            </p:nvSpPr>
            <p:spPr>
              <a:xfrm>
                <a:off x="9794" y="7420"/>
                <a:ext cx="1172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Cancelar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Rounded Rectangle 47"/>
          <p:cNvSpPr/>
          <p:nvPr/>
        </p:nvSpPr>
        <p:spPr>
          <a:xfrm>
            <a:off x="2814955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0" name="Group 59"/>
          <p:cNvGrpSpPr/>
          <p:nvPr/>
        </p:nvGrpSpPr>
        <p:grpSpPr>
          <a:xfrm>
            <a:off x="2947670" y="1763395"/>
            <a:ext cx="1240155" cy="490220"/>
            <a:chOff x="4641" y="2752"/>
            <a:chExt cx="1953" cy="772"/>
          </a:xfrm>
        </p:grpSpPr>
        <p:sp>
          <p:nvSpPr>
            <p:cNvPr id="56" name="Text Box 5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5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57" name="Text Box 56"/>
            <p:cNvSpPr txBox="1"/>
            <p:nvPr/>
          </p:nvSpPr>
          <p:spPr>
            <a:xfrm>
              <a:off x="4641" y="3138"/>
              <a:ext cx="195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Total de equipos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2971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Inventario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306197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equipos de infraestructura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488440" cy="337820"/>
            <a:chOff x="16151" y="1596"/>
            <a:chExt cx="234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077" cy="386"/>
              <a:chOff x="16279" y="1669"/>
              <a:chExt cx="2077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1838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Equipo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9" name="Rounded Rectangle 48"/>
          <p:cNvSpPr/>
          <p:nvPr/>
        </p:nvSpPr>
        <p:spPr>
          <a:xfrm>
            <a:off x="443865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6062345" y="1625600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768604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4753610" y="1763395"/>
            <a:ext cx="875030" cy="490220"/>
            <a:chOff x="4832" y="2752"/>
            <a:chExt cx="1378" cy="772"/>
          </a:xfrm>
        </p:grpSpPr>
        <p:sp>
          <p:nvSpPr>
            <p:cNvPr id="64" name="Text Box 63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2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0" name="Text Box 69"/>
            <p:cNvSpPr txBox="1"/>
            <p:nvPr/>
          </p:nvSpPr>
          <p:spPr>
            <a:xfrm>
              <a:off x="4832" y="3138"/>
              <a:ext cx="137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Operativos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244590" y="1755140"/>
            <a:ext cx="1140460" cy="490220"/>
            <a:chOff x="4629" y="2752"/>
            <a:chExt cx="1796" cy="772"/>
          </a:xfrm>
        </p:grpSpPr>
        <p:sp>
          <p:nvSpPr>
            <p:cNvPr id="73" name="Text Box 72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4" name="Text Box 73"/>
            <p:cNvSpPr txBox="1"/>
            <p:nvPr/>
          </p:nvSpPr>
          <p:spPr>
            <a:xfrm>
              <a:off x="4629" y="3138"/>
              <a:ext cx="17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Mantenimiento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923848" y="1763395"/>
            <a:ext cx="1029335" cy="490220"/>
            <a:chOff x="4724" y="2752"/>
            <a:chExt cx="1621" cy="772"/>
          </a:xfrm>
        </p:grpSpPr>
        <p:sp>
          <p:nvSpPr>
            <p:cNvPr id="76" name="Text Box 7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7" name="Text Box 76"/>
            <p:cNvSpPr txBox="1"/>
            <p:nvPr/>
          </p:nvSpPr>
          <p:spPr>
            <a:xfrm>
              <a:off x="4724" y="3138"/>
              <a:ext cx="1621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Dado de baja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2814955" y="25736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637780" y="2573655"/>
            <a:ext cx="633095" cy="292100"/>
            <a:chOff x="13478" y="4031"/>
            <a:chExt cx="997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3479" y="4031"/>
              <a:ext cx="996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3478" y="4067"/>
              <a:ext cx="715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Tipo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341360" y="2573655"/>
            <a:ext cx="811530" cy="292100"/>
            <a:chOff x="13197" y="4031"/>
            <a:chExt cx="1278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3197" y="4031"/>
              <a:ext cx="1278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3225" y="4067"/>
              <a:ext cx="96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223375" y="2573655"/>
            <a:ext cx="1425575" cy="292100"/>
            <a:chOff x="12233" y="4030"/>
            <a:chExt cx="2245" cy="460"/>
          </a:xfrm>
        </p:grpSpPr>
        <p:sp>
          <p:nvSpPr>
            <p:cNvPr id="95" name="Rounded Rectangle 94"/>
            <p:cNvSpPr/>
            <p:nvPr/>
          </p:nvSpPr>
          <p:spPr>
            <a:xfrm>
              <a:off x="12233" y="4030"/>
              <a:ext cx="22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6" name="Picture 95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7" name="Text Box 96"/>
            <p:cNvSpPr txBox="1"/>
            <p:nvPr/>
          </p:nvSpPr>
          <p:spPr>
            <a:xfrm>
              <a:off x="12233" y="4067"/>
              <a:ext cx="1960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Ubicación Actual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805" y="25723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30880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30664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40538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45415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50292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55168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/>
          <p:cNvGrpSpPr/>
          <p:nvPr/>
        </p:nvGrpSpPr>
        <p:grpSpPr>
          <a:xfrm>
            <a:off x="2947670" y="3173730"/>
            <a:ext cx="7165975" cy="275590"/>
            <a:chOff x="4642" y="4998"/>
            <a:chExt cx="11285" cy="434"/>
          </a:xfrm>
        </p:grpSpPr>
        <p:sp>
          <p:nvSpPr>
            <p:cNvPr id="132" name="Text Box 131"/>
            <p:cNvSpPr txBox="1"/>
            <p:nvPr/>
          </p:nvSpPr>
          <p:spPr>
            <a:xfrm>
              <a:off x="4642" y="4998"/>
              <a:ext cx="2004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ID de equipo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3" name="Text Box 132"/>
            <p:cNvSpPr txBox="1"/>
            <p:nvPr/>
          </p:nvSpPr>
          <p:spPr>
            <a:xfrm>
              <a:off x="10149" y="4998"/>
              <a:ext cx="87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Tipo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4" name="Text Box 133"/>
            <p:cNvSpPr txBox="1"/>
            <p:nvPr/>
          </p:nvSpPr>
          <p:spPr>
            <a:xfrm>
              <a:off x="7095" y="4998"/>
              <a:ext cx="1357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Nombre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5" name="Text Box 134"/>
            <p:cNvSpPr txBox="1"/>
            <p:nvPr/>
          </p:nvSpPr>
          <p:spPr>
            <a:xfrm>
              <a:off x="12069" y="4998"/>
              <a:ext cx="1209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Estado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6" name="Text Box 135"/>
            <p:cNvSpPr txBox="1"/>
            <p:nvPr/>
          </p:nvSpPr>
          <p:spPr>
            <a:xfrm>
              <a:off x="14327" y="4998"/>
              <a:ext cx="160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Ubicación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10788650" y="3681095"/>
            <a:ext cx="994410" cy="274320"/>
            <a:chOff x="16958" y="5770"/>
            <a:chExt cx="1566" cy="432"/>
          </a:xfrm>
        </p:grpSpPr>
        <p:grpSp>
          <p:nvGrpSpPr>
            <p:cNvPr id="139" name="Group 13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27" name="Rounded Rectangle 126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8" name="Picture 127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1" name="Group 140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6" name="Group 14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2" name="Picture 141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8" name="Group 157"/>
          <p:cNvGrpSpPr/>
          <p:nvPr/>
        </p:nvGrpSpPr>
        <p:grpSpPr>
          <a:xfrm>
            <a:off x="10788650" y="4168775"/>
            <a:ext cx="994410" cy="274320"/>
            <a:chOff x="16958" y="5770"/>
            <a:chExt cx="1566" cy="432"/>
          </a:xfrm>
        </p:grpSpPr>
        <p:grpSp>
          <p:nvGrpSpPr>
            <p:cNvPr id="159" name="Group 15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60" name="Rounded Rectangle 159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1" name="Picture 160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2" name="Group 161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63" name="Rounded Rectangle 16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4" name="Picture 163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5" name="Group 164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66" name="Rounded Rectangle 165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7" name="Picture 166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69" name="Group 168"/>
          <p:cNvGrpSpPr/>
          <p:nvPr/>
        </p:nvGrpSpPr>
        <p:grpSpPr>
          <a:xfrm>
            <a:off x="10788650" y="4665980"/>
            <a:ext cx="994410" cy="274320"/>
            <a:chOff x="16958" y="5770"/>
            <a:chExt cx="1566" cy="432"/>
          </a:xfrm>
        </p:grpSpPr>
        <p:grpSp>
          <p:nvGrpSpPr>
            <p:cNvPr id="170" name="Group 169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71" name="Rounded Rectangle 170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2" name="Picture 171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3" name="Group 172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74" name="Rounded Rectangle 173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5" name="Picture 174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6" name="Group 17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77" name="Rounded Rectangle 176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8" name="Picture 177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/>
          <p:cNvGrpSpPr/>
          <p:nvPr/>
        </p:nvGrpSpPr>
        <p:grpSpPr>
          <a:xfrm>
            <a:off x="10788650" y="5142865"/>
            <a:ext cx="994410" cy="274320"/>
            <a:chOff x="16958" y="5770"/>
            <a:chExt cx="1566" cy="432"/>
          </a:xfrm>
        </p:grpSpPr>
        <p:grpSp>
          <p:nvGrpSpPr>
            <p:cNvPr id="181" name="Group 180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82" name="Rounded Rectangle 181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3" name="Picture 182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4" name="Group 183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85" name="Rounded Rectangle 18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6" name="Picture 185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7" name="Group 186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88" name="Rounded Rectangle 187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9" name="Picture 188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91" name="Group 190"/>
          <p:cNvGrpSpPr/>
          <p:nvPr/>
        </p:nvGrpSpPr>
        <p:grpSpPr>
          <a:xfrm>
            <a:off x="10788650" y="5622290"/>
            <a:ext cx="994410" cy="274320"/>
            <a:chOff x="16958" y="5770"/>
            <a:chExt cx="1566" cy="432"/>
          </a:xfrm>
        </p:grpSpPr>
        <p:grpSp>
          <p:nvGrpSpPr>
            <p:cNvPr id="192" name="Group 191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93" name="Rounded Rectangle 192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4" name="Picture 193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5" name="Group 194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96" name="Rounded Rectangle 195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7" name="Picture 196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8" name="Group 197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99" name="Rounded Rectangle 198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200" name="Picture 199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4505325" y="3618865"/>
            <a:ext cx="160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Router de Agregación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ASR 9000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369570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DEV001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5" name="Text Box 204"/>
          <p:cNvSpPr txBox="1"/>
          <p:nvPr/>
        </p:nvSpPr>
        <p:spPr>
          <a:xfrm>
            <a:off x="6444615" y="361886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Conectividad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Red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3695700"/>
            <a:ext cx="1341120" cy="245110"/>
            <a:chOff x="12069" y="6588"/>
            <a:chExt cx="2112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2113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2113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En Mantenimiento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grpSp>
        <p:nvGrpSpPr>
          <p:cNvPr id="297" name="Group 296"/>
          <p:cNvGrpSpPr/>
          <p:nvPr/>
        </p:nvGrpSpPr>
        <p:grpSpPr>
          <a:xfrm>
            <a:off x="7663815" y="4183380"/>
            <a:ext cx="808990" cy="245110"/>
            <a:chOff x="12069" y="5820"/>
            <a:chExt cx="1274" cy="386"/>
          </a:xfrm>
        </p:grpSpPr>
        <p:sp>
          <p:nvSpPr>
            <p:cNvPr id="206" name="Rounded Rectangle 20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Text Box 206"/>
            <p:cNvSpPr txBox="1"/>
            <p:nvPr/>
          </p:nvSpPr>
          <p:spPr>
            <a:xfrm>
              <a:off x="12069" y="5820"/>
              <a:ext cx="127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Operativo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  <p:sp>
        <p:nvSpPr>
          <p:cNvPr id="214" name="Text Box 213"/>
          <p:cNvSpPr txBox="1"/>
          <p:nvPr/>
        </p:nvSpPr>
        <p:spPr>
          <a:xfrm>
            <a:off x="9097645" y="361886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Mantenimiento 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>
                <a:solidFill>
                  <a:srgbClr val="354155"/>
                </a:solidFill>
              </a:rPr>
              <a:t>Correctivo y Urgencias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5" name="Text Box 214"/>
          <p:cNvSpPr txBox="1"/>
          <p:nvPr/>
        </p:nvSpPr>
        <p:spPr>
          <a:xfrm>
            <a:off x="4505325" y="4106545"/>
            <a:ext cx="18573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Servidor de Virtualización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HP DL380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418338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DEV002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7" name="Text Box 216"/>
          <p:cNvSpPr txBox="1"/>
          <p:nvPr/>
        </p:nvSpPr>
        <p:spPr>
          <a:xfrm>
            <a:off x="6444615" y="4106545"/>
            <a:ext cx="1122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Cómputo e Informática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20" name="Text Box 219"/>
          <p:cNvSpPr txBox="1"/>
          <p:nvPr/>
        </p:nvSpPr>
        <p:spPr>
          <a:xfrm>
            <a:off x="9097645" y="410654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Recepción y Diagnóstico Técnico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2947670" y="4603750"/>
            <a:ext cx="7886700" cy="398780"/>
            <a:chOff x="4642" y="5699"/>
            <a:chExt cx="12420" cy="628"/>
          </a:xfrm>
        </p:grpSpPr>
        <p:sp>
          <p:nvSpPr>
            <p:cNvPr id="236" name="Rounded Rectangle 23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237" name="Group 236"/>
            <p:cNvGrpSpPr/>
            <p:nvPr/>
          </p:nvGrpSpPr>
          <p:grpSpPr>
            <a:xfrm>
              <a:off x="4642" y="5699"/>
              <a:ext cx="12421" cy="628"/>
              <a:chOff x="4642" y="5699"/>
              <a:chExt cx="12421" cy="628"/>
            </a:xfrm>
          </p:grpSpPr>
          <p:sp>
            <p:nvSpPr>
              <p:cNvPr id="238" name="Text Box 237"/>
              <p:cNvSpPr txBox="1"/>
              <p:nvPr/>
            </p:nvSpPr>
            <p:spPr>
              <a:xfrm>
                <a:off x="7095" y="5699"/>
                <a:ext cx="274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Firewall de Próxima Generación PA-5200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39" name="Text Box 238"/>
              <p:cNvSpPr txBox="1"/>
              <p:nvPr/>
            </p:nvSpPr>
            <p:spPr>
              <a:xfrm>
                <a:off x="4642" y="5820"/>
                <a:ext cx="108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DEV003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0" name="Text Box 239"/>
              <p:cNvSpPr txBox="1"/>
              <p:nvPr/>
            </p:nvSpPr>
            <p:spPr>
              <a:xfrm>
                <a:off x="10149" y="5699"/>
                <a:ext cx="161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Conectividad </a:t>
                </a:r>
                <a:endParaRPr lang="en-US" sz="1000">
                  <a:solidFill>
                    <a:srgbClr val="354155"/>
                  </a:solidFill>
                </a:endParaRPr>
              </a:p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y Red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1" name="Text Box 240"/>
              <p:cNvSpPr txBox="1"/>
              <p:nvPr/>
            </p:nvSpPr>
            <p:spPr>
              <a:xfrm>
                <a:off x="12069" y="5820"/>
                <a:ext cx="127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A8054"/>
                    </a:solidFill>
                  </a:rPr>
                  <a:t>Operativo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  <p:sp>
            <p:nvSpPr>
              <p:cNvPr id="242" name="Text Box 241"/>
              <p:cNvSpPr txBox="1"/>
              <p:nvPr/>
            </p:nvSpPr>
            <p:spPr>
              <a:xfrm>
                <a:off x="14327" y="5699"/>
                <a:ext cx="2736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Análisis Forense y Respuesta a Incidentes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sp>
        <p:nvSpPr>
          <p:cNvPr id="265" name="Rounded Rectangle 264"/>
          <p:cNvSpPr/>
          <p:nvPr/>
        </p:nvSpPr>
        <p:spPr>
          <a:xfrm>
            <a:off x="7663815" y="5161280"/>
            <a:ext cx="695960" cy="23685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5157470"/>
            <a:ext cx="67818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9A1E1E"/>
                </a:solidFill>
              </a:rPr>
              <a:t>De Baja</a:t>
            </a:r>
            <a:endParaRPr lang="en-US" sz="1000">
              <a:solidFill>
                <a:srgbClr val="9A1E1E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4505325" y="50806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Sistema UPS Eaton 20kVA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515747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DEV004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9" name="Text Box 268"/>
          <p:cNvSpPr txBox="1"/>
          <p:nvPr/>
        </p:nvSpPr>
        <p:spPr>
          <a:xfrm>
            <a:off x="6444615" y="508063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y Soporte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1" name="Text Box 270"/>
          <p:cNvSpPr txBox="1"/>
          <p:nvPr/>
        </p:nvSpPr>
        <p:spPr>
          <a:xfrm>
            <a:off x="9097645" y="508063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Análisis Forense y 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4" name="Rounded Rectangle 273"/>
          <p:cNvSpPr/>
          <p:nvPr/>
        </p:nvSpPr>
        <p:spPr>
          <a:xfrm>
            <a:off x="7663815" y="5640705"/>
            <a:ext cx="1342390" cy="23685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9" name="Text Box 278"/>
          <p:cNvSpPr txBox="1"/>
          <p:nvPr/>
        </p:nvSpPr>
        <p:spPr>
          <a:xfrm>
            <a:off x="7663815" y="5636895"/>
            <a:ext cx="13608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3555B8"/>
                </a:solidFill>
              </a:rPr>
              <a:t>Siendo Trasladado</a:t>
            </a:r>
            <a:endParaRPr lang="en-US" sz="1000">
              <a:solidFill>
                <a:srgbClr val="3555B8"/>
              </a:solidFill>
            </a:endParaRPr>
          </a:p>
        </p:txBody>
      </p:sp>
      <p:sp>
        <p:nvSpPr>
          <p:cNvPr id="276" name="Text Box 275"/>
          <p:cNvSpPr txBox="1"/>
          <p:nvPr/>
        </p:nvSpPr>
        <p:spPr>
          <a:xfrm>
            <a:off x="4505325" y="55600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Analizador de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Espectro Viavi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5636895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DEV005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8" name="Text Box 277"/>
          <p:cNvSpPr txBox="1"/>
          <p:nvPr/>
        </p:nvSpPr>
        <p:spPr>
          <a:xfrm>
            <a:off x="6444615" y="5560060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Diagnóstico y Medición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80" name="Text Box 279"/>
          <p:cNvSpPr txBox="1"/>
          <p:nvPr/>
        </p:nvSpPr>
        <p:spPr>
          <a:xfrm>
            <a:off x="9097645" y="5560060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Plataforma como Servicio</a:t>
            </a:r>
            <a:endParaRPr lang="en-US" sz="1000">
              <a:solidFill>
                <a:srgbClr val="3541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Rounded Rectangle 47"/>
          <p:cNvSpPr/>
          <p:nvPr/>
        </p:nvSpPr>
        <p:spPr>
          <a:xfrm>
            <a:off x="2814955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0" name="Group 59"/>
          <p:cNvGrpSpPr/>
          <p:nvPr/>
        </p:nvGrpSpPr>
        <p:grpSpPr>
          <a:xfrm>
            <a:off x="2947670" y="1763395"/>
            <a:ext cx="1240155" cy="490220"/>
            <a:chOff x="4641" y="2752"/>
            <a:chExt cx="1953" cy="772"/>
          </a:xfrm>
        </p:grpSpPr>
        <p:sp>
          <p:nvSpPr>
            <p:cNvPr id="56" name="Text Box 5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5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57" name="Text Box 56"/>
            <p:cNvSpPr txBox="1"/>
            <p:nvPr/>
          </p:nvSpPr>
          <p:spPr>
            <a:xfrm>
              <a:off x="4641" y="3138"/>
              <a:ext cx="195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Total de equipos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rgbClr val="E7F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2971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Inventario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306197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equipos de infraestructura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488440" cy="337820"/>
            <a:chOff x="16151" y="1596"/>
            <a:chExt cx="234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077" cy="386"/>
              <a:chOff x="16279" y="1669"/>
              <a:chExt cx="2077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1838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Equipo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9" name="Rounded Rectangle 48"/>
          <p:cNvSpPr/>
          <p:nvPr/>
        </p:nvSpPr>
        <p:spPr>
          <a:xfrm>
            <a:off x="443865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6062345" y="1625600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7686040" y="1633855"/>
            <a:ext cx="1504950" cy="749300"/>
          </a:xfrm>
          <a:prstGeom prst="roundRect">
            <a:avLst>
              <a:gd name="adj" fmla="val 11610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4753610" y="1763395"/>
            <a:ext cx="875030" cy="490220"/>
            <a:chOff x="4832" y="2752"/>
            <a:chExt cx="1378" cy="772"/>
          </a:xfrm>
        </p:grpSpPr>
        <p:sp>
          <p:nvSpPr>
            <p:cNvPr id="64" name="Text Box 63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2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0" name="Text Box 69"/>
            <p:cNvSpPr txBox="1"/>
            <p:nvPr/>
          </p:nvSpPr>
          <p:spPr>
            <a:xfrm>
              <a:off x="4832" y="3138"/>
              <a:ext cx="137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Operativos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244590" y="1755140"/>
            <a:ext cx="1140460" cy="490220"/>
            <a:chOff x="4629" y="2752"/>
            <a:chExt cx="1796" cy="772"/>
          </a:xfrm>
        </p:grpSpPr>
        <p:sp>
          <p:nvSpPr>
            <p:cNvPr id="73" name="Text Box 72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4" name="Text Box 73"/>
            <p:cNvSpPr txBox="1"/>
            <p:nvPr/>
          </p:nvSpPr>
          <p:spPr>
            <a:xfrm>
              <a:off x="4629" y="3138"/>
              <a:ext cx="17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Mantenimiento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923848" y="1763395"/>
            <a:ext cx="1029335" cy="490220"/>
            <a:chOff x="4724" y="2752"/>
            <a:chExt cx="1621" cy="772"/>
          </a:xfrm>
        </p:grpSpPr>
        <p:sp>
          <p:nvSpPr>
            <p:cNvPr id="76" name="Text Box 75"/>
            <p:cNvSpPr txBox="1"/>
            <p:nvPr/>
          </p:nvSpPr>
          <p:spPr>
            <a:xfrm>
              <a:off x="5279" y="2752"/>
              <a:ext cx="48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400" b="1">
                  <a:solidFill>
                    <a:srgbClr val="095DD0"/>
                  </a:solidFill>
                </a:rPr>
                <a:t>1</a:t>
              </a:r>
              <a:endParaRPr lang="en-US" sz="1400" b="1">
                <a:solidFill>
                  <a:srgbClr val="095DD0"/>
                </a:solidFill>
              </a:endParaRPr>
            </a:p>
          </p:txBody>
        </p:sp>
        <p:sp>
          <p:nvSpPr>
            <p:cNvPr id="77" name="Text Box 76"/>
            <p:cNvSpPr txBox="1"/>
            <p:nvPr/>
          </p:nvSpPr>
          <p:spPr>
            <a:xfrm>
              <a:off x="4724" y="3138"/>
              <a:ext cx="1621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sz="1000">
                  <a:solidFill>
                    <a:srgbClr val="354155"/>
                  </a:solidFill>
                </a:rPr>
                <a:t>Dado de baja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2814955" y="25736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637780" y="2573655"/>
            <a:ext cx="633095" cy="292100"/>
            <a:chOff x="13478" y="4031"/>
            <a:chExt cx="997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3479" y="4031"/>
              <a:ext cx="996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3478" y="4067"/>
              <a:ext cx="715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Tipo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341360" y="2573655"/>
            <a:ext cx="811530" cy="292100"/>
            <a:chOff x="13197" y="4031"/>
            <a:chExt cx="1278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3197" y="4031"/>
              <a:ext cx="1278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3225" y="4067"/>
              <a:ext cx="96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223375" y="2573655"/>
            <a:ext cx="1425575" cy="292100"/>
            <a:chOff x="12233" y="4030"/>
            <a:chExt cx="2245" cy="460"/>
          </a:xfrm>
        </p:grpSpPr>
        <p:sp>
          <p:nvSpPr>
            <p:cNvPr id="95" name="Rounded Rectangle 94"/>
            <p:cNvSpPr/>
            <p:nvPr/>
          </p:nvSpPr>
          <p:spPr>
            <a:xfrm>
              <a:off x="12233" y="4030"/>
              <a:ext cx="22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6" name="Picture 95" descr="caret-dow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7" name="Text Box 96"/>
            <p:cNvSpPr txBox="1"/>
            <p:nvPr/>
          </p:nvSpPr>
          <p:spPr>
            <a:xfrm>
              <a:off x="12233" y="4067"/>
              <a:ext cx="1960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Ubicación Actual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805" y="25723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30880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30664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40538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45415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50292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55168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/>
          <p:cNvGrpSpPr/>
          <p:nvPr/>
        </p:nvGrpSpPr>
        <p:grpSpPr>
          <a:xfrm>
            <a:off x="2947670" y="3173730"/>
            <a:ext cx="7165975" cy="275590"/>
            <a:chOff x="4642" y="4998"/>
            <a:chExt cx="11285" cy="434"/>
          </a:xfrm>
        </p:grpSpPr>
        <p:sp>
          <p:nvSpPr>
            <p:cNvPr id="132" name="Text Box 131"/>
            <p:cNvSpPr txBox="1"/>
            <p:nvPr/>
          </p:nvSpPr>
          <p:spPr>
            <a:xfrm>
              <a:off x="4642" y="4998"/>
              <a:ext cx="2004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ID de equipo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3" name="Text Box 132"/>
            <p:cNvSpPr txBox="1"/>
            <p:nvPr/>
          </p:nvSpPr>
          <p:spPr>
            <a:xfrm>
              <a:off x="10149" y="4998"/>
              <a:ext cx="87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Tipo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4" name="Text Box 133"/>
            <p:cNvSpPr txBox="1"/>
            <p:nvPr/>
          </p:nvSpPr>
          <p:spPr>
            <a:xfrm>
              <a:off x="7095" y="4998"/>
              <a:ext cx="1357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Nombre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5" name="Text Box 134"/>
            <p:cNvSpPr txBox="1"/>
            <p:nvPr/>
          </p:nvSpPr>
          <p:spPr>
            <a:xfrm>
              <a:off x="12069" y="4998"/>
              <a:ext cx="1209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Estado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136" name="Text Box 135"/>
            <p:cNvSpPr txBox="1"/>
            <p:nvPr/>
          </p:nvSpPr>
          <p:spPr>
            <a:xfrm>
              <a:off x="14327" y="4998"/>
              <a:ext cx="1601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Ubicación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10788650" y="3681095"/>
            <a:ext cx="994410" cy="274320"/>
            <a:chOff x="16958" y="5770"/>
            <a:chExt cx="1566" cy="432"/>
          </a:xfrm>
        </p:grpSpPr>
        <p:grpSp>
          <p:nvGrpSpPr>
            <p:cNvPr id="139" name="Group 13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27" name="Rounded Rectangle 126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8" name="Picture 127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1" name="Group 140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6" name="Group 14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2" name="Picture 141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8" name="Group 157"/>
          <p:cNvGrpSpPr/>
          <p:nvPr/>
        </p:nvGrpSpPr>
        <p:grpSpPr>
          <a:xfrm>
            <a:off x="10788650" y="4168775"/>
            <a:ext cx="994410" cy="274320"/>
            <a:chOff x="16958" y="5770"/>
            <a:chExt cx="1566" cy="432"/>
          </a:xfrm>
        </p:grpSpPr>
        <p:grpSp>
          <p:nvGrpSpPr>
            <p:cNvPr id="159" name="Group 158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60" name="Rounded Rectangle 159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1" name="Picture 160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2" name="Group 161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63" name="Rounded Rectangle 16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4" name="Picture 163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65" name="Group 164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66" name="Rounded Rectangle 165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7" name="Picture 166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69" name="Group 168"/>
          <p:cNvGrpSpPr/>
          <p:nvPr/>
        </p:nvGrpSpPr>
        <p:grpSpPr>
          <a:xfrm>
            <a:off x="10788650" y="4665980"/>
            <a:ext cx="994410" cy="274320"/>
            <a:chOff x="16958" y="5770"/>
            <a:chExt cx="1566" cy="432"/>
          </a:xfrm>
        </p:grpSpPr>
        <p:grpSp>
          <p:nvGrpSpPr>
            <p:cNvPr id="170" name="Group 169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71" name="Rounded Rectangle 170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2" name="Picture 171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3" name="Group 172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74" name="Rounded Rectangle 173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5" name="Picture 174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76" name="Group 175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77" name="Rounded Rectangle 176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78" name="Picture 177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/>
          <p:cNvGrpSpPr/>
          <p:nvPr/>
        </p:nvGrpSpPr>
        <p:grpSpPr>
          <a:xfrm>
            <a:off x="10788650" y="5142865"/>
            <a:ext cx="994410" cy="274320"/>
            <a:chOff x="16958" y="5770"/>
            <a:chExt cx="1566" cy="432"/>
          </a:xfrm>
        </p:grpSpPr>
        <p:grpSp>
          <p:nvGrpSpPr>
            <p:cNvPr id="181" name="Group 180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82" name="Rounded Rectangle 181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3" name="Picture 182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4" name="Group 183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85" name="Rounded Rectangle 18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6" name="Picture 185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87" name="Group 186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88" name="Rounded Rectangle 187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89" name="Picture 188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91" name="Group 190"/>
          <p:cNvGrpSpPr/>
          <p:nvPr/>
        </p:nvGrpSpPr>
        <p:grpSpPr>
          <a:xfrm>
            <a:off x="10788650" y="5622290"/>
            <a:ext cx="994410" cy="274320"/>
            <a:chOff x="16958" y="5770"/>
            <a:chExt cx="1566" cy="432"/>
          </a:xfrm>
        </p:grpSpPr>
        <p:grpSp>
          <p:nvGrpSpPr>
            <p:cNvPr id="192" name="Group 191"/>
            <p:cNvGrpSpPr/>
            <p:nvPr/>
          </p:nvGrpSpPr>
          <p:grpSpPr>
            <a:xfrm>
              <a:off x="17525" y="5770"/>
              <a:ext cx="432" cy="432"/>
              <a:chOff x="16747" y="6076"/>
              <a:chExt cx="432" cy="432"/>
            </a:xfrm>
          </p:grpSpPr>
          <p:sp>
            <p:nvSpPr>
              <p:cNvPr id="193" name="Rounded Rectangle 192"/>
              <p:cNvSpPr/>
              <p:nvPr/>
            </p:nvSpPr>
            <p:spPr>
              <a:xfrm>
                <a:off x="16747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EE4343"/>
              </a:solidFill>
              <a:ln>
                <a:solidFill>
                  <a:srgbClr val="EE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4" name="Picture 193" descr="trash-fill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19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5" name="Group 194"/>
            <p:cNvGrpSpPr/>
            <p:nvPr/>
          </p:nvGrpSpPr>
          <p:grpSpPr>
            <a:xfrm>
              <a:off x="16958" y="5770"/>
              <a:ext cx="432" cy="432"/>
              <a:chOff x="16172" y="6076"/>
              <a:chExt cx="432" cy="432"/>
            </a:xfrm>
          </p:grpSpPr>
          <p:sp>
            <p:nvSpPr>
              <p:cNvPr id="196" name="Rounded Rectangle 195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97" name="Picture 196" descr="note-pencil-fill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98" name="Group 197"/>
            <p:cNvGrpSpPr/>
            <p:nvPr/>
          </p:nvGrpSpPr>
          <p:grpSpPr>
            <a:xfrm>
              <a:off x="18092" y="5770"/>
              <a:ext cx="432" cy="432"/>
              <a:chOff x="17035" y="6846"/>
              <a:chExt cx="432" cy="432"/>
            </a:xfrm>
          </p:grpSpPr>
          <p:sp>
            <p:nvSpPr>
              <p:cNvPr id="199" name="Rounded Rectangle 198"/>
              <p:cNvSpPr/>
              <p:nvPr/>
            </p:nvSpPr>
            <p:spPr>
              <a:xfrm>
                <a:off x="17035" y="684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200" name="Picture 199" descr="file-text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07" y="6918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4505325" y="3618865"/>
            <a:ext cx="1609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Router de Agregación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ASR 9000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369570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DEV001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5" name="Text Box 204"/>
          <p:cNvSpPr txBox="1"/>
          <p:nvPr/>
        </p:nvSpPr>
        <p:spPr>
          <a:xfrm>
            <a:off x="6444615" y="361886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Conectividad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Red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3695700"/>
            <a:ext cx="1341120" cy="245110"/>
            <a:chOff x="12069" y="6588"/>
            <a:chExt cx="2112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2113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2113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En Mantenimiento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grpSp>
        <p:nvGrpSpPr>
          <p:cNvPr id="297" name="Group 296"/>
          <p:cNvGrpSpPr/>
          <p:nvPr/>
        </p:nvGrpSpPr>
        <p:grpSpPr>
          <a:xfrm>
            <a:off x="7663815" y="4183380"/>
            <a:ext cx="808990" cy="245110"/>
            <a:chOff x="12069" y="5820"/>
            <a:chExt cx="1274" cy="386"/>
          </a:xfrm>
        </p:grpSpPr>
        <p:sp>
          <p:nvSpPr>
            <p:cNvPr id="206" name="Rounded Rectangle 20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Text Box 206"/>
            <p:cNvSpPr txBox="1"/>
            <p:nvPr/>
          </p:nvSpPr>
          <p:spPr>
            <a:xfrm>
              <a:off x="12069" y="5820"/>
              <a:ext cx="127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A8054"/>
                  </a:solidFill>
                </a:rPr>
                <a:t>Operativo</a:t>
              </a:r>
              <a:endParaRPr lang="en-US" sz="1000">
                <a:solidFill>
                  <a:srgbClr val="3A8054"/>
                </a:solidFill>
              </a:endParaRPr>
            </a:p>
          </p:txBody>
        </p:sp>
      </p:grpSp>
      <p:sp>
        <p:nvSpPr>
          <p:cNvPr id="214" name="Text Box 213"/>
          <p:cNvSpPr txBox="1"/>
          <p:nvPr/>
        </p:nvSpPr>
        <p:spPr>
          <a:xfrm>
            <a:off x="9097645" y="361886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Mantenimiento </a:t>
            </a:r>
            <a:endParaRPr lang="en-US" sz="1000">
              <a:solidFill>
                <a:srgbClr val="354155"/>
              </a:solidFill>
            </a:endParaRPr>
          </a:p>
          <a:p>
            <a:r>
              <a:rPr lang="en-US" sz="1000">
                <a:solidFill>
                  <a:srgbClr val="354155"/>
                </a:solidFill>
              </a:rPr>
              <a:t>Correctivo y Urgencias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5" name="Text Box 214"/>
          <p:cNvSpPr txBox="1"/>
          <p:nvPr/>
        </p:nvSpPr>
        <p:spPr>
          <a:xfrm>
            <a:off x="4505325" y="4106545"/>
            <a:ext cx="18573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Servidor de Virtualización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HP DL380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418338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DEV002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7" name="Text Box 216"/>
          <p:cNvSpPr txBox="1"/>
          <p:nvPr/>
        </p:nvSpPr>
        <p:spPr>
          <a:xfrm>
            <a:off x="6444615" y="4106545"/>
            <a:ext cx="1122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Cómputo e Informática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20" name="Text Box 219"/>
          <p:cNvSpPr txBox="1"/>
          <p:nvPr/>
        </p:nvSpPr>
        <p:spPr>
          <a:xfrm>
            <a:off x="9097645" y="410654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Recepción y Diagnóstico Técnico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2947670" y="4603750"/>
            <a:ext cx="7886700" cy="398780"/>
            <a:chOff x="4642" y="5699"/>
            <a:chExt cx="12420" cy="628"/>
          </a:xfrm>
        </p:grpSpPr>
        <p:sp>
          <p:nvSpPr>
            <p:cNvPr id="236" name="Rounded Rectangle 235"/>
            <p:cNvSpPr/>
            <p:nvPr/>
          </p:nvSpPr>
          <p:spPr>
            <a:xfrm>
              <a:off x="12069" y="5826"/>
              <a:ext cx="1274" cy="373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solidFill>
                <a:srgbClr val="DCF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237" name="Group 236"/>
            <p:cNvGrpSpPr/>
            <p:nvPr/>
          </p:nvGrpSpPr>
          <p:grpSpPr>
            <a:xfrm>
              <a:off x="4642" y="5699"/>
              <a:ext cx="12421" cy="628"/>
              <a:chOff x="4642" y="5699"/>
              <a:chExt cx="12421" cy="628"/>
            </a:xfrm>
          </p:grpSpPr>
          <p:sp>
            <p:nvSpPr>
              <p:cNvPr id="238" name="Text Box 237"/>
              <p:cNvSpPr txBox="1"/>
              <p:nvPr/>
            </p:nvSpPr>
            <p:spPr>
              <a:xfrm>
                <a:off x="7095" y="5699"/>
                <a:ext cx="274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Firewall de Próxima Generación PA-5200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39" name="Text Box 238"/>
              <p:cNvSpPr txBox="1"/>
              <p:nvPr/>
            </p:nvSpPr>
            <p:spPr>
              <a:xfrm>
                <a:off x="4642" y="5820"/>
                <a:ext cx="108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DEV003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0" name="Text Box 239"/>
              <p:cNvSpPr txBox="1"/>
              <p:nvPr/>
            </p:nvSpPr>
            <p:spPr>
              <a:xfrm>
                <a:off x="10149" y="5699"/>
                <a:ext cx="161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Conectividad </a:t>
                </a:r>
                <a:endParaRPr lang="en-US" sz="1000">
                  <a:solidFill>
                    <a:srgbClr val="354155"/>
                  </a:solidFill>
                </a:endParaRPr>
              </a:p>
              <a:p>
                <a:pPr algn="l"/>
                <a:r>
                  <a:rPr lang="en-US" sz="1000">
                    <a:solidFill>
                      <a:srgbClr val="354155"/>
                    </a:solidFill>
                  </a:rPr>
                  <a:t>y Red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241" name="Text Box 240"/>
              <p:cNvSpPr txBox="1"/>
              <p:nvPr/>
            </p:nvSpPr>
            <p:spPr>
              <a:xfrm>
                <a:off x="12069" y="5820"/>
                <a:ext cx="127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A8054"/>
                    </a:solidFill>
                  </a:rPr>
                  <a:t>Operativo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  <p:sp>
            <p:nvSpPr>
              <p:cNvPr id="242" name="Text Box 241"/>
              <p:cNvSpPr txBox="1"/>
              <p:nvPr/>
            </p:nvSpPr>
            <p:spPr>
              <a:xfrm>
                <a:off x="14327" y="5699"/>
                <a:ext cx="2736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Análisis Forense y Respuesta a Incidentes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sp>
        <p:nvSpPr>
          <p:cNvPr id="265" name="Rounded Rectangle 264"/>
          <p:cNvSpPr/>
          <p:nvPr/>
        </p:nvSpPr>
        <p:spPr>
          <a:xfrm>
            <a:off x="7663815" y="5161280"/>
            <a:ext cx="695960" cy="23685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5157470"/>
            <a:ext cx="67818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9A1E1E"/>
                </a:solidFill>
              </a:rPr>
              <a:t>De Baja</a:t>
            </a:r>
            <a:endParaRPr lang="en-US" sz="1000">
              <a:solidFill>
                <a:srgbClr val="9A1E1E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4505325" y="50806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Sistema UPS Eaton 20kVA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5157470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DEV004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9" name="Text Box 268"/>
          <p:cNvSpPr txBox="1"/>
          <p:nvPr/>
        </p:nvSpPr>
        <p:spPr>
          <a:xfrm>
            <a:off x="6444615" y="5080635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y Soporte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1" name="Text Box 270"/>
          <p:cNvSpPr txBox="1"/>
          <p:nvPr/>
        </p:nvSpPr>
        <p:spPr>
          <a:xfrm>
            <a:off x="9097645" y="5080635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Análisis Forense y 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4" name="Rounded Rectangle 273"/>
          <p:cNvSpPr/>
          <p:nvPr/>
        </p:nvSpPr>
        <p:spPr>
          <a:xfrm>
            <a:off x="7663815" y="5640705"/>
            <a:ext cx="1342390" cy="23685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9" name="Text Box 278"/>
          <p:cNvSpPr txBox="1"/>
          <p:nvPr/>
        </p:nvSpPr>
        <p:spPr>
          <a:xfrm>
            <a:off x="7663815" y="5636895"/>
            <a:ext cx="13608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3555B8"/>
                </a:solidFill>
              </a:rPr>
              <a:t>Siendo Trasladado</a:t>
            </a:r>
            <a:endParaRPr lang="en-US" sz="1000">
              <a:solidFill>
                <a:srgbClr val="3555B8"/>
              </a:solidFill>
            </a:endParaRPr>
          </a:p>
        </p:txBody>
      </p:sp>
      <p:sp>
        <p:nvSpPr>
          <p:cNvPr id="276" name="Text Box 275"/>
          <p:cNvSpPr txBox="1"/>
          <p:nvPr/>
        </p:nvSpPr>
        <p:spPr>
          <a:xfrm>
            <a:off x="4505325" y="55600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Analizador de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Espectro Viavi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5636895"/>
            <a:ext cx="6896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DEV005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8" name="Text Box 277"/>
          <p:cNvSpPr txBox="1"/>
          <p:nvPr/>
        </p:nvSpPr>
        <p:spPr>
          <a:xfrm>
            <a:off x="6444615" y="5560060"/>
            <a:ext cx="1025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Diagnóstico y Medición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80" name="Text Box 279"/>
          <p:cNvSpPr txBox="1"/>
          <p:nvPr/>
        </p:nvSpPr>
        <p:spPr>
          <a:xfrm>
            <a:off x="9097645" y="5560060"/>
            <a:ext cx="1737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>
                <a:solidFill>
                  <a:srgbClr val="354155"/>
                </a:solidFill>
              </a:rPr>
              <a:t>Plataforma como Servicio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0" y="635"/>
            <a:ext cx="12255500" cy="6896100"/>
          </a:xfrm>
          <a:prstGeom prst="rect">
            <a:avLst/>
          </a:prstGeom>
          <a:solidFill>
            <a:srgbClr val="354155">
              <a:alpha val="8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3" name="Rectangles 82"/>
          <p:cNvSpPr/>
          <p:nvPr/>
        </p:nvSpPr>
        <p:spPr>
          <a:xfrm>
            <a:off x="-2078355" y="81724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-1706245" y="1807845"/>
            <a:ext cx="1073785" cy="473075"/>
          </a:xfrm>
          <a:prstGeom prst="rect">
            <a:avLst/>
          </a:prstGeom>
          <a:solidFill>
            <a:srgbClr val="35415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Rectangles 21"/>
          <p:cNvSpPr/>
          <p:nvPr/>
        </p:nvSpPr>
        <p:spPr>
          <a:xfrm>
            <a:off x="-1707515" y="2464435"/>
            <a:ext cx="1073785" cy="443865"/>
          </a:xfrm>
          <a:prstGeom prst="rect">
            <a:avLst/>
          </a:prstGeom>
          <a:solidFill>
            <a:srgbClr val="E5EAF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-1706245" y="3091815"/>
            <a:ext cx="1073785" cy="418465"/>
          </a:xfrm>
          <a:prstGeom prst="rect">
            <a:avLst/>
          </a:prstGeom>
          <a:solidFill>
            <a:srgbClr val="F8FA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s 85"/>
          <p:cNvSpPr/>
          <p:nvPr/>
        </p:nvSpPr>
        <p:spPr>
          <a:xfrm>
            <a:off x="-1707515" y="1174115"/>
            <a:ext cx="1073785" cy="450215"/>
          </a:xfrm>
          <a:prstGeom prst="rect">
            <a:avLst/>
          </a:prstGeom>
          <a:solidFill>
            <a:srgbClr val="095DD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Rectangles 70"/>
          <p:cNvSpPr/>
          <p:nvPr/>
        </p:nvSpPr>
        <p:spPr>
          <a:xfrm>
            <a:off x="-1706245" y="3693795"/>
            <a:ext cx="1073785" cy="418465"/>
          </a:xfrm>
          <a:prstGeom prst="rect">
            <a:avLst/>
          </a:prstGeom>
          <a:solidFill>
            <a:srgbClr val="E7F2F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Rectangles 80"/>
          <p:cNvSpPr/>
          <p:nvPr/>
        </p:nvSpPr>
        <p:spPr>
          <a:xfrm>
            <a:off x="-1706245" y="4283710"/>
            <a:ext cx="1073785" cy="443865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Text Box 79"/>
          <p:cNvSpPr txBox="1"/>
          <p:nvPr/>
        </p:nvSpPr>
        <p:spPr>
          <a:xfrm>
            <a:off x="-1577975" y="448945"/>
            <a:ext cx="788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Basic</a:t>
            </a:r>
            <a:endParaRPr lang="en-US"/>
          </a:p>
        </p:txBody>
      </p:sp>
      <p:sp>
        <p:nvSpPr>
          <p:cNvPr id="99" name="Text Box 98"/>
          <p:cNvSpPr txBox="1"/>
          <p:nvPr/>
        </p:nvSpPr>
        <p:spPr>
          <a:xfrm>
            <a:off x="-1668780" y="1859915"/>
            <a:ext cx="4635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1" name="Text Box 100"/>
          <p:cNvSpPr txBox="1"/>
          <p:nvPr/>
        </p:nvSpPr>
        <p:spPr>
          <a:xfrm>
            <a:off x="-1701800" y="2501900"/>
            <a:ext cx="6102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Border</a:t>
            </a:r>
            <a:endParaRPr lang="en-US" sz="1000"/>
          </a:p>
        </p:txBody>
      </p:sp>
      <p:sp>
        <p:nvSpPr>
          <p:cNvPr id="104" name="Text Box 103"/>
          <p:cNvSpPr txBox="1"/>
          <p:nvPr/>
        </p:nvSpPr>
        <p:spPr>
          <a:xfrm>
            <a:off x="-1692275" y="310134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05" name="Text Box 104"/>
          <p:cNvSpPr txBox="1"/>
          <p:nvPr/>
        </p:nvSpPr>
        <p:spPr>
          <a:xfrm>
            <a:off x="-1698625" y="369316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11" name="Text Box 110"/>
          <p:cNvSpPr txBox="1"/>
          <p:nvPr/>
        </p:nvSpPr>
        <p:spPr>
          <a:xfrm>
            <a:off x="-1687830" y="4321175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PlaceHolder</a:t>
            </a:r>
            <a:endParaRPr lang="en-US" sz="1000"/>
          </a:p>
        </p:txBody>
      </p:sp>
      <p:grpSp>
        <p:nvGrpSpPr>
          <p:cNvPr id="210" name="Group 209"/>
          <p:cNvGrpSpPr/>
          <p:nvPr/>
        </p:nvGrpSpPr>
        <p:grpSpPr>
          <a:xfrm>
            <a:off x="3747135" y="1376680"/>
            <a:ext cx="4697730" cy="4014470"/>
            <a:chOff x="5901" y="604"/>
            <a:chExt cx="7398" cy="6322"/>
          </a:xfrm>
        </p:grpSpPr>
        <p:sp>
          <p:nvSpPr>
            <p:cNvPr id="112" name="Rounded Rectangle 111"/>
            <p:cNvSpPr/>
            <p:nvPr/>
          </p:nvSpPr>
          <p:spPr>
            <a:xfrm>
              <a:off x="5901" y="604"/>
              <a:ext cx="7399" cy="6322"/>
            </a:xfrm>
            <a:prstGeom prst="roundRect">
              <a:avLst>
                <a:gd name="adj" fmla="val 423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5" name="Text Box 114"/>
            <p:cNvSpPr txBox="1"/>
            <p:nvPr/>
          </p:nvSpPr>
          <p:spPr>
            <a:xfrm>
              <a:off x="6166" y="814"/>
              <a:ext cx="401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1400" b="1">
                  <a:solidFill>
                    <a:srgbClr val="354155"/>
                  </a:solidFill>
                </a:rPr>
                <a:t>Editar Equipo</a:t>
              </a:r>
              <a:endParaRPr lang="en-US" sz="1400" b="1">
                <a:solidFill>
                  <a:srgbClr val="354155"/>
                </a:solidFill>
              </a:endParaRPr>
            </a:p>
          </p:txBody>
        </p:sp>
        <p:cxnSp>
          <p:nvCxnSpPr>
            <p:cNvPr id="116" name="Straight Connector 115"/>
            <p:cNvCxnSpPr/>
            <p:nvPr/>
          </p:nvCxnSpPr>
          <p:spPr>
            <a:xfrm>
              <a:off x="6335" y="1458"/>
              <a:ext cx="6624" cy="17"/>
            </a:xfrm>
            <a:prstGeom prst="line">
              <a:avLst/>
            </a:prstGeom>
            <a:ln>
              <a:solidFill>
                <a:srgbClr val="E5EA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1" name="Group 200"/>
            <p:cNvGrpSpPr/>
            <p:nvPr/>
          </p:nvGrpSpPr>
          <p:grpSpPr>
            <a:xfrm>
              <a:off x="9666" y="2848"/>
              <a:ext cx="3296" cy="918"/>
              <a:chOff x="9666" y="2776"/>
              <a:chExt cx="3296" cy="918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9794" y="3174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22" name="Text Box 121"/>
              <p:cNvSpPr txBox="1"/>
              <p:nvPr/>
            </p:nvSpPr>
            <p:spPr>
              <a:xfrm>
                <a:off x="9666" y="2776"/>
                <a:ext cx="2513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Fecha de Adquisición*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123" name="Text Box 122"/>
              <p:cNvSpPr txBox="1"/>
              <p:nvPr/>
            </p:nvSpPr>
            <p:spPr>
              <a:xfrm>
                <a:off x="9918" y="3236"/>
                <a:ext cx="1546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 b="1">
                    <a:solidFill>
                      <a:srgbClr val="354155"/>
                    </a:solidFill>
                  </a:rPr>
                  <a:t>10/05/2022</a:t>
                </a:r>
                <a:endParaRPr lang="en-US" sz="1000" b="1">
                  <a:solidFill>
                    <a:srgbClr val="354155"/>
                  </a:solidFill>
                </a:endParaRPr>
              </a:p>
            </p:txBody>
          </p:sp>
          <p:pic>
            <p:nvPicPr>
              <p:cNvPr id="124" name="Picture 123" descr="calendar-blank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2503" y="3262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155" name="Group 154"/>
            <p:cNvGrpSpPr/>
            <p:nvPr/>
          </p:nvGrpSpPr>
          <p:grpSpPr>
            <a:xfrm>
              <a:off x="11510" y="5935"/>
              <a:ext cx="1452" cy="532"/>
              <a:chOff x="11510" y="7327"/>
              <a:chExt cx="1452" cy="532"/>
            </a:xfrm>
          </p:grpSpPr>
          <p:sp>
            <p:nvSpPr>
              <p:cNvPr id="299" name="Rounded Rectangle 298"/>
              <p:cNvSpPr/>
              <p:nvPr/>
            </p:nvSpPr>
            <p:spPr>
              <a:xfrm>
                <a:off x="11510" y="7327"/>
                <a:ext cx="1453" cy="532"/>
              </a:xfrm>
              <a:prstGeom prst="roundRect">
                <a:avLst>
                  <a:gd name="adj" fmla="val 19005"/>
                </a:avLst>
              </a:prstGeom>
              <a:solidFill>
                <a:srgbClr val="095DD0"/>
              </a:solidFill>
              <a:ln>
                <a:solidFill>
                  <a:srgbClr val="235DE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01" name="Text Box 300"/>
              <p:cNvSpPr txBox="1"/>
              <p:nvPr/>
            </p:nvSpPr>
            <p:spPr>
              <a:xfrm>
                <a:off x="11856" y="7400"/>
                <a:ext cx="1107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chemeClr val="bg1"/>
                    </a:solidFill>
                  </a:rPr>
                  <a:t>Guardar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  <p:pic>
            <p:nvPicPr>
              <p:cNvPr id="221" name="Picture 220" descr="floppy-disk-back-fill"/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1663" y="7449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54" name="Group 153"/>
            <p:cNvGrpSpPr/>
            <p:nvPr/>
          </p:nvGrpSpPr>
          <p:grpSpPr>
            <a:xfrm>
              <a:off x="9732" y="5936"/>
              <a:ext cx="1579" cy="530"/>
              <a:chOff x="6873" y="7329"/>
              <a:chExt cx="1579" cy="530"/>
            </a:xfrm>
          </p:grpSpPr>
          <p:sp>
            <p:nvSpPr>
              <p:cNvPr id="303" name="Rounded Rectangle 302"/>
              <p:cNvSpPr/>
              <p:nvPr/>
            </p:nvSpPr>
            <p:spPr>
              <a:xfrm>
                <a:off x="6873" y="7329"/>
                <a:ext cx="1579" cy="531"/>
              </a:xfrm>
              <a:prstGeom prst="roundRect">
                <a:avLst>
                  <a:gd name="adj" fmla="val 16485"/>
                </a:avLst>
              </a:prstGeom>
              <a:solidFill>
                <a:srgbClr val="E5EAF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213" name="Picture 212" descr="x"/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7032" y="7451"/>
                <a:ext cx="288" cy="288"/>
              </a:xfrm>
              <a:prstGeom prst="rect">
                <a:avLst/>
              </a:prstGeom>
            </p:spPr>
          </p:pic>
          <p:sp>
            <p:nvSpPr>
              <p:cNvPr id="305" name="Text Box 304"/>
              <p:cNvSpPr txBox="1"/>
              <p:nvPr/>
            </p:nvSpPr>
            <p:spPr>
              <a:xfrm>
                <a:off x="7280" y="7401"/>
                <a:ext cx="1172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Cancelar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179" name="Group 178"/>
            <p:cNvGrpSpPr/>
            <p:nvPr/>
          </p:nvGrpSpPr>
          <p:grpSpPr>
            <a:xfrm>
              <a:off x="6206" y="1705"/>
              <a:ext cx="6756" cy="906"/>
              <a:chOff x="6206" y="1705"/>
              <a:chExt cx="6756" cy="906"/>
            </a:xfrm>
          </p:grpSpPr>
          <p:sp>
            <p:nvSpPr>
              <p:cNvPr id="117" name="Rounded Rectangle 116"/>
              <p:cNvSpPr/>
              <p:nvPr/>
            </p:nvSpPr>
            <p:spPr>
              <a:xfrm>
                <a:off x="6338" y="2091"/>
                <a:ext cx="6625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19" name="Text Box 118"/>
              <p:cNvSpPr txBox="1"/>
              <p:nvPr/>
            </p:nvSpPr>
            <p:spPr>
              <a:xfrm>
                <a:off x="6206" y="1705"/>
                <a:ext cx="1187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Nombre*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7" name="Text Box 6"/>
              <p:cNvSpPr txBox="1"/>
              <p:nvPr/>
            </p:nvSpPr>
            <p:spPr>
              <a:xfrm>
                <a:off x="6338" y="2158"/>
                <a:ext cx="652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1000" b="1">
                    <a:solidFill>
                      <a:srgbClr val="354155"/>
                    </a:solidFill>
                  </a:rPr>
                  <a:t>Router de Agregación ASR 9000</a:t>
                </a:r>
                <a:endParaRPr lang="en-US" sz="1000" b="1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190" name="Group 189"/>
            <p:cNvGrpSpPr/>
            <p:nvPr/>
          </p:nvGrpSpPr>
          <p:grpSpPr>
            <a:xfrm>
              <a:off x="6206" y="2848"/>
              <a:ext cx="3296" cy="918"/>
              <a:chOff x="6206" y="2776"/>
              <a:chExt cx="3296" cy="918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6334" y="3174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20" name="Text Box 119"/>
              <p:cNvSpPr txBox="1"/>
              <p:nvPr/>
            </p:nvSpPr>
            <p:spPr>
              <a:xfrm>
                <a:off x="6206" y="2776"/>
                <a:ext cx="815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Tipo*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pic>
            <p:nvPicPr>
              <p:cNvPr id="211" name="Picture 210" descr="caret-down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72" y="3290"/>
                <a:ext cx="288" cy="288"/>
              </a:xfrm>
              <a:prstGeom prst="rect">
                <a:avLst/>
              </a:prstGeom>
            </p:spPr>
          </p:pic>
          <p:sp>
            <p:nvSpPr>
              <p:cNvPr id="138" name="Text Box 137"/>
              <p:cNvSpPr txBox="1"/>
              <p:nvPr/>
            </p:nvSpPr>
            <p:spPr>
              <a:xfrm>
                <a:off x="6334" y="3241"/>
                <a:ext cx="2420" cy="3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en-US" sz="1000">
                    <a:solidFill>
                      <a:srgbClr val="354155"/>
                    </a:solidFill>
                    <a:sym typeface="+mn-ea"/>
                  </a:rPr>
                  <a:t>Conectividad y Red</a:t>
                </a:r>
                <a:endParaRPr lang="en-US" sz="1000"/>
              </a:p>
            </p:txBody>
          </p:sp>
        </p:grpSp>
        <p:grpSp>
          <p:nvGrpSpPr>
            <p:cNvPr id="202" name="Group 201"/>
            <p:cNvGrpSpPr/>
            <p:nvPr/>
          </p:nvGrpSpPr>
          <p:grpSpPr>
            <a:xfrm>
              <a:off x="6251" y="4003"/>
              <a:ext cx="3296" cy="918"/>
              <a:chOff x="6251" y="4002"/>
              <a:chExt cx="3296" cy="918"/>
            </a:xfrm>
          </p:grpSpPr>
          <p:sp>
            <p:nvSpPr>
              <p:cNvPr id="145" name="Rounded Rectangle 144"/>
              <p:cNvSpPr/>
              <p:nvPr/>
            </p:nvSpPr>
            <p:spPr>
              <a:xfrm>
                <a:off x="6379" y="4400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47" name="Text Box 146"/>
              <p:cNvSpPr txBox="1"/>
              <p:nvPr/>
            </p:nvSpPr>
            <p:spPr>
              <a:xfrm>
                <a:off x="6251" y="4002"/>
                <a:ext cx="968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Estado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pic>
            <p:nvPicPr>
              <p:cNvPr id="151" name="Picture 150" descr="caret-down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17" y="4516"/>
                <a:ext cx="288" cy="288"/>
              </a:xfrm>
              <a:prstGeom prst="rect">
                <a:avLst/>
              </a:prstGeom>
            </p:spPr>
          </p:pic>
          <p:sp>
            <p:nvSpPr>
              <p:cNvPr id="152" name="Text Box 151"/>
              <p:cNvSpPr txBox="1"/>
              <p:nvPr/>
            </p:nvSpPr>
            <p:spPr>
              <a:xfrm>
                <a:off x="6404" y="4467"/>
                <a:ext cx="2420" cy="3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en-US" sz="1000"/>
                  <a:t>En Mantenimiento</a:t>
                </a:r>
                <a:endParaRPr lang="en-US" sz="1000"/>
              </a:p>
            </p:txBody>
          </p:sp>
        </p:grpSp>
        <p:grpSp>
          <p:nvGrpSpPr>
            <p:cNvPr id="208" name="Group 207"/>
            <p:cNvGrpSpPr/>
            <p:nvPr/>
          </p:nvGrpSpPr>
          <p:grpSpPr>
            <a:xfrm>
              <a:off x="9711" y="4003"/>
              <a:ext cx="3296" cy="918"/>
              <a:chOff x="9711" y="4002"/>
              <a:chExt cx="3296" cy="918"/>
            </a:xfrm>
          </p:grpSpPr>
          <p:sp>
            <p:nvSpPr>
              <p:cNvPr id="148" name="Rounded Rectangle 147"/>
              <p:cNvSpPr/>
              <p:nvPr/>
            </p:nvSpPr>
            <p:spPr>
              <a:xfrm>
                <a:off x="9839" y="4400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49" name="Text Box 148"/>
              <p:cNvSpPr txBox="1"/>
              <p:nvPr/>
            </p:nvSpPr>
            <p:spPr>
              <a:xfrm>
                <a:off x="9711" y="4002"/>
                <a:ext cx="1265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Ubicación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  <p:sp>
            <p:nvSpPr>
              <p:cNvPr id="153" name="Text Box 152"/>
              <p:cNvSpPr txBox="1"/>
              <p:nvPr/>
            </p:nvSpPr>
            <p:spPr>
              <a:xfrm>
                <a:off x="9835" y="4467"/>
                <a:ext cx="3124" cy="3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000" b="1">
                    <a:solidFill>
                      <a:srgbClr val="354155"/>
                    </a:solidFill>
                    <a:sym typeface="+mn-ea"/>
                  </a:rPr>
                  <a:t>Mantenimiento Corre ... </a:t>
                </a:r>
                <a:endParaRPr lang="en-US" sz="1000" b="1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4156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Cuentas de Usuario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26847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usuarios del sistema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590040" cy="337820"/>
            <a:chOff x="16151" y="1596"/>
            <a:chExt cx="250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370" cy="386"/>
              <a:chOff x="16279" y="1669"/>
              <a:chExt cx="2370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2131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Usuario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>
            <a:off x="2814955" y="17100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856855" y="1710055"/>
            <a:ext cx="1044575" cy="292100"/>
            <a:chOff x="12830" y="4031"/>
            <a:chExt cx="1645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2830" y="4031"/>
              <a:ext cx="16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2860" y="4067"/>
              <a:ext cx="133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Rol: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9190990" y="1710055"/>
            <a:ext cx="1277620" cy="292100"/>
            <a:chOff x="12463" y="4031"/>
            <a:chExt cx="2012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2463" y="4031"/>
              <a:ext cx="2012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2497" y="4067"/>
              <a:ext cx="16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170" y="17087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22244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22028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31902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36779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41656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46532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 Box 131"/>
          <p:cNvSpPr txBox="1"/>
          <p:nvPr/>
        </p:nvSpPr>
        <p:spPr>
          <a:xfrm>
            <a:off x="2947670" y="2310130"/>
            <a:ext cx="86169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Nombre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3" name="Text Box 132"/>
          <p:cNvSpPr txBox="1"/>
          <p:nvPr/>
        </p:nvSpPr>
        <p:spPr>
          <a:xfrm>
            <a:off x="7635240" y="2310130"/>
            <a:ext cx="45720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Rol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4" name="Text Box 133"/>
          <p:cNvSpPr txBox="1"/>
          <p:nvPr/>
        </p:nvSpPr>
        <p:spPr>
          <a:xfrm>
            <a:off x="5010150" y="2310130"/>
            <a:ext cx="142430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Departamento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5" name="Text Box 134"/>
          <p:cNvSpPr txBox="1"/>
          <p:nvPr/>
        </p:nvSpPr>
        <p:spPr>
          <a:xfrm>
            <a:off x="9293225" y="2310130"/>
            <a:ext cx="167386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Estado de cuenta</a:t>
            </a:r>
            <a:endParaRPr lang="en-US" sz="1200" b="1">
              <a:solidFill>
                <a:srgbClr val="354155"/>
              </a:solidFill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11150600" y="2817495"/>
            <a:ext cx="632460" cy="274320"/>
            <a:chOff x="17560" y="4437"/>
            <a:chExt cx="996" cy="432"/>
          </a:xfrm>
        </p:grpSpPr>
        <p:grpSp>
          <p:nvGrpSpPr>
            <p:cNvPr id="141" name="Group 140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11" name="Group 110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05" name="Picture 104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5010150" y="2755265"/>
            <a:ext cx="16643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Análisis Forense y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2832100"/>
            <a:ext cx="10731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Elena Morales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2832100"/>
            <a:ext cx="695325" cy="245110"/>
            <a:chOff x="12069" y="6588"/>
            <a:chExt cx="1095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1068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109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Director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sp>
        <p:nvSpPr>
          <p:cNvPr id="215" name="Text Box 214"/>
          <p:cNvSpPr txBox="1"/>
          <p:nvPr/>
        </p:nvSpPr>
        <p:spPr>
          <a:xfrm>
            <a:off x="5010150" y="3242945"/>
            <a:ext cx="12998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Almacenamiento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Backup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3319780"/>
            <a:ext cx="125984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Carmen Sánchez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6" name="Rounded Rectangle 235"/>
          <p:cNvSpPr/>
          <p:nvPr/>
        </p:nvSpPr>
        <p:spPr>
          <a:xfrm>
            <a:off x="7663815" y="3820795"/>
            <a:ext cx="992505" cy="236855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solidFill>
              <a:srgbClr val="FDF8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8" name="Text Box 237"/>
          <p:cNvSpPr txBox="1"/>
          <p:nvPr/>
        </p:nvSpPr>
        <p:spPr>
          <a:xfrm>
            <a:off x="5010150" y="374015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como Servicio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9" name="Text Box 238"/>
          <p:cNvSpPr txBox="1"/>
          <p:nvPr/>
        </p:nvSpPr>
        <p:spPr>
          <a:xfrm>
            <a:off x="2947670" y="3816985"/>
            <a:ext cx="101155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Isabel Castro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41" name="Text Box 240"/>
          <p:cNvSpPr txBox="1"/>
          <p:nvPr/>
        </p:nvSpPr>
        <p:spPr>
          <a:xfrm>
            <a:off x="7663815" y="3816985"/>
            <a:ext cx="9925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24A0D"/>
                </a:solidFill>
              </a:rPr>
              <a:t>Responsable</a:t>
            </a:r>
            <a:endParaRPr lang="en-US" sz="1000">
              <a:solidFill>
                <a:srgbClr val="824A0D"/>
              </a:solidFill>
            </a:endParaRPr>
          </a:p>
        </p:txBody>
      </p:sp>
      <p:sp>
        <p:nvSpPr>
          <p:cNvPr id="265" name="Rounded Rectangle 264"/>
          <p:cNvSpPr/>
          <p:nvPr/>
        </p:nvSpPr>
        <p:spPr>
          <a:xfrm>
            <a:off x="7663815" y="4297680"/>
            <a:ext cx="694690" cy="23685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solidFill>
              <a:srgbClr val="F2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4293870"/>
            <a:ext cx="67183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E54BD"/>
                </a:solidFill>
              </a:rPr>
              <a:t>Técnico</a:t>
            </a:r>
            <a:endParaRPr lang="en-US" sz="1000">
              <a:solidFill>
                <a:srgbClr val="8E54BD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5010150" y="42170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Soporte a Nodos Remotos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4293870"/>
            <a:ext cx="8540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Jorge Silva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55" name="Group 254"/>
          <p:cNvGrpSpPr/>
          <p:nvPr/>
        </p:nvGrpSpPr>
        <p:grpSpPr>
          <a:xfrm>
            <a:off x="7663815" y="4773295"/>
            <a:ext cx="746125" cy="245110"/>
            <a:chOff x="12069" y="7517"/>
            <a:chExt cx="1175" cy="386"/>
          </a:xfrm>
        </p:grpSpPr>
        <p:sp>
          <p:nvSpPr>
            <p:cNvPr id="274" name="Rounded Rectangle 273"/>
            <p:cNvSpPr/>
            <p:nvPr/>
          </p:nvSpPr>
          <p:spPr>
            <a:xfrm>
              <a:off x="12069" y="7523"/>
              <a:ext cx="1175" cy="373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solidFill>
                <a:srgbClr val="FE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9" name="Text Box 278"/>
            <p:cNvSpPr txBox="1"/>
            <p:nvPr/>
          </p:nvSpPr>
          <p:spPr>
            <a:xfrm>
              <a:off x="12069" y="7517"/>
              <a:ext cx="117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A33030"/>
                  </a:solidFill>
                </a:rPr>
                <a:t>Logística</a:t>
              </a:r>
              <a:endParaRPr lang="en-US" sz="1000">
                <a:solidFill>
                  <a:srgbClr val="A33030"/>
                </a:solidFill>
              </a:endParaRPr>
            </a:p>
          </p:txBody>
        </p:sp>
      </p:grpSp>
      <p:sp>
        <p:nvSpPr>
          <p:cNvPr id="276" name="Text Box 275"/>
          <p:cNvSpPr txBox="1"/>
          <p:nvPr/>
        </p:nvSpPr>
        <p:spPr>
          <a:xfrm>
            <a:off x="5010150" y="46964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Reparación y Refabricación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4773295"/>
            <a:ext cx="8928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Carlos Ruiz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83" name="Rectangles 82"/>
          <p:cNvSpPr/>
          <p:nvPr/>
        </p:nvSpPr>
        <p:spPr>
          <a:xfrm>
            <a:off x="-2204720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-1832610" y="1679575"/>
            <a:ext cx="1073785" cy="473075"/>
          </a:xfrm>
          <a:prstGeom prst="rect">
            <a:avLst/>
          </a:prstGeom>
          <a:solidFill>
            <a:srgbClr val="35415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-1833880" y="2336165"/>
            <a:ext cx="1073785" cy="443865"/>
          </a:xfrm>
          <a:prstGeom prst="rect">
            <a:avLst/>
          </a:prstGeom>
          <a:solidFill>
            <a:srgbClr val="E5EAF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-1832610" y="2963545"/>
            <a:ext cx="1073785" cy="418465"/>
          </a:xfrm>
          <a:prstGeom prst="rect">
            <a:avLst/>
          </a:prstGeom>
          <a:solidFill>
            <a:srgbClr val="F8FA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s 85"/>
          <p:cNvSpPr/>
          <p:nvPr/>
        </p:nvSpPr>
        <p:spPr>
          <a:xfrm>
            <a:off x="-1833880" y="1045845"/>
            <a:ext cx="1073785" cy="450215"/>
          </a:xfrm>
          <a:prstGeom prst="rect">
            <a:avLst/>
          </a:prstGeom>
          <a:solidFill>
            <a:srgbClr val="095DD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Rectangles 70"/>
          <p:cNvSpPr/>
          <p:nvPr/>
        </p:nvSpPr>
        <p:spPr>
          <a:xfrm>
            <a:off x="-1832610" y="3565525"/>
            <a:ext cx="1073785" cy="418465"/>
          </a:xfrm>
          <a:prstGeom prst="rect">
            <a:avLst/>
          </a:prstGeom>
          <a:solidFill>
            <a:srgbClr val="E7F2F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Rectangles 80"/>
          <p:cNvSpPr/>
          <p:nvPr/>
        </p:nvSpPr>
        <p:spPr>
          <a:xfrm>
            <a:off x="-1832610" y="4155440"/>
            <a:ext cx="1073785" cy="443865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-1704340" y="320675"/>
            <a:ext cx="788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Basic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-1795145" y="1731645"/>
            <a:ext cx="4635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-1828165" y="2373630"/>
            <a:ext cx="6102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Border</a:t>
            </a:r>
            <a:endParaRPr lang="en-US" sz="1000"/>
          </a:p>
        </p:txBody>
      </p:sp>
      <p:sp>
        <p:nvSpPr>
          <p:cNvPr id="99" name="Text Box 98"/>
          <p:cNvSpPr txBox="1"/>
          <p:nvPr/>
        </p:nvSpPr>
        <p:spPr>
          <a:xfrm>
            <a:off x="-1818640" y="297307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01" name="Text Box 100"/>
          <p:cNvSpPr txBox="1"/>
          <p:nvPr/>
        </p:nvSpPr>
        <p:spPr>
          <a:xfrm>
            <a:off x="-1824990" y="3564890"/>
            <a:ext cx="8559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Button left</a:t>
            </a:r>
            <a:endParaRPr lang="en-US" sz="1000"/>
          </a:p>
          <a:p>
            <a:r>
              <a:rPr lang="en-US" sz="1000"/>
              <a:t>Bg</a:t>
            </a:r>
            <a:endParaRPr lang="en-US" sz="1000"/>
          </a:p>
        </p:txBody>
      </p:sp>
      <p:sp>
        <p:nvSpPr>
          <p:cNvPr id="104" name="Text Box 103"/>
          <p:cNvSpPr txBox="1"/>
          <p:nvPr/>
        </p:nvSpPr>
        <p:spPr>
          <a:xfrm>
            <a:off x="-1814195" y="4192905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PlaceHolder</a:t>
            </a:r>
            <a:endParaRPr lang="en-US" sz="1000"/>
          </a:p>
        </p:txBody>
      </p:sp>
      <p:grpSp>
        <p:nvGrpSpPr>
          <p:cNvPr id="116" name="Group 115"/>
          <p:cNvGrpSpPr/>
          <p:nvPr/>
        </p:nvGrpSpPr>
        <p:grpSpPr>
          <a:xfrm>
            <a:off x="11150600" y="3305175"/>
            <a:ext cx="632460" cy="274320"/>
            <a:chOff x="17560" y="4437"/>
            <a:chExt cx="996" cy="432"/>
          </a:xfrm>
        </p:grpSpPr>
        <p:grpSp>
          <p:nvGrpSpPr>
            <p:cNvPr id="117" name="Group 116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19" name="Picture 118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20" name="Group 119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2" name="Picture 121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79" name="Group 178"/>
          <p:cNvGrpSpPr/>
          <p:nvPr/>
        </p:nvGrpSpPr>
        <p:grpSpPr>
          <a:xfrm>
            <a:off x="11150600" y="3802380"/>
            <a:ext cx="632460" cy="274320"/>
            <a:chOff x="17960" y="4837"/>
            <a:chExt cx="996" cy="432"/>
          </a:xfrm>
        </p:grpSpPr>
        <p:grpSp>
          <p:nvGrpSpPr>
            <p:cNvPr id="124" name="Group 123"/>
            <p:cNvGrpSpPr/>
            <p:nvPr/>
          </p:nvGrpSpPr>
          <p:grpSpPr>
            <a:xfrm rot="0">
              <a:off x="17960" y="4837"/>
              <a:ext cx="432" cy="432"/>
              <a:chOff x="16172" y="6076"/>
              <a:chExt cx="432" cy="432"/>
            </a:xfrm>
          </p:grpSpPr>
          <p:sp>
            <p:nvSpPr>
              <p:cNvPr id="125" name="Rounded Rectangle 12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6" name="Picture 125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31" name="Group 130"/>
            <p:cNvGrpSpPr/>
            <p:nvPr/>
          </p:nvGrpSpPr>
          <p:grpSpPr>
            <a:xfrm rot="0">
              <a:off x="18524" y="4837"/>
              <a:ext cx="432" cy="432"/>
              <a:chOff x="18124" y="4437"/>
              <a:chExt cx="432" cy="432"/>
            </a:xfrm>
          </p:grpSpPr>
          <p:sp>
            <p:nvSpPr>
              <p:cNvPr id="137" name="Rounded Rectangle 136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8" name="Picture 13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40" name="Group 139"/>
          <p:cNvGrpSpPr/>
          <p:nvPr/>
        </p:nvGrpSpPr>
        <p:grpSpPr>
          <a:xfrm>
            <a:off x="11150600" y="4279265"/>
            <a:ext cx="632460" cy="274320"/>
            <a:chOff x="17560" y="4437"/>
            <a:chExt cx="996" cy="432"/>
          </a:xfrm>
        </p:grpSpPr>
        <p:grpSp>
          <p:nvGrpSpPr>
            <p:cNvPr id="143" name="Group 142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45" name="Rounded Rectangle 14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7" name="Picture 146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8" name="Group 147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9" name="Rounded Rectangle 148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0" name="Picture 149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1" name="Group 150"/>
          <p:cNvGrpSpPr/>
          <p:nvPr/>
        </p:nvGrpSpPr>
        <p:grpSpPr>
          <a:xfrm>
            <a:off x="11150600" y="4758690"/>
            <a:ext cx="632460" cy="274320"/>
            <a:chOff x="17560" y="4437"/>
            <a:chExt cx="996" cy="432"/>
          </a:xfrm>
        </p:grpSpPr>
        <p:grpSp>
          <p:nvGrpSpPr>
            <p:cNvPr id="152" name="Group 151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53" name="Rounded Rectangle 15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4" name="Picture 153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55" name="Group 154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56" name="Rounded Rectangle 155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8" name="Picture 16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225" name="Group 224"/>
          <p:cNvGrpSpPr/>
          <p:nvPr/>
        </p:nvGrpSpPr>
        <p:grpSpPr>
          <a:xfrm>
            <a:off x="9293225" y="2832100"/>
            <a:ext cx="808990" cy="245110"/>
            <a:chOff x="14635" y="4460"/>
            <a:chExt cx="1274" cy="386"/>
          </a:xfrm>
        </p:grpSpPr>
        <p:grpSp>
          <p:nvGrpSpPr>
            <p:cNvPr id="201" name="Group 200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02" name="Rounded Rectangle 201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08" name="Text Box 207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09" name="Oval 208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81" name="Rectangles 280"/>
          <p:cNvSpPr/>
          <p:nvPr/>
        </p:nvSpPr>
        <p:spPr>
          <a:xfrm>
            <a:off x="-4302125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2" name="Rectangles 281"/>
          <p:cNvSpPr/>
          <p:nvPr/>
        </p:nvSpPr>
        <p:spPr>
          <a:xfrm>
            <a:off x="-3931285" y="1647825"/>
            <a:ext cx="1073785" cy="473075"/>
          </a:xfrm>
          <a:prstGeom prst="rect">
            <a:avLst/>
          </a:prstGeom>
          <a:solidFill>
            <a:srgbClr val="DCFCE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3" name="Rectangles 282"/>
          <p:cNvSpPr/>
          <p:nvPr/>
        </p:nvSpPr>
        <p:spPr>
          <a:xfrm>
            <a:off x="-3932555" y="2304415"/>
            <a:ext cx="1073785" cy="443865"/>
          </a:xfrm>
          <a:prstGeom prst="rect">
            <a:avLst/>
          </a:prstGeom>
          <a:solidFill>
            <a:srgbClr val="2344A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4" name="Rectangles 283"/>
          <p:cNvSpPr/>
          <p:nvPr/>
        </p:nvSpPr>
        <p:spPr>
          <a:xfrm>
            <a:off x="-3931285" y="2931795"/>
            <a:ext cx="1073785" cy="418465"/>
          </a:xfrm>
          <a:prstGeom prst="rect">
            <a:avLst/>
          </a:prstGeom>
          <a:solidFill>
            <a:srgbClr val="DBEA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5" name="Rectangles 284"/>
          <p:cNvSpPr/>
          <p:nvPr/>
        </p:nvSpPr>
        <p:spPr>
          <a:xfrm>
            <a:off x="-3932555" y="1014095"/>
            <a:ext cx="1073785" cy="450215"/>
          </a:xfrm>
          <a:prstGeom prst="rect">
            <a:avLst/>
          </a:prstGeom>
          <a:solidFill>
            <a:srgbClr val="30784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6" name="Rectangles 285"/>
          <p:cNvSpPr/>
          <p:nvPr/>
        </p:nvSpPr>
        <p:spPr>
          <a:xfrm>
            <a:off x="-3931285" y="3533775"/>
            <a:ext cx="1073785" cy="418465"/>
          </a:xfrm>
          <a:prstGeom prst="rect">
            <a:avLst/>
          </a:prstGeom>
          <a:solidFill>
            <a:srgbClr val="A2442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7" name="Rectangles 286"/>
          <p:cNvSpPr/>
          <p:nvPr/>
        </p:nvSpPr>
        <p:spPr>
          <a:xfrm>
            <a:off x="-3931285" y="4123690"/>
            <a:ext cx="1073785" cy="443865"/>
          </a:xfrm>
          <a:prstGeom prst="rect">
            <a:avLst/>
          </a:prstGeom>
          <a:solidFill>
            <a:srgbClr val="FFEDD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8" name="Rectangles 287"/>
          <p:cNvSpPr/>
          <p:nvPr/>
        </p:nvSpPr>
        <p:spPr>
          <a:xfrm>
            <a:off x="-3930650" y="4789805"/>
            <a:ext cx="1073785" cy="418465"/>
          </a:xfrm>
          <a:prstGeom prst="rect">
            <a:avLst/>
          </a:prstGeom>
          <a:solidFill>
            <a:srgbClr val="A3303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9" name="Rectangles 288"/>
          <p:cNvSpPr/>
          <p:nvPr/>
        </p:nvSpPr>
        <p:spPr>
          <a:xfrm>
            <a:off x="-3930650" y="5379720"/>
            <a:ext cx="1073785" cy="443865"/>
          </a:xfrm>
          <a:prstGeom prst="rect">
            <a:avLst/>
          </a:prstGeom>
          <a:solidFill>
            <a:srgbClr val="FEE2E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Text Box 209"/>
          <p:cNvSpPr txBox="1"/>
          <p:nvPr/>
        </p:nvSpPr>
        <p:spPr>
          <a:xfrm>
            <a:off x="-4302125" y="299085"/>
            <a:ext cx="18732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Tags for States</a:t>
            </a:r>
            <a:endParaRPr lang="en-US"/>
          </a:p>
        </p:txBody>
      </p:sp>
      <p:sp>
        <p:nvSpPr>
          <p:cNvPr id="211" name="Text Box 210"/>
          <p:cNvSpPr txBox="1"/>
          <p:nvPr/>
        </p:nvSpPr>
        <p:spPr>
          <a:xfrm>
            <a:off x="-3932555" y="10128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Operational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2" name="Text Box 211"/>
          <p:cNvSpPr txBox="1"/>
          <p:nvPr/>
        </p:nvSpPr>
        <p:spPr>
          <a:xfrm>
            <a:off x="-3930650" y="232727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Being Transfer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3" name="Text Box 212"/>
          <p:cNvSpPr txBox="1"/>
          <p:nvPr/>
        </p:nvSpPr>
        <p:spPr>
          <a:xfrm>
            <a:off x="-3910330" y="353758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Maintenance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1" name="Text Box 220"/>
          <p:cNvSpPr txBox="1"/>
          <p:nvPr/>
        </p:nvSpPr>
        <p:spPr>
          <a:xfrm>
            <a:off x="-3930650" y="47974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Decommissioning Font</a:t>
            </a:r>
            <a:endParaRPr lang="en-US" sz="1000">
              <a:solidFill>
                <a:schemeClr val="bg1"/>
              </a:solidFill>
            </a:endParaRPr>
          </a:p>
        </p:txBody>
      </p:sp>
      <p:grpSp>
        <p:nvGrpSpPr>
          <p:cNvPr id="226" name="Group 225"/>
          <p:cNvGrpSpPr/>
          <p:nvPr/>
        </p:nvGrpSpPr>
        <p:grpSpPr>
          <a:xfrm>
            <a:off x="9293225" y="3319780"/>
            <a:ext cx="808990" cy="245110"/>
            <a:chOff x="14635" y="4460"/>
            <a:chExt cx="1274" cy="386"/>
          </a:xfrm>
        </p:grpSpPr>
        <p:grpSp>
          <p:nvGrpSpPr>
            <p:cNvPr id="227" name="Group 226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28" name="Rounded Rectangle 227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29" name="Text Box 228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30" name="Oval 229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9293225" y="4290060"/>
            <a:ext cx="808990" cy="245110"/>
            <a:chOff x="14635" y="4460"/>
            <a:chExt cx="1274" cy="386"/>
          </a:xfrm>
        </p:grpSpPr>
        <p:grpSp>
          <p:nvGrpSpPr>
            <p:cNvPr id="232" name="Group 231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33" name="Rounded Rectangle 232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34" name="Text Box 233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3" name="Oval 24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9293225" y="4777740"/>
            <a:ext cx="808990" cy="245110"/>
            <a:chOff x="14635" y="4460"/>
            <a:chExt cx="1274" cy="386"/>
          </a:xfrm>
        </p:grpSpPr>
        <p:grpSp>
          <p:nvGrpSpPr>
            <p:cNvPr id="245" name="Group 244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46" name="Rounded Rectangle 245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47" name="Text Box 246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8" name="Oval 247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9293225" y="3816985"/>
            <a:ext cx="897890" cy="245110"/>
            <a:chOff x="14635" y="4460"/>
            <a:chExt cx="1414" cy="386"/>
          </a:xfrm>
        </p:grpSpPr>
        <p:grpSp>
          <p:nvGrpSpPr>
            <p:cNvPr id="250" name="Group 249"/>
            <p:cNvGrpSpPr/>
            <p:nvPr/>
          </p:nvGrpSpPr>
          <p:grpSpPr>
            <a:xfrm>
              <a:off x="14635" y="4460"/>
              <a:ext cx="1414" cy="386"/>
              <a:chOff x="12069" y="5820"/>
              <a:chExt cx="1414" cy="386"/>
            </a:xfrm>
          </p:grpSpPr>
          <p:sp>
            <p:nvSpPr>
              <p:cNvPr id="251" name="Rounded Rectangle 250"/>
              <p:cNvSpPr/>
              <p:nvPr/>
            </p:nvSpPr>
            <p:spPr>
              <a:xfrm>
                <a:off x="12069" y="5826"/>
                <a:ext cx="1414" cy="373"/>
              </a:xfrm>
              <a:prstGeom prst="roundRect">
                <a:avLst>
                  <a:gd name="adj" fmla="val 50000"/>
                </a:avLst>
              </a:prstGeom>
              <a:solidFill>
                <a:srgbClr val="E5E7EB"/>
              </a:solidFill>
              <a:ln>
                <a:solidFill>
                  <a:srgbClr val="E5E7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52" name="Text Box 251"/>
              <p:cNvSpPr txBox="1"/>
              <p:nvPr/>
            </p:nvSpPr>
            <p:spPr>
              <a:xfrm>
                <a:off x="12262" y="5820"/>
                <a:ext cx="1221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p>
                <a:pPr algn="r"/>
                <a:r>
                  <a:rPr lang="en-US" sz="1000">
                    <a:solidFill>
                      <a:srgbClr val="354155"/>
                    </a:solidFill>
                  </a:rPr>
                  <a:t>Inactivo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sp>
          <p:nvSpPr>
            <p:cNvPr id="253" name="Oval 25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686F7D"/>
            </a:solidFill>
            <a:ln>
              <a:solidFill>
                <a:srgbClr val="6B72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7635240" y="3319780"/>
            <a:ext cx="1082675" cy="245110"/>
            <a:chOff x="12069" y="7517"/>
            <a:chExt cx="1705" cy="386"/>
          </a:xfrm>
        </p:grpSpPr>
        <p:sp>
          <p:nvSpPr>
            <p:cNvPr id="257" name="Rounded Rectangle 256"/>
            <p:cNvSpPr/>
            <p:nvPr/>
          </p:nvSpPr>
          <p:spPr>
            <a:xfrm>
              <a:off x="12069" y="7523"/>
              <a:ext cx="1705" cy="373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solidFill>
                <a:srgbClr val="DBEAF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8" name="Text Box 257"/>
            <p:cNvSpPr txBox="1"/>
            <p:nvPr/>
          </p:nvSpPr>
          <p:spPr>
            <a:xfrm>
              <a:off x="12069" y="7517"/>
              <a:ext cx="170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55B8"/>
                  </a:solidFill>
                </a:rPr>
                <a:t>Administrador</a:t>
              </a:r>
              <a:endParaRPr lang="en-US" sz="1000">
                <a:solidFill>
                  <a:srgbClr val="3555B8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4156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Cuentas de Usuario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26847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usuarios del sistema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590040" cy="337820"/>
            <a:chOff x="16151" y="1596"/>
            <a:chExt cx="250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370" cy="386"/>
              <a:chOff x="16279" y="1669"/>
              <a:chExt cx="2370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2131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Usuario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>
            <a:off x="2814955" y="17100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856855" y="1710055"/>
            <a:ext cx="1044575" cy="292100"/>
            <a:chOff x="12830" y="4031"/>
            <a:chExt cx="1645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2830" y="4031"/>
              <a:ext cx="16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2860" y="4067"/>
              <a:ext cx="133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Rol: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9190990" y="1710055"/>
            <a:ext cx="1277620" cy="292100"/>
            <a:chOff x="12463" y="4031"/>
            <a:chExt cx="2012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2463" y="4031"/>
              <a:ext cx="2012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2497" y="4067"/>
              <a:ext cx="16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170" y="17087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22244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22028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31902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36779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41656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46532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 Box 131"/>
          <p:cNvSpPr txBox="1"/>
          <p:nvPr/>
        </p:nvSpPr>
        <p:spPr>
          <a:xfrm>
            <a:off x="2947670" y="2310130"/>
            <a:ext cx="86169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Nombre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3" name="Text Box 132"/>
          <p:cNvSpPr txBox="1"/>
          <p:nvPr/>
        </p:nvSpPr>
        <p:spPr>
          <a:xfrm>
            <a:off x="7635240" y="2310130"/>
            <a:ext cx="45720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Rol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4" name="Text Box 133"/>
          <p:cNvSpPr txBox="1"/>
          <p:nvPr/>
        </p:nvSpPr>
        <p:spPr>
          <a:xfrm>
            <a:off x="5010150" y="2310130"/>
            <a:ext cx="142430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Departamento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5" name="Text Box 134"/>
          <p:cNvSpPr txBox="1"/>
          <p:nvPr/>
        </p:nvSpPr>
        <p:spPr>
          <a:xfrm>
            <a:off x="9293225" y="2310130"/>
            <a:ext cx="167386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Estado de cuenta</a:t>
            </a:r>
            <a:endParaRPr lang="en-US" sz="1200" b="1">
              <a:solidFill>
                <a:srgbClr val="354155"/>
              </a:solidFill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11150600" y="2817495"/>
            <a:ext cx="632460" cy="274320"/>
            <a:chOff x="17560" y="4437"/>
            <a:chExt cx="996" cy="432"/>
          </a:xfrm>
        </p:grpSpPr>
        <p:grpSp>
          <p:nvGrpSpPr>
            <p:cNvPr id="141" name="Group 140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11" name="Group 110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05" name="Picture 104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5010150" y="2755265"/>
            <a:ext cx="16643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Análisis Forense y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2832100"/>
            <a:ext cx="10731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Elena Morales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2832100"/>
            <a:ext cx="695325" cy="245110"/>
            <a:chOff x="12069" y="6588"/>
            <a:chExt cx="1095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1068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109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Director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sp>
        <p:nvSpPr>
          <p:cNvPr id="215" name="Text Box 214"/>
          <p:cNvSpPr txBox="1"/>
          <p:nvPr/>
        </p:nvSpPr>
        <p:spPr>
          <a:xfrm>
            <a:off x="5010150" y="3242945"/>
            <a:ext cx="12998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Almacenamiento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Backup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3319780"/>
            <a:ext cx="125984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Carmen Sánchez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6" name="Rounded Rectangle 235"/>
          <p:cNvSpPr/>
          <p:nvPr/>
        </p:nvSpPr>
        <p:spPr>
          <a:xfrm>
            <a:off x="7663815" y="3820795"/>
            <a:ext cx="992505" cy="236855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solidFill>
              <a:srgbClr val="FDF8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8" name="Text Box 237"/>
          <p:cNvSpPr txBox="1"/>
          <p:nvPr/>
        </p:nvSpPr>
        <p:spPr>
          <a:xfrm>
            <a:off x="5010150" y="374015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como Servicio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9" name="Text Box 238"/>
          <p:cNvSpPr txBox="1"/>
          <p:nvPr/>
        </p:nvSpPr>
        <p:spPr>
          <a:xfrm>
            <a:off x="2947670" y="3816985"/>
            <a:ext cx="101155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Isabel Castro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41" name="Text Box 240"/>
          <p:cNvSpPr txBox="1"/>
          <p:nvPr/>
        </p:nvSpPr>
        <p:spPr>
          <a:xfrm>
            <a:off x="7663815" y="3816985"/>
            <a:ext cx="9925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24A0D"/>
                </a:solidFill>
              </a:rPr>
              <a:t>Responsable</a:t>
            </a:r>
            <a:endParaRPr lang="en-US" sz="1000">
              <a:solidFill>
                <a:srgbClr val="824A0D"/>
              </a:solidFill>
            </a:endParaRPr>
          </a:p>
        </p:txBody>
      </p:sp>
      <p:sp>
        <p:nvSpPr>
          <p:cNvPr id="265" name="Rounded Rectangle 264"/>
          <p:cNvSpPr/>
          <p:nvPr/>
        </p:nvSpPr>
        <p:spPr>
          <a:xfrm>
            <a:off x="7663815" y="4297680"/>
            <a:ext cx="694690" cy="23685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solidFill>
              <a:srgbClr val="F2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4293870"/>
            <a:ext cx="67183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E54BD"/>
                </a:solidFill>
              </a:rPr>
              <a:t>Técnico</a:t>
            </a:r>
            <a:endParaRPr lang="en-US" sz="1000">
              <a:solidFill>
                <a:srgbClr val="8E54BD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5010150" y="42170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Soporte a Nodos Remotos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4293870"/>
            <a:ext cx="8540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Jorge Silva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55" name="Group 254"/>
          <p:cNvGrpSpPr/>
          <p:nvPr/>
        </p:nvGrpSpPr>
        <p:grpSpPr>
          <a:xfrm>
            <a:off x="7663815" y="4773295"/>
            <a:ext cx="746125" cy="245110"/>
            <a:chOff x="12069" y="7517"/>
            <a:chExt cx="1175" cy="386"/>
          </a:xfrm>
        </p:grpSpPr>
        <p:sp>
          <p:nvSpPr>
            <p:cNvPr id="274" name="Rounded Rectangle 273"/>
            <p:cNvSpPr/>
            <p:nvPr/>
          </p:nvSpPr>
          <p:spPr>
            <a:xfrm>
              <a:off x="12069" y="7523"/>
              <a:ext cx="1175" cy="373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solidFill>
                <a:srgbClr val="FE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9" name="Text Box 278"/>
            <p:cNvSpPr txBox="1"/>
            <p:nvPr/>
          </p:nvSpPr>
          <p:spPr>
            <a:xfrm>
              <a:off x="12069" y="7517"/>
              <a:ext cx="117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A33030"/>
                  </a:solidFill>
                </a:rPr>
                <a:t>Logística</a:t>
              </a:r>
              <a:endParaRPr lang="en-US" sz="1000">
                <a:solidFill>
                  <a:srgbClr val="A33030"/>
                </a:solidFill>
              </a:endParaRPr>
            </a:p>
          </p:txBody>
        </p:sp>
      </p:grpSp>
      <p:sp>
        <p:nvSpPr>
          <p:cNvPr id="276" name="Text Box 275"/>
          <p:cNvSpPr txBox="1"/>
          <p:nvPr/>
        </p:nvSpPr>
        <p:spPr>
          <a:xfrm>
            <a:off x="5010150" y="46964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Reparación y Refabricación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4773295"/>
            <a:ext cx="8928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Carlos Ruiz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83" name="Rectangles 82"/>
          <p:cNvSpPr/>
          <p:nvPr/>
        </p:nvSpPr>
        <p:spPr>
          <a:xfrm>
            <a:off x="-2204720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-1832610" y="1679575"/>
            <a:ext cx="1073785" cy="473075"/>
          </a:xfrm>
          <a:prstGeom prst="rect">
            <a:avLst/>
          </a:prstGeom>
          <a:solidFill>
            <a:srgbClr val="35415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-1833880" y="2336165"/>
            <a:ext cx="1073785" cy="443865"/>
          </a:xfrm>
          <a:prstGeom prst="rect">
            <a:avLst/>
          </a:prstGeom>
          <a:solidFill>
            <a:srgbClr val="E5EAF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-1832610" y="2963545"/>
            <a:ext cx="1073785" cy="418465"/>
          </a:xfrm>
          <a:prstGeom prst="rect">
            <a:avLst/>
          </a:prstGeom>
          <a:solidFill>
            <a:srgbClr val="F8FA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s 85"/>
          <p:cNvSpPr/>
          <p:nvPr/>
        </p:nvSpPr>
        <p:spPr>
          <a:xfrm>
            <a:off x="-1833880" y="1045845"/>
            <a:ext cx="1073785" cy="450215"/>
          </a:xfrm>
          <a:prstGeom prst="rect">
            <a:avLst/>
          </a:prstGeom>
          <a:solidFill>
            <a:srgbClr val="095DD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Rectangles 70"/>
          <p:cNvSpPr/>
          <p:nvPr/>
        </p:nvSpPr>
        <p:spPr>
          <a:xfrm>
            <a:off x="-1832610" y="3565525"/>
            <a:ext cx="1073785" cy="418465"/>
          </a:xfrm>
          <a:prstGeom prst="rect">
            <a:avLst/>
          </a:prstGeom>
          <a:solidFill>
            <a:srgbClr val="E7F2F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Rectangles 80"/>
          <p:cNvSpPr/>
          <p:nvPr/>
        </p:nvSpPr>
        <p:spPr>
          <a:xfrm>
            <a:off x="-1832610" y="4155440"/>
            <a:ext cx="1073785" cy="443865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-1704340" y="320675"/>
            <a:ext cx="788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Basic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-1795145" y="1731645"/>
            <a:ext cx="4635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-1828165" y="2373630"/>
            <a:ext cx="6102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Border</a:t>
            </a:r>
            <a:endParaRPr lang="en-US" sz="1000"/>
          </a:p>
        </p:txBody>
      </p:sp>
      <p:sp>
        <p:nvSpPr>
          <p:cNvPr id="99" name="Text Box 98"/>
          <p:cNvSpPr txBox="1"/>
          <p:nvPr/>
        </p:nvSpPr>
        <p:spPr>
          <a:xfrm>
            <a:off x="-1818640" y="297307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01" name="Text Box 100"/>
          <p:cNvSpPr txBox="1"/>
          <p:nvPr/>
        </p:nvSpPr>
        <p:spPr>
          <a:xfrm>
            <a:off x="-1824990" y="3564890"/>
            <a:ext cx="8559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Button left</a:t>
            </a:r>
            <a:endParaRPr lang="en-US" sz="1000"/>
          </a:p>
          <a:p>
            <a:r>
              <a:rPr lang="en-US" sz="1000"/>
              <a:t>Bg</a:t>
            </a:r>
            <a:endParaRPr lang="en-US" sz="1000"/>
          </a:p>
        </p:txBody>
      </p:sp>
      <p:sp>
        <p:nvSpPr>
          <p:cNvPr id="104" name="Text Box 103"/>
          <p:cNvSpPr txBox="1"/>
          <p:nvPr/>
        </p:nvSpPr>
        <p:spPr>
          <a:xfrm>
            <a:off x="-1814195" y="4192905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PlaceHolder</a:t>
            </a:r>
            <a:endParaRPr lang="en-US" sz="1000"/>
          </a:p>
        </p:txBody>
      </p:sp>
      <p:grpSp>
        <p:nvGrpSpPr>
          <p:cNvPr id="116" name="Group 115"/>
          <p:cNvGrpSpPr/>
          <p:nvPr/>
        </p:nvGrpSpPr>
        <p:grpSpPr>
          <a:xfrm>
            <a:off x="11150600" y="3305175"/>
            <a:ext cx="632460" cy="274320"/>
            <a:chOff x="17560" y="4437"/>
            <a:chExt cx="996" cy="432"/>
          </a:xfrm>
        </p:grpSpPr>
        <p:grpSp>
          <p:nvGrpSpPr>
            <p:cNvPr id="117" name="Group 116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19" name="Picture 118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20" name="Group 119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2" name="Picture 121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79" name="Group 178"/>
          <p:cNvGrpSpPr/>
          <p:nvPr/>
        </p:nvGrpSpPr>
        <p:grpSpPr>
          <a:xfrm>
            <a:off x="11150600" y="3802380"/>
            <a:ext cx="632460" cy="274320"/>
            <a:chOff x="17960" y="4837"/>
            <a:chExt cx="996" cy="432"/>
          </a:xfrm>
        </p:grpSpPr>
        <p:grpSp>
          <p:nvGrpSpPr>
            <p:cNvPr id="124" name="Group 123"/>
            <p:cNvGrpSpPr/>
            <p:nvPr/>
          </p:nvGrpSpPr>
          <p:grpSpPr>
            <a:xfrm rot="0">
              <a:off x="17960" y="4837"/>
              <a:ext cx="432" cy="432"/>
              <a:chOff x="16172" y="6076"/>
              <a:chExt cx="432" cy="432"/>
            </a:xfrm>
          </p:grpSpPr>
          <p:sp>
            <p:nvSpPr>
              <p:cNvPr id="125" name="Rounded Rectangle 12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6" name="Picture 125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31" name="Group 130"/>
            <p:cNvGrpSpPr/>
            <p:nvPr/>
          </p:nvGrpSpPr>
          <p:grpSpPr>
            <a:xfrm rot="0">
              <a:off x="18524" y="4837"/>
              <a:ext cx="432" cy="432"/>
              <a:chOff x="18124" y="4437"/>
              <a:chExt cx="432" cy="432"/>
            </a:xfrm>
          </p:grpSpPr>
          <p:sp>
            <p:nvSpPr>
              <p:cNvPr id="137" name="Rounded Rectangle 136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8" name="Picture 13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40" name="Group 139"/>
          <p:cNvGrpSpPr/>
          <p:nvPr/>
        </p:nvGrpSpPr>
        <p:grpSpPr>
          <a:xfrm>
            <a:off x="11150600" y="4279265"/>
            <a:ext cx="632460" cy="274320"/>
            <a:chOff x="17560" y="4437"/>
            <a:chExt cx="996" cy="432"/>
          </a:xfrm>
        </p:grpSpPr>
        <p:grpSp>
          <p:nvGrpSpPr>
            <p:cNvPr id="143" name="Group 142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45" name="Rounded Rectangle 14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7" name="Picture 146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8" name="Group 147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9" name="Rounded Rectangle 148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0" name="Picture 149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1" name="Group 150"/>
          <p:cNvGrpSpPr/>
          <p:nvPr/>
        </p:nvGrpSpPr>
        <p:grpSpPr>
          <a:xfrm>
            <a:off x="11150600" y="4758690"/>
            <a:ext cx="632460" cy="274320"/>
            <a:chOff x="17560" y="4437"/>
            <a:chExt cx="996" cy="432"/>
          </a:xfrm>
        </p:grpSpPr>
        <p:grpSp>
          <p:nvGrpSpPr>
            <p:cNvPr id="152" name="Group 151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53" name="Rounded Rectangle 15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4" name="Picture 153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55" name="Group 154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56" name="Rounded Rectangle 155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8" name="Picture 16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225" name="Group 224"/>
          <p:cNvGrpSpPr/>
          <p:nvPr/>
        </p:nvGrpSpPr>
        <p:grpSpPr>
          <a:xfrm>
            <a:off x="9293225" y="2832100"/>
            <a:ext cx="808990" cy="245110"/>
            <a:chOff x="14635" y="4460"/>
            <a:chExt cx="1274" cy="386"/>
          </a:xfrm>
        </p:grpSpPr>
        <p:grpSp>
          <p:nvGrpSpPr>
            <p:cNvPr id="201" name="Group 200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02" name="Rounded Rectangle 201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08" name="Text Box 207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09" name="Oval 208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81" name="Rectangles 280"/>
          <p:cNvSpPr/>
          <p:nvPr/>
        </p:nvSpPr>
        <p:spPr>
          <a:xfrm>
            <a:off x="-4302125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2" name="Rectangles 281"/>
          <p:cNvSpPr/>
          <p:nvPr/>
        </p:nvSpPr>
        <p:spPr>
          <a:xfrm>
            <a:off x="-3931285" y="1647825"/>
            <a:ext cx="1073785" cy="473075"/>
          </a:xfrm>
          <a:prstGeom prst="rect">
            <a:avLst/>
          </a:prstGeom>
          <a:solidFill>
            <a:srgbClr val="DCFCE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3" name="Rectangles 282"/>
          <p:cNvSpPr/>
          <p:nvPr/>
        </p:nvSpPr>
        <p:spPr>
          <a:xfrm>
            <a:off x="-3932555" y="2304415"/>
            <a:ext cx="1073785" cy="443865"/>
          </a:xfrm>
          <a:prstGeom prst="rect">
            <a:avLst/>
          </a:prstGeom>
          <a:solidFill>
            <a:srgbClr val="2344A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4" name="Rectangles 283"/>
          <p:cNvSpPr/>
          <p:nvPr/>
        </p:nvSpPr>
        <p:spPr>
          <a:xfrm>
            <a:off x="-3931285" y="2931795"/>
            <a:ext cx="1073785" cy="418465"/>
          </a:xfrm>
          <a:prstGeom prst="rect">
            <a:avLst/>
          </a:prstGeom>
          <a:solidFill>
            <a:srgbClr val="DBEA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5" name="Rectangles 284"/>
          <p:cNvSpPr/>
          <p:nvPr/>
        </p:nvSpPr>
        <p:spPr>
          <a:xfrm>
            <a:off x="-3932555" y="1014095"/>
            <a:ext cx="1073785" cy="450215"/>
          </a:xfrm>
          <a:prstGeom prst="rect">
            <a:avLst/>
          </a:prstGeom>
          <a:solidFill>
            <a:srgbClr val="30784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6" name="Rectangles 285"/>
          <p:cNvSpPr/>
          <p:nvPr/>
        </p:nvSpPr>
        <p:spPr>
          <a:xfrm>
            <a:off x="-3931285" y="3533775"/>
            <a:ext cx="1073785" cy="418465"/>
          </a:xfrm>
          <a:prstGeom prst="rect">
            <a:avLst/>
          </a:prstGeom>
          <a:solidFill>
            <a:srgbClr val="A2442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7" name="Rectangles 286"/>
          <p:cNvSpPr/>
          <p:nvPr/>
        </p:nvSpPr>
        <p:spPr>
          <a:xfrm>
            <a:off x="-3931285" y="4123690"/>
            <a:ext cx="1073785" cy="443865"/>
          </a:xfrm>
          <a:prstGeom prst="rect">
            <a:avLst/>
          </a:prstGeom>
          <a:solidFill>
            <a:srgbClr val="FFEDD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8" name="Rectangles 287"/>
          <p:cNvSpPr/>
          <p:nvPr/>
        </p:nvSpPr>
        <p:spPr>
          <a:xfrm>
            <a:off x="-3930650" y="4789805"/>
            <a:ext cx="1073785" cy="418465"/>
          </a:xfrm>
          <a:prstGeom prst="rect">
            <a:avLst/>
          </a:prstGeom>
          <a:solidFill>
            <a:srgbClr val="A3303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9" name="Rectangles 288"/>
          <p:cNvSpPr/>
          <p:nvPr/>
        </p:nvSpPr>
        <p:spPr>
          <a:xfrm>
            <a:off x="-3930650" y="5379720"/>
            <a:ext cx="1073785" cy="443865"/>
          </a:xfrm>
          <a:prstGeom prst="rect">
            <a:avLst/>
          </a:prstGeom>
          <a:solidFill>
            <a:srgbClr val="FEE2E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Text Box 209"/>
          <p:cNvSpPr txBox="1"/>
          <p:nvPr/>
        </p:nvSpPr>
        <p:spPr>
          <a:xfrm>
            <a:off x="-4302125" y="299085"/>
            <a:ext cx="18732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Tags for States</a:t>
            </a:r>
            <a:endParaRPr lang="en-US"/>
          </a:p>
        </p:txBody>
      </p:sp>
      <p:sp>
        <p:nvSpPr>
          <p:cNvPr id="211" name="Text Box 210"/>
          <p:cNvSpPr txBox="1"/>
          <p:nvPr/>
        </p:nvSpPr>
        <p:spPr>
          <a:xfrm>
            <a:off x="-3932555" y="10128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Operational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2" name="Text Box 211"/>
          <p:cNvSpPr txBox="1"/>
          <p:nvPr/>
        </p:nvSpPr>
        <p:spPr>
          <a:xfrm>
            <a:off x="-3930650" y="232727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Being Transfer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3" name="Text Box 212"/>
          <p:cNvSpPr txBox="1"/>
          <p:nvPr/>
        </p:nvSpPr>
        <p:spPr>
          <a:xfrm>
            <a:off x="-3910330" y="353758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Maintenance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1" name="Text Box 220"/>
          <p:cNvSpPr txBox="1"/>
          <p:nvPr/>
        </p:nvSpPr>
        <p:spPr>
          <a:xfrm>
            <a:off x="-3930650" y="47974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Decommissioning Font</a:t>
            </a:r>
            <a:endParaRPr lang="en-US" sz="1000">
              <a:solidFill>
                <a:schemeClr val="bg1"/>
              </a:solidFill>
            </a:endParaRPr>
          </a:p>
        </p:txBody>
      </p:sp>
      <p:grpSp>
        <p:nvGrpSpPr>
          <p:cNvPr id="226" name="Group 225"/>
          <p:cNvGrpSpPr/>
          <p:nvPr/>
        </p:nvGrpSpPr>
        <p:grpSpPr>
          <a:xfrm>
            <a:off x="9293225" y="3319780"/>
            <a:ext cx="808990" cy="245110"/>
            <a:chOff x="14635" y="4460"/>
            <a:chExt cx="1274" cy="386"/>
          </a:xfrm>
        </p:grpSpPr>
        <p:grpSp>
          <p:nvGrpSpPr>
            <p:cNvPr id="227" name="Group 226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28" name="Rounded Rectangle 227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29" name="Text Box 228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30" name="Oval 229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9293225" y="4290060"/>
            <a:ext cx="808990" cy="245110"/>
            <a:chOff x="14635" y="4460"/>
            <a:chExt cx="1274" cy="386"/>
          </a:xfrm>
        </p:grpSpPr>
        <p:grpSp>
          <p:nvGrpSpPr>
            <p:cNvPr id="232" name="Group 231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33" name="Rounded Rectangle 232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34" name="Text Box 233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3" name="Oval 24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9293225" y="4777740"/>
            <a:ext cx="808990" cy="245110"/>
            <a:chOff x="14635" y="4460"/>
            <a:chExt cx="1274" cy="386"/>
          </a:xfrm>
        </p:grpSpPr>
        <p:grpSp>
          <p:nvGrpSpPr>
            <p:cNvPr id="245" name="Group 244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46" name="Rounded Rectangle 245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47" name="Text Box 246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8" name="Oval 247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9293225" y="3816985"/>
            <a:ext cx="897890" cy="245110"/>
            <a:chOff x="14635" y="4460"/>
            <a:chExt cx="1414" cy="386"/>
          </a:xfrm>
        </p:grpSpPr>
        <p:grpSp>
          <p:nvGrpSpPr>
            <p:cNvPr id="250" name="Group 249"/>
            <p:cNvGrpSpPr/>
            <p:nvPr/>
          </p:nvGrpSpPr>
          <p:grpSpPr>
            <a:xfrm>
              <a:off x="14635" y="4460"/>
              <a:ext cx="1414" cy="386"/>
              <a:chOff x="12069" y="5820"/>
              <a:chExt cx="1414" cy="386"/>
            </a:xfrm>
          </p:grpSpPr>
          <p:sp>
            <p:nvSpPr>
              <p:cNvPr id="251" name="Rounded Rectangle 250"/>
              <p:cNvSpPr/>
              <p:nvPr/>
            </p:nvSpPr>
            <p:spPr>
              <a:xfrm>
                <a:off x="12069" y="5826"/>
                <a:ext cx="1414" cy="373"/>
              </a:xfrm>
              <a:prstGeom prst="roundRect">
                <a:avLst>
                  <a:gd name="adj" fmla="val 50000"/>
                </a:avLst>
              </a:prstGeom>
              <a:solidFill>
                <a:srgbClr val="E5E7EB"/>
              </a:solidFill>
              <a:ln>
                <a:solidFill>
                  <a:srgbClr val="E5E7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52" name="Text Box 251"/>
              <p:cNvSpPr txBox="1"/>
              <p:nvPr/>
            </p:nvSpPr>
            <p:spPr>
              <a:xfrm>
                <a:off x="12262" y="5820"/>
                <a:ext cx="1221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p>
                <a:pPr algn="r"/>
                <a:r>
                  <a:rPr lang="en-US" sz="1000">
                    <a:solidFill>
                      <a:srgbClr val="354155"/>
                    </a:solidFill>
                  </a:rPr>
                  <a:t>Inactivo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sp>
          <p:nvSpPr>
            <p:cNvPr id="253" name="Oval 25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686F7D"/>
            </a:solidFill>
            <a:ln>
              <a:solidFill>
                <a:srgbClr val="6B72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7635240" y="3319780"/>
            <a:ext cx="1082675" cy="245110"/>
            <a:chOff x="12069" y="7517"/>
            <a:chExt cx="1705" cy="386"/>
          </a:xfrm>
        </p:grpSpPr>
        <p:sp>
          <p:nvSpPr>
            <p:cNvPr id="257" name="Rounded Rectangle 256"/>
            <p:cNvSpPr/>
            <p:nvPr/>
          </p:nvSpPr>
          <p:spPr>
            <a:xfrm>
              <a:off x="12069" y="7523"/>
              <a:ext cx="1705" cy="373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solidFill>
                <a:srgbClr val="DBEAF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8" name="Text Box 257"/>
            <p:cNvSpPr txBox="1"/>
            <p:nvPr/>
          </p:nvSpPr>
          <p:spPr>
            <a:xfrm>
              <a:off x="12069" y="7517"/>
              <a:ext cx="170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55B8"/>
                  </a:solidFill>
                </a:rPr>
                <a:t>Administrador</a:t>
              </a:r>
              <a:endParaRPr lang="en-US" sz="1000">
                <a:solidFill>
                  <a:srgbClr val="3555B8"/>
                </a:solidFill>
              </a:endParaRPr>
            </a:p>
          </p:txBody>
        </p:sp>
      </p:grpSp>
      <p:sp>
        <p:nvSpPr>
          <p:cNvPr id="48" name="Rectangles 47"/>
          <p:cNvSpPr/>
          <p:nvPr/>
        </p:nvSpPr>
        <p:spPr>
          <a:xfrm>
            <a:off x="0" y="635"/>
            <a:ext cx="12255500" cy="6896100"/>
          </a:xfrm>
          <a:prstGeom prst="rect">
            <a:avLst/>
          </a:prstGeom>
          <a:solidFill>
            <a:srgbClr val="354155">
              <a:alpha val="8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>
            <a:off x="4022725" y="2104390"/>
            <a:ext cx="4206240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 descr="caret-dow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60720" y="3255645"/>
            <a:ext cx="182880" cy="182880"/>
          </a:xfrm>
          <a:prstGeom prst="rect">
            <a:avLst/>
          </a:prstGeom>
        </p:spPr>
      </p:pic>
      <p:pic>
        <p:nvPicPr>
          <p:cNvPr id="96" name="Picture 95" descr="caret-dow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125" y="3937635"/>
            <a:ext cx="182880" cy="182880"/>
          </a:xfrm>
          <a:prstGeom prst="rect">
            <a:avLst/>
          </a:prstGeom>
        </p:spPr>
      </p:pic>
      <p:grpSp>
        <p:nvGrpSpPr>
          <p:cNvPr id="136" name="Group 135"/>
          <p:cNvGrpSpPr/>
          <p:nvPr/>
        </p:nvGrpSpPr>
        <p:grpSpPr>
          <a:xfrm>
            <a:off x="3747135" y="1504950"/>
            <a:ext cx="4697730" cy="3727450"/>
            <a:chOff x="5901" y="2370"/>
            <a:chExt cx="7398" cy="5870"/>
          </a:xfrm>
        </p:grpSpPr>
        <p:sp>
          <p:nvSpPr>
            <p:cNvPr id="52" name="Rounded Rectangle 51"/>
            <p:cNvSpPr/>
            <p:nvPr/>
          </p:nvSpPr>
          <p:spPr>
            <a:xfrm>
              <a:off x="5901" y="2370"/>
              <a:ext cx="7399" cy="5870"/>
            </a:xfrm>
            <a:prstGeom prst="roundRect">
              <a:avLst>
                <a:gd name="adj" fmla="val 423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5" name="Text Box 114"/>
            <p:cNvSpPr txBox="1"/>
            <p:nvPr/>
          </p:nvSpPr>
          <p:spPr>
            <a:xfrm>
              <a:off x="6166" y="2670"/>
              <a:ext cx="401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1400" b="1">
                  <a:solidFill>
                    <a:srgbClr val="354155"/>
                  </a:solidFill>
                  <a:sym typeface="+mn-ea"/>
                </a:rPr>
                <a:t>Agregar Usuario</a:t>
              </a:r>
              <a:endParaRPr lang="en-US" sz="1400" b="1">
                <a:solidFill>
                  <a:srgbClr val="354155"/>
                </a:solidFill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 rot="0">
              <a:off x="6206" y="3561"/>
              <a:ext cx="6756" cy="906"/>
              <a:chOff x="6203" y="1886"/>
              <a:chExt cx="6756" cy="906"/>
            </a:xfrm>
          </p:grpSpPr>
          <p:sp>
            <p:nvSpPr>
              <p:cNvPr id="57" name="Rounded Rectangle 56"/>
              <p:cNvSpPr/>
              <p:nvPr/>
            </p:nvSpPr>
            <p:spPr>
              <a:xfrm>
                <a:off x="6335" y="2272"/>
                <a:ext cx="6625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0" name="Text Box 59"/>
              <p:cNvSpPr txBox="1"/>
              <p:nvPr/>
            </p:nvSpPr>
            <p:spPr>
              <a:xfrm>
                <a:off x="6203" y="1886"/>
                <a:ext cx="1187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Nombre*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 rot="0">
              <a:off x="6206" y="4632"/>
              <a:ext cx="3296" cy="918"/>
              <a:chOff x="6207" y="2958"/>
              <a:chExt cx="3296" cy="918"/>
            </a:xfrm>
          </p:grpSpPr>
          <p:sp>
            <p:nvSpPr>
              <p:cNvPr id="64" name="Rounded Rectangle 63"/>
              <p:cNvSpPr/>
              <p:nvPr/>
            </p:nvSpPr>
            <p:spPr>
              <a:xfrm>
                <a:off x="6335" y="3356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0" name="Text Box 69"/>
              <p:cNvSpPr txBox="1"/>
              <p:nvPr/>
            </p:nvSpPr>
            <p:spPr>
              <a:xfrm>
                <a:off x="6207" y="2958"/>
                <a:ext cx="705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Rol*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 rot="0">
              <a:off x="9666" y="4632"/>
              <a:ext cx="3296" cy="918"/>
              <a:chOff x="9642" y="2963"/>
              <a:chExt cx="3296" cy="918"/>
            </a:xfrm>
          </p:grpSpPr>
          <p:sp>
            <p:nvSpPr>
              <p:cNvPr id="73" name="Rounded Rectangle 72"/>
              <p:cNvSpPr/>
              <p:nvPr/>
            </p:nvSpPr>
            <p:spPr>
              <a:xfrm>
                <a:off x="9770" y="3361"/>
                <a:ext cx="3168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4" name="Text Box 73"/>
              <p:cNvSpPr txBox="1"/>
              <p:nvPr/>
            </p:nvSpPr>
            <p:spPr>
              <a:xfrm>
                <a:off x="9642" y="2963"/>
                <a:ext cx="1843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Departamento*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 rot="0">
              <a:off x="6206" y="5715"/>
              <a:ext cx="6757" cy="906"/>
              <a:chOff x="6206" y="4040"/>
              <a:chExt cx="6757" cy="906"/>
            </a:xfrm>
          </p:grpSpPr>
          <p:sp>
            <p:nvSpPr>
              <p:cNvPr id="77" name="Rounded Rectangle 76"/>
              <p:cNvSpPr/>
              <p:nvPr/>
            </p:nvSpPr>
            <p:spPr>
              <a:xfrm>
                <a:off x="6338" y="4426"/>
                <a:ext cx="6625" cy="5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94" name="Text Box 93"/>
              <p:cNvSpPr txBox="1"/>
              <p:nvPr/>
            </p:nvSpPr>
            <p:spPr>
              <a:xfrm>
                <a:off x="6206" y="4040"/>
                <a:ext cx="1604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Contrasena*: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grpSp>
          <p:nvGrpSpPr>
            <p:cNvPr id="223" name="Group 222"/>
            <p:cNvGrpSpPr/>
            <p:nvPr/>
          </p:nvGrpSpPr>
          <p:grpSpPr>
            <a:xfrm rot="0">
              <a:off x="11426" y="7327"/>
              <a:ext cx="1537" cy="532"/>
              <a:chOff x="11426" y="8615"/>
              <a:chExt cx="1537" cy="532"/>
            </a:xfrm>
          </p:grpSpPr>
          <p:sp>
            <p:nvSpPr>
              <p:cNvPr id="299" name="Rounded Rectangle 298"/>
              <p:cNvSpPr/>
              <p:nvPr/>
            </p:nvSpPr>
            <p:spPr>
              <a:xfrm>
                <a:off x="11426" y="8615"/>
                <a:ext cx="1537" cy="532"/>
              </a:xfrm>
              <a:prstGeom prst="roundRect">
                <a:avLst>
                  <a:gd name="adj" fmla="val 19005"/>
                </a:avLst>
              </a:prstGeom>
              <a:solidFill>
                <a:srgbClr val="095DD0"/>
              </a:solidFill>
              <a:ln>
                <a:solidFill>
                  <a:srgbClr val="235DE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01" name="Text Box 300"/>
              <p:cNvSpPr txBox="1"/>
              <p:nvPr/>
            </p:nvSpPr>
            <p:spPr>
              <a:xfrm>
                <a:off x="11856" y="8688"/>
                <a:ext cx="1107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chemeClr val="bg1"/>
                    </a:solidFill>
                  </a:rPr>
                  <a:t>Guardar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  <p:pic>
            <p:nvPicPr>
              <p:cNvPr id="97" name="Picture 96" descr="floppy-disk-back-fill"/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1603" y="8737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222" name="Group 221"/>
            <p:cNvGrpSpPr/>
            <p:nvPr/>
          </p:nvGrpSpPr>
          <p:grpSpPr>
            <a:xfrm rot="0">
              <a:off x="9693" y="7329"/>
              <a:ext cx="1579" cy="530"/>
              <a:chOff x="9387" y="7348"/>
              <a:chExt cx="1579" cy="530"/>
            </a:xfrm>
          </p:grpSpPr>
          <p:sp>
            <p:nvSpPr>
              <p:cNvPr id="303" name="Rounded Rectangle 302"/>
              <p:cNvSpPr/>
              <p:nvPr/>
            </p:nvSpPr>
            <p:spPr>
              <a:xfrm>
                <a:off x="9387" y="7348"/>
                <a:ext cx="1579" cy="531"/>
              </a:xfrm>
              <a:prstGeom prst="roundRect">
                <a:avLst>
                  <a:gd name="adj" fmla="val 16485"/>
                </a:avLst>
              </a:prstGeom>
              <a:solidFill>
                <a:srgbClr val="E5EAF1"/>
              </a:solidFill>
              <a:ln>
                <a:solidFill>
                  <a:srgbClr val="E5EAF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7" name="Picture 126" descr="x"/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9546" y="7470"/>
                <a:ext cx="288" cy="288"/>
              </a:xfrm>
              <a:prstGeom prst="rect">
                <a:avLst/>
              </a:prstGeom>
            </p:spPr>
          </p:pic>
          <p:sp>
            <p:nvSpPr>
              <p:cNvPr id="305" name="Text Box 304"/>
              <p:cNvSpPr txBox="1"/>
              <p:nvPr/>
            </p:nvSpPr>
            <p:spPr>
              <a:xfrm>
                <a:off x="9794" y="7420"/>
                <a:ext cx="1172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rgbClr val="354155"/>
                    </a:solidFill>
                  </a:rPr>
                  <a:t>Cancelar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</p:grpSp>
      <p:pic>
        <p:nvPicPr>
          <p:cNvPr id="128" name="Picture 127" descr="caret-dow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125" y="3255645"/>
            <a:ext cx="182880" cy="182880"/>
          </a:xfrm>
          <a:prstGeom prst="rect">
            <a:avLst/>
          </a:prstGeom>
        </p:spPr>
      </p:pic>
      <p:pic>
        <p:nvPicPr>
          <p:cNvPr id="139" name="Picture 138" descr="caret-dow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88660" y="326771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4156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Cuentas de Usuario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26847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usuarios del sistema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590040" cy="337820"/>
            <a:chOff x="16151" y="1596"/>
            <a:chExt cx="250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370" cy="386"/>
              <a:chOff x="16279" y="1669"/>
              <a:chExt cx="2370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2131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Usuario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>
            <a:off x="2814955" y="17100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856855" y="1710055"/>
            <a:ext cx="1044575" cy="292100"/>
            <a:chOff x="12830" y="4031"/>
            <a:chExt cx="1645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2830" y="4031"/>
              <a:ext cx="16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2860" y="4067"/>
              <a:ext cx="133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Rol: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9190990" y="1710055"/>
            <a:ext cx="1277620" cy="292100"/>
            <a:chOff x="12463" y="4031"/>
            <a:chExt cx="2012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2463" y="4031"/>
              <a:ext cx="2012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2497" y="4067"/>
              <a:ext cx="16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170" y="17087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22244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22028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31902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36779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41656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46532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 Box 131"/>
          <p:cNvSpPr txBox="1"/>
          <p:nvPr/>
        </p:nvSpPr>
        <p:spPr>
          <a:xfrm>
            <a:off x="2947670" y="2310130"/>
            <a:ext cx="86169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Nombre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3" name="Text Box 132"/>
          <p:cNvSpPr txBox="1"/>
          <p:nvPr/>
        </p:nvSpPr>
        <p:spPr>
          <a:xfrm>
            <a:off x="7635240" y="2310130"/>
            <a:ext cx="45720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Rol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4" name="Text Box 133"/>
          <p:cNvSpPr txBox="1"/>
          <p:nvPr/>
        </p:nvSpPr>
        <p:spPr>
          <a:xfrm>
            <a:off x="5010150" y="2310130"/>
            <a:ext cx="142430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Departamento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5" name="Text Box 134"/>
          <p:cNvSpPr txBox="1"/>
          <p:nvPr/>
        </p:nvSpPr>
        <p:spPr>
          <a:xfrm>
            <a:off x="9293225" y="2310130"/>
            <a:ext cx="167386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Estado de cuenta</a:t>
            </a:r>
            <a:endParaRPr lang="en-US" sz="1200" b="1">
              <a:solidFill>
                <a:srgbClr val="354155"/>
              </a:solidFill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11150600" y="2817495"/>
            <a:ext cx="632460" cy="274320"/>
            <a:chOff x="17560" y="4437"/>
            <a:chExt cx="996" cy="432"/>
          </a:xfrm>
        </p:grpSpPr>
        <p:grpSp>
          <p:nvGrpSpPr>
            <p:cNvPr id="141" name="Group 140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11" name="Group 110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05" name="Picture 104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5010150" y="2755265"/>
            <a:ext cx="16643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Análisis Forense y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2832100"/>
            <a:ext cx="10731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Elena Morales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2832100"/>
            <a:ext cx="695325" cy="245110"/>
            <a:chOff x="12069" y="6588"/>
            <a:chExt cx="1095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1068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109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Director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sp>
        <p:nvSpPr>
          <p:cNvPr id="215" name="Text Box 214"/>
          <p:cNvSpPr txBox="1"/>
          <p:nvPr/>
        </p:nvSpPr>
        <p:spPr>
          <a:xfrm>
            <a:off x="5010150" y="3242945"/>
            <a:ext cx="12998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Almacenamiento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Backup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3319780"/>
            <a:ext cx="125984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Carmen Sánchez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6" name="Rounded Rectangle 235"/>
          <p:cNvSpPr/>
          <p:nvPr/>
        </p:nvSpPr>
        <p:spPr>
          <a:xfrm>
            <a:off x="7663815" y="3820795"/>
            <a:ext cx="992505" cy="236855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solidFill>
              <a:srgbClr val="FDF8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8" name="Text Box 237"/>
          <p:cNvSpPr txBox="1"/>
          <p:nvPr/>
        </p:nvSpPr>
        <p:spPr>
          <a:xfrm>
            <a:off x="5010150" y="374015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como Servicio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9" name="Text Box 238"/>
          <p:cNvSpPr txBox="1"/>
          <p:nvPr/>
        </p:nvSpPr>
        <p:spPr>
          <a:xfrm>
            <a:off x="2947670" y="3816985"/>
            <a:ext cx="101155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Isabel Castro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41" name="Text Box 240"/>
          <p:cNvSpPr txBox="1"/>
          <p:nvPr/>
        </p:nvSpPr>
        <p:spPr>
          <a:xfrm>
            <a:off x="7663815" y="3816985"/>
            <a:ext cx="9925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24A0D"/>
                </a:solidFill>
              </a:rPr>
              <a:t>Responsable</a:t>
            </a:r>
            <a:endParaRPr lang="en-US" sz="1000">
              <a:solidFill>
                <a:srgbClr val="824A0D"/>
              </a:solidFill>
            </a:endParaRPr>
          </a:p>
        </p:txBody>
      </p:sp>
      <p:sp>
        <p:nvSpPr>
          <p:cNvPr id="265" name="Rounded Rectangle 264"/>
          <p:cNvSpPr/>
          <p:nvPr/>
        </p:nvSpPr>
        <p:spPr>
          <a:xfrm>
            <a:off x="7663815" y="4297680"/>
            <a:ext cx="694690" cy="23685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solidFill>
              <a:srgbClr val="F2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4293870"/>
            <a:ext cx="67183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E54BD"/>
                </a:solidFill>
              </a:rPr>
              <a:t>Técnico</a:t>
            </a:r>
            <a:endParaRPr lang="en-US" sz="1000">
              <a:solidFill>
                <a:srgbClr val="8E54BD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5010150" y="42170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Soporte a Nodos Remotos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4293870"/>
            <a:ext cx="8540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Jorge Silva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55" name="Group 254"/>
          <p:cNvGrpSpPr/>
          <p:nvPr/>
        </p:nvGrpSpPr>
        <p:grpSpPr>
          <a:xfrm>
            <a:off x="7663815" y="4773295"/>
            <a:ext cx="746125" cy="245110"/>
            <a:chOff x="12069" y="7517"/>
            <a:chExt cx="1175" cy="386"/>
          </a:xfrm>
        </p:grpSpPr>
        <p:sp>
          <p:nvSpPr>
            <p:cNvPr id="274" name="Rounded Rectangle 273"/>
            <p:cNvSpPr/>
            <p:nvPr/>
          </p:nvSpPr>
          <p:spPr>
            <a:xfrm>
              <a:off x="12069" y="7523"/>
              <a:ext cx="1175" cy="373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solidFill>
                <a:srgbClr val="FE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9" name="Text Box 278"/>
            <p:cNvSpPr txBox="1"/>
            <p:nvPr/>
          </p:nvSpPr>
          <p:spPr>
            <a:xfrm>
              <a:off x="12069" y="7517"/>
              <a:ext cx="117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A33030"/>
                  </a:solidFill>
                </a:rPr>
                <a:t>Logística</a:t>
              </a:r>
              <a:endParaRPr lang="en-US" sz="1000">
                <a:solidFill>
                  <a:srgbClr val="A33030"/>
                </a:solidFill>
              </a:endParaRPr>
            </a:p>
          </p:txBody>
        </p:sp>
      </p:grpSp>
      <p:sp>
        <p:nvSpPr>
          <p:cNvPr id="276" name="Text Box 275"/>
          <p:cNvSpPr txBox="1"/>
          <p:nvPr/>
        </p:nvSpPr>
        <p:spPr>
          <a:xfrm>
            <a:off x="5010150" y="46964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Reparación y Refabricación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4773295"/>
            <a:ext cx="8928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Carlos Ruiz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83" name="Rectangles 82"/>
          <p:cNvSpPr/>
          <p:nvPr/>
        </p:nvSpPr>
        <p:spPr>
          <a:xfrm>
            <a:off x="-2204720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-1832610" y="1679575"/>
            <a:ext cx="1073785" cy="473075"/>
          </a:xfrm>
          <a:prstGeom prst="rect">
            <a:avLst/>
          </a:prstGeom>
          <a:solidFill>
            <a:srgbClr val="35415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-1833880" y="2336165"/>
            <a:ext cx="1073785" cy="443865"/>
          </a:xfrm>
          <a:prstGeom prst="rect">
            <a:avLst/>
          </a:prstGeom>
          <a:solidFill>
            <a:srgbClr val="E5EAF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-1832610" y="2963545"/>
            <a:ext cx="1073785" cy="418465"/>
          </a:xfrm>
          <a:prstGeom prst="rect">
            <a:avLst/>
          </a:prstGeom>
          <a:solidFill>
            <a:srgbClr val="F8FA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s 85"/>
          <p:cNvSpPr/>
          <p:nvPr/>
        </p:nvSpPr>
        <p:spPr>
          <a:xfrm>
            <a:off x="-1833880" y="1045845"/>
            <a:ext cx="1073785" cy="450215"/>
          </a:xfrm>
          <a:prstGeom prst="rect">
            <a:avLst/>
          </a:prstGeom>
          <a:solidFill>
            <a:srgbClr val="095DD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Rectangles 70"/>
          <p:cNvSpPr/>
          <p:nvPr/>
        </p:nvSpPr>
        <p:spPr>
          <a:xfrm>
            <a:off x="-1832610" y="3565525"/>
            <a:ext cx="1073785" cy="418465"/>
          </a:xfrm>
          <a:prstGeom prst="rect">
            <a:avLst/>
          </a:prstGeom>
          <a:solidFill>
            <a:srgbClr val="E7F2F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Rectangles 80"/>
          <p:cNvSpPr/>
          <p:nvPr/>
        </p:nvSpPr>
        <p:spPr>
          <a:xfrm>
            <a:off x="-1832610" y="4155440"/>
            <a:ext cx="1073785" cy="443865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-1704340" y="320675"/>
            <a:ext cx="788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Basic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-1795145" y="1731645"/>
            <a:ext cx="4635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-1828165" y="2373630"/>
            <a:ext cx="6102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Border</a:t>
            </a:r>
            <a:endParaRPr lang="en-US" sz="1000"/>
          </a:p>
        </p:txBody>
      </p:sp>
      <p:sp>
        <p:nvSpPr>
          <p:cNvPr id="99" name="Text Box 98"/>
          <p:cNvSpPr txBox="1"/>
          <p:nvPr/>
        </p:nvSpPr>
        <p:spPr>
          <a:xfrm>
            <a:off x="-1818640" y="297307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01" name="Text Box 100"/>
          <p:cNvSpPr txBox="1"/>
          <p:nvPr/>
        </p:nvSpPr>
        <p:spPr>
          <a:xfrm>
            <a:off x="-1824990" y="3564890"/>
            <a:ext cx="8559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Button left</a:t>
            </a:r>
            <a:endParaRPr lang="en-US" sz="1000"/>
          </a:p>
          <a:p>
            <a:r>
              <a:rPr lang="en-US" sz="1000"/>
              <a:t>Bg</a:t>
            </a:r>
            <a:endParaRPr lang="en-US" sz="1000"/>
          </a:p>
        </p:txBody>
      </p:sp>
      <p:sp>
        <p:nvSpPr>
          <p:cNvPr id="104" name="Text Box 103"/>
          <p:cNvSpPr txBox="1"/>
          <p:nvPr/>
        </p:nvSpPr>
        <p:spPr>
          <a:xfrm>
            <a:off x="-1814195" y="4192905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PlaceHolder</a:t>
            </a:r>
            <a:endParaRPr lang="en-US" sz="1000"/>
          </a:p>
        </p:txBody>
      </p:sp>
      <p:grpSp>
        <p:nvGrpSpPr>
          <p:cNvPr id="116" name="Group 115"/>
          <p:cNvGrpSpPr/>
          <p:nvPr/>
        </p:nvGrpSpPr>
        <p:grpSpPr>
          <a:xfrm>
            <a:off x="11150600" y="3305175"/>
            <a:ext cx="632460" cy="274320"/>
            <a:chOff x="17560" y="4437"/>
            <a:chExt cx="996" cy="432"/>
          </a:xfrm>
        </p:grpSpPr>
        <p:grpSp>
          <p:nvGrpSpPr>
            <p:cNvPr id="117" name="Group 116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19" name="Picture 118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20" name="Group 119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2" name="Picture 121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79" name="Group 178"/>
          <p:cNvGrpSpPr/>
          <p:nvPr/>
        </p:nvGrpSpPr>
        <p:grpSpPr>
          <a:xfrm>
            <a:off x="11150600" y="3802380"/>
            <a:ext cx="632460" cy="274320"/>
            <a:chOff x="17960" y="4837"/>
            <a:chExt cx="996" cy="432"/>
          </a:xfrm>
        </p:grpSpPr>
        <p:grpSp>
          <p:nvGrpSpPr>
            <p:cNvPr id="124" name="Group 123"/>
            <p:cNvGrpSpPr/>
            <p:nvPr/>
          </p:nvGrpSpPr>
          <p:grpSpPr>
            <a:xfrm rot="0">
              <a:off x="17960" y="4837"/>
              <a:ext cx="432" cy="432"/>
              <a:chOff x="16172" y="6076"/>
              <a:chExt cx="432" cy="432"/>
            </a:xfrm>
          </p:grpSpPr>
          <p:sp>
            <p:nvSpPr>
              <p:cNvPr id="125" name="Rounded Rectangle 12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6" name="Picture 125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31" name="Group 130"/>
            <p:cNvGrpSpPr/>
            <p:nvPr/>
          </p:nvGrpSpPr>
          <p:grpSpPr>
            <a:xfrm rot="0">
              <a:off x="18524" y="4837"/>
              <a:ext cx="432" cy="432"/>
              <a:chOff x="18124" y="4437"/>
              <a:chExt cx="432" cy="432"/>
            </a:xfrm>
          </p:grpSpPr>
          <p:sp>
            <p:nvSpPr>
              <p:cNvPr id="137" name="Rounded Rectangle 136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8" name="Picture 13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40" name="Group 139"/>
          <p:cNvGrpSpPr/>
          <p:nvPr/>
        </p:nvGrpSpPr>
        <p:grpSpPr>
          <a:xfrm>
            <a:off x="11150600" y="4279265"/>
            <a:ext cx="632460" cy="274320"/>
            <a:chOff x="17560" y="4437"/>
            <a:chExt cx="996" cy="432"/>
          </a:xfrm>
        </p:grpSpPr>
        <p:grpSp>
          <p:nvGrpSpPr>
            <p:cNvPr id="143" name="Group 142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45" name="Rounded Rectangle 14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7" name="Picture 146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8" name="Group 147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9" name="Rounded Rectangle 148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0" name="Picture 149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1" name="Group 150"/>
          <p:cNvGrpSpPr/>
          <p:nvPr/>
        </p:nvGrpSpPr>
        <p:grpSpPr>
          <a:xfrm>
            <a:off x="11150600" y="4758690"/>
            <a:ext cx="632460" cy="274320"/>
            <a:chOff x="17560" y="4437"/>
            <a:chExt cx="996" cy="432"/>
          </a:xfrm>
        </p:grpSpPr>
        <p:grpSp>
          <p:nvGrpSpPr>
            <p:cNvPr id="152" name="Group 151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53" name="Rounded Rectangle 15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4" name="Picture 153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55" name="Group 154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56" name="Rounded Rectangle 155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8" name="Picture 16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225" name="Group 224"/>
          <p:cNvGrpSpPr/>
          <p:nvPr/>
        </p:nvGrpSpPr>
        <p:grpSpPr>
          <a:xfrm>
            <a:off x="9293225" y="2832100"/>
            <a:ext cx="808990" cy="245110"/>
            <a:chOff x="14635" y="4460"/>
            <a:chExt cx="1274" cy="386"/>
          </a:xfrm>
        </p:grpSpPr>
        <p:grpSp>
          <p:nvGrpSpPr>
            <p:cNvPr id="201" name="Group 200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02" name="Rounded Rectangle 201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08" name="Text Box 207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09" name="Oval 208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81" name="Rectangles 280"/>
          <p:cNvSpPr/>
          <p:nvPr/>
        </p:nvSpPr>
        <p:spPr>
          <a:xfrm>
            <a:off x="-4302125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2" name="Rectangles 281"/>
          <p:cNvSpPr/>
          <p:nvPr/>
        </p:nvSpPr>
        <p:spPr>
          <a:xfrm>
            <a:off x="-3931285" y="1647825"/>
            <a:ext cx="1073785" cy="473075"/>
          </a:xfrm>
          <a:prstGeom prst="rect">
            <a:avLst/>
          </a:prstGeom>
          <a:solidFill>
            <a:srgbClr val="DCFCE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3" name="Rectangles 282"/>
          <p:cNvSpPr/>
          <p:nvPr/>
        </p:nvSpPr>
        <p:spPr>
          <a:xfrm>
            <a:off x="-3932555" y="2304415"/>
            <a:ext cx="1073785" cy="443865"/>
          </a:xfrm>
          <a:prstGeom prst="rect">
            <a:avLst/>
          </a:prstGeom>
          <a:solidFill>
            <a:srgbClr val="2344A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4" name="Rectangles 283"/>
          <p:cNvSpPr/>
          <p:nvPr/>
        </p:nvSpPr>
        <p:spPr>
          <a:xfrm>
            <a:off x="-3931285" y="2931795"/>
            <a:ext cx="1073785" cy="418465"/>
          </a:xfrm>
          <a:prstGeom prst="rect">
            <a:avLst/>
          </a:prstGeom>
          <a:solidFill>
            <a:srgbClr val="DBEA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5" name="Rectangles 284"/>
          <p:cNvSpPr/>
          <p:nvPr/>
        </p:nvSpPr>
        <p:spPr>
          <a:xfrm>
            <a:off x="-3932555" y="1014095"/>
            <a:ext cx="1073785" cy="450215"/>
          </a:xfrm>
          <a:prstGeom prst="rect">
            <a:avLst/>
          </a:prstGeom>
          <a:solidFill>
            <a:srgbClr val="30784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6" name="Rectangles 285"/>
          <p:cNvSpPr/>
          <p:nvPr/>
        </p:nvSpPr>
        <p:spPr>
          <a:xfrm>
            <a:off x="-3931285" y="3533775"/>
            <a:ext cx="1073785" cy="418465"/>
          </a:xfrm>
          <a:prstGeom prst="rect">
            <a:avLst/>
          </a:prstGeom>
          <a:solidFill>
            <a:srgbClr val="A2442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7" name="Rectangles 286"/>
          <p:cNvSpPr/>
          <p:nvPr/>
        </p:nvSpPr>
        <p:spPr>
          <a:xfrm>
            <a:off x="-3931285" y="4123690"/>
            <a:ext cx="1073785" cy="443865"/>
          </a:xfrm>
          <a:prstGeom prst="rect">
            <a:avLst/>
          </a:prstGeom>
          <a:solidFill>
            <a:srgbClr val="FFEDD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8" name="Rectangles 287"/>
          <p:cNvSpPr/>
          <p:nvPr/>
        </p:nvSpPr>
        <p:spPr>
          <a:xfrm>
            <a:off x="-3930650" y="4789805"/>
            <a:ext cx="1073785" cy="418465"/>
          </a:xfrm>
          <a:prstGeom prst="rect">
            <a:avLst/>
          </a:prstGeom>
          <a:solidFill>
            <a:srgbClr val="A3303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9" name="Rectangles 288"/>
          <p:cNvSpPr/>
          <p:nvPr/>
        </p:nvSpPr>
        <p:spPr>
          <a:xfrm>
            <a:off x="-3930650" y="5379720"/>
            <a:ext cx="1073785" cy="443865"/>
          </a:xfrm>
          <a:prstGeom prst="rect">
            <a:avLst/>
          </a:prstGeom>
          <a:solidFill>
            <a:srgbClr val="FEE2E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Text Box 209"/>
          <p:cNvSpPr txBox="1"/>
          <p:nvPr/>
        </p:nvSpPr>
        <p:spPr>
          <a:xfrm>
            <a:off x="-4302125" y="299085"/>
            <a:ext cx="18732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Tags for States</a:t>
            </a:r>
            <a:endParaRPr lang="en-US"/>
          </a:p>
        </p:txBody>
      </p:sp>
      <p:sp>
        <p:nvSpPr>
          <p:cNvPr id="211" name="Text Box 210"/>
          <p:cNvSpPr txBox="1"/>
          <p:nvPr/>
        </p:nvSpPr>
        <p:spPr>
          <a:xfrm>
            <a:off x="-3932555" y="10128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Operational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2" name="Text Box 211"/>
          <p:cNvSpPr txBox="1"/>
          <p:nvPr/>
        </p:nvSpPr>
        <p:spPr>
          <a:xfrm>
            <a:off x="-3930650" y="232727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Being Transfer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3" name="Text Box 212"/>
          <p:cNvSpPr txBox="1"/>
          <p:nvPr/>
        </p:nvSpPr>
        <p:spPr>
          <a:xfrm>
            <a:off x="-3910330" y="353758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Maintenance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1" name="Text Box 220"/>
          <p:cNvSpPr txBox="1"/>
          <p:nvPr/>
        </p:nvSpPr>
        <p:spPr>
          <a:xfrm>
            <a:off x="-3930650" y="47974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Decommissioning Font</a:t>
            </a:r>
            <a:endParaRPr lang="en-US" sz="1000">
              <a:solidFill>
                <a:schemeClr val="bg1"/>
              </a:solidFill>
            </a:endParaRPr>
          </a:p>
        </p:txBody>
      </p:sp>
      <p:grpSp>
        <p:nvGrpSpPr>
          <p:cNvPr id="226" name="Group 225"/>
          <p:cNvGrpSpPr/>
          <p:nvPr/>
        </p:nvGrpSpPr>
        <p:grpSpPr>
          <a:xfrm>
            <a:off x="9293225" y="3319780"/>
            <a:ext cx="808990" cy="245110"/>
            <a:chOff x="14635" y="4460"/>
            <a:chExt cx="1274" cy="386"/>
          </a:xfrm>
        </p:grpSpPr>
        <p:grpSp>
          <p:nvGrpSpPr>
            <p:cNvPr id="227" name="Group 226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28" name="Rounded Rectangle 227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29" name="Text Box 228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30" name="Oval 229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9293225" y="4290060"/>
            <a:ext cx="808990" cy="245110"/>
            <a:chOff x="14635" y="4460"/>
            <a:chExt cx="1274" cy="386"/>
          </a:xfrm>
        </p:grpSpPr>
        <p:grpSp>
          <p:nvGrpSpPr>
            <p:cNvPr id="232" name="Group 231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33" name="Rounded Rectangle 232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34" name="Text Box 233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3" name="Oval 24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9293225" y="4777740"/>
            <a:ext cx="808990" cy="245110"/>
            <a:chOff x="14635" y="4460"/>
            <a:chExt cx="1274" cy="386"/>
          </a:xfrm>
        </p:grpSpPr>
        <p:grpSp>
          <p:nvGrpSpPr>
            <p:cNvPr id="245" name="Group 244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46" name="Rounded Rectangle 245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47" name="Text Box 246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8" name="Oval 247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9293225" y="3816985"/>
            <a:ext cx="897890" cy="245110"/>
            <a:chOff x="14635" y="4460"/>
            <a:chExt cx="1414" cy="386"/>
          </a:xfrm>
        </p:grpSpPr>
        <p:grpSp>
          <p:nvGrpSpPr>
            <p:cNvPr id="250" name="Group 249"/>
            <p:cNvGrpSpPr/>
            <p:nvPr/>
          </p:nvGrpSpPr>
          <p:grpSpPr>
            <a:xfrm>
              <a:off x="14635" y="4460"/>
              <a:ext cx="1414" cy="386"/>
              <a:chOff x="12069" y="5820"/>
              <a:chExt cx="1414" cy="386"/>
            </a:xfrm>
          </p:grpSpPr>
          <p:sp>
            <p:nvSpPr>
              <p:cNvPr id="251" name="Rounded Rectangle 250"/>
              <p:cNvSpPr/>
              <p:nvPr/>
            </p:nvSpPr>
            <p:spPr>
              <a:xfrm>
                <a:off x="12069" y="5826"/>
                <a:ext cx="1414" cy="373"/>
              </a:xfrm>
              <a:prstGeom prst="roundRect">
                <a:avLst>
                  <a:gd name="adj" fmla="val 50000"/>
                </a:avLst>
              </a:prstGeom>
              <a:solidFill>
                <a:srgbClr val="E5E7EB"/>
              </a:solidFill>
              <a:ln>
                <a:solidFill>
                  <a:srgbClr val="E5E7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52" name="Text Box 251"/>
              <p:cNvSpPr txBox="1"/>
              <p:nvPr/>
            </p:nvSpPr>
            <p:spPr>
              <a:xfrm>
                <a:off x="12262" y="5820"/>
                <a:ext cx="1221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p>
                <a:pPr algn="r"/>
                <a:r>
                  <a:rPr lang="en-US" sz="1000">
                    <a:solidFill>
                      <a:srgbClr val="354155"/>
                    </a:solidFill>
                  </a:rPr>
                  <a:t>Inactivo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sp>
          <p:nvSpPr>
            <p:cNvPr id="253" name="Oval 25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686F7D"/>
            </a:solidFill>
            <a:ln>
              <a:solidFill>
                <a:srgbClr val="6B72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7635240" y="3319780"/>
            <a:ext cx="1082675" cy="245110"/>
            <a:chOff x="12069" y="7517"/>
            <a:chExt cx="1705" cy="386"/>
          </a:xfrm>
        </p:grpSpPr>
        <p:sp>
          <p:nvSpPr>
            <p:cNvPr id="257" name="Rounded Rectangle 256"/>
            <p:cNvSpPr/>
            <p:nvPr/>
          </p:nvSpPr>
          <p:spPr>
            <a:xfrm>
              <a:off x="12069" y="7523"/>
              <a:ext cx="1705" cy="373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solidFill>
                <a:srgbClr val="DBEAF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8" name="Text Box 257"/>
            <p:cNvSpPr txBox="1"/>
            <p:nvPr/>
          </p:nvSpPr>
          <p:spPr>
            <a:xfrm>
              <a:off x="12069" y="7517"/>
              <a:ext cx="170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55B8"/>
                  </a:solidFill>
                </a:rPr>
                <a:t>Administrador</a:t>
              </a:r>
              <a:endParaRPr lang="en-US" sz="1000">
                <a:solidFill>
                  <a:srgbClr val="3555B8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254952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2548890" y="635"/>
            <a:ext cx="9643110" cy="767715"/>
          </a:xfrm>
          <a:prstGeom prst="rect">
            <a:avLst/>
          </a:prstGeom>
          <a:solidFill>
            <a:srgbClr val="FFFFFF"/>
          </a:solidFill>
          <a:ln>
            <a:solidFill>
              <a:srgbClr val="EC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54305" y="195580"/>
            <a:ext cx="2076450" cy="492760"/>
            <a:chOff x="214" y="308"/>
            <a:chExt cx="3270" cy="776"/>
          </a:xfrm>
        </p:grpSpPr>
        <p:pic>
          <p:nvPicPr>
            <p:cNvPr id="11" name="Picture 10" descr="ChatGPT Image 3 nov 2025, 02_28_06"/>
            <p:cNvPicPr>
              <a:picLocks noChangeAspect="1"/>
            </p:cNvPicPr>
            <p:nvPr/>
          </p:nvPicPr>
          <p:blipFill>
            <a:blip r:embed="rId1"/>
            <a:srcRect l="9093" t="57378" r="8549" b="19202"/>
            <a:stretch>
              <a:fillRect/>
            </a:stretch>
          </p:blipFill>
          <p:spPr>
            <a:xfrm>
              <a:off x="754" y="308"/>
              <a:ext cx="2730" cy="777"/>
            </a:xfrm>
            <a:prstGeom prst="rect">
              <a:avLst/>
            </a:prstGeom>
          </p:spPr>
        </p:pic>
        <p:pic>
          <p:nvPicPr>
            <p:cNvPr id="85" name="Picture 84" descr="ChatGPT Image 3 nov 2025, 02_28_06"/>
            <p:cNvPicPr>
              <a:picLocks noChangeAspect="1"/>
            </p:cNvPicPr>
            <p:nvPr/>
          </p:nvPicPr>
          <p:blipFill>
            <a:blip r:embed="rId1"/>
            <a:srcRect l="33766" t="17684" r="32205" b="42216"/>
            <a:stretch>
              <a:fillRect/>
            </a:stretch>
          </p:blipFill>
          <p:spPr>
            <a:xfrm>
              <a:off x="214" y="345"/>
              <a:ext cx="595" cy="70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227330" y="5875020"/>
            <a:ext cx="990600" cy="275590"/>
            <a:chOff x="358" y="9479"/>
            <a:chExt cx="1560" cy="434"/>
          </a:xfrm>
        </p:grpSpPr>
        <p:pic>
          <p:nvPicPr>
            <p:cNvPr id="14" name="Picture 13" descr="gear-bol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" y="9530"/>
              <a:ext cx="331" cy="331"/>
            </a:xfrm>
            <a:prstGeom prst="rect">
              <a:avLst/>
            </a:prstGeom>
          </p:spPr>
        </p:pic>
        <p:sp>
          <p:nvSpPr>
            <p:cNvPr id="16" name="Text Box 15"/>
            <p:cNvSpPr txBox="1"/>
            <p:nvPr/>
          </p:nvSpPr>
          <p:spPr>
            <a:xfrm>
              <a:off x="646" y="9479"/>
              <a:ext cx="127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Settings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7330" y="6316345"/>
            <a:ext cx="935355" cy="275590"/>
            <a:chOff x="358" y="9947"/>
            <a:chExt cx="1473" cy="434"/>
          </a:xfrm>
        </p:grpSpPr>
        <p:pic>
          <p:nvPicPr>
            <p:cNvPr id="13" name="Picture 12" descr="sign-out-bol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" y="9998"/>
              <a:ext cx="331" cy="331"/>
            </a:xfrm>
            <a:prstGeom prst="rect">
              <a:avLst/>
            </a:prstGeom>
          </p:spPr>
        </p:pic>
        <p:sp>
          <p:nvSpPr>
            <p:cNvPr id="17" name="Text Box 16"/>
            <p:cNvSpPr txBox="1"/>
            <p:nvPr/>
          </p:nvSpPr>
          <p:spPr>
            <a:xfrm>
              <a:off x="646" y="9947"/>
              <a:ext cx="118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Log out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54305" y="908050"/>
            <a:ext cx="2270760" cy="336550"/>
            <a:chOff x="243" y="1430"/>
            <a:chExt cx="3576" cy="530"/>
          </a:xfrm>
        </p:grpSpPr>
        <p:sp>
          <p:nvSpPr>
            <p:cNvPr id="25" name="Rounded Rectangle 24"/>
            <p:cNvSpPr/>
            <p:nvPr/>
          </p:nvSpPr>
          <p:spPr>
            <a:xfrm>
              <a:off x="243" y="1430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761" y="1478"/>
              <a:ext cx="1589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Dashboard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26" name="Picture 25" descr="squares-fou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" y="1515"/>
              <a:ext cx="360" cy="360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9523730" y="110172"/>
            <a:ext cx="1804670" cy="548958"/>
            <a:chOff x="14998" y="162"/>
            <a:chExt cx="2842" cy="865"/>
          </a:xfrm>
        </p:grpSpPr>
        <p:pic>
          <p:nvPicPr>
            <p:cNvPr id="29" name="Picture 28" descr="ChatGPT Image 3 nov 2025, 02_54_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9F4">
                    <a:alpha val="100000"/>
                  </a:srgbClr>
                </a:clrFrom>
                <a:clrTo>
                  <a:srgbClr val="FFF9F4">
                    <a:alpha val="100000"/>
                    <a:alpha val="0"/>
                  </a:srgbClr>
                </a:clrTo>
              </a:clrChange>
            </a:blip>
            <a:srcRect l="4074" t="2407" r="52222" b="53704"/>
            <a:stretch>
              <a:fillRect/>
            </a:stretch>
          </p:blipFill>
          <p:spPr>
            <a:xfrm flipH="1">
              <a:off x="14998" y="162"/>
              <a:ext cx="860" cy="864"/>
            </a:xfrm>
            <a:prstGeom prst="rect">
              <a:avLst/>
            </a:prstGeom>
          </p:spPr>
        </p:pic>
        <p:sp>
          <p:nvSpPr>
            <p:cNvPr id="30" name="Text Box 29"/>
            <p:cNvSpPr txBox="1"/>
            <p:nvPr/>
          </p:nvSpPr>
          <p:spPr>
            <a:xfrm>
              <a:off x="15858" y="225"/>
              <a:ext cx="175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 b="1">
                  <a:solidFill>
                    <a:srgbClr val="354155"/>
                  </a:solidFill>
                </a:rPr>
                <a:t>Ana García</a:t>
              </a:r>
              <a:endParaRPr lang="en-US" sz="1200" b="1">
                <a:solidFill>
                  <a:srgbClr val="354155"/>
                </a:solidFill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858" y="593"/>
              <a:ext cx="198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</a:rPr>
                <a:t>Administrador</a:t>
              </a:r>
              <a:endParaRPr lang="en-US" sz="1200">
                <a:solidFill>
                  <a:srgbClr val="354155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5" y="1794510"/>
            <a:ext cx="2270760" cy="336550"/>
            <a:chOff x="243" y="2778"/>
            <a:chExt cx="3576" cy="530"/>
          </a:xfrm>
        </p:grpSpPr>
        <p:sp>
          <p:nvSpPr>
            <p:cNvPr id="42" name="Rounded Rectangle 41"/>
            <p:cNvSpPr/>
            <p:nvPr/>
          </p:nvSpPr>
          <p:spPr>
            <a:xfrm>
              <a:off x="243" y="2778"/>
              <a:ext cx="3576" cy="530"/>
            </a:xfrm>
            <a:prstGeom prst="roundRect">
              <a:avLst/>
            </a:prstGeom>
            <a:solidFill>
              <a:srgbClr val="E7F2F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5" name="Picture 14" descr="users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9" y="2863"/>
              <a:ext cx="360" cy="360"/>
            </a:xfrm>
            <a:prstGeom prst="rect">
              <a:avLst/>
            </a:prstGeom>
          </p:spPr>
        </p:pic>
        <p:sp>
          <p:nvSpPr>
            <p:cNvPr id="43" name="Text Box 42"/>
            <p:cNvSpPr txBox="1"/>
            <p:nvPr/>
          </p:nvSpPr>
          <p:spPr>
            <a:xfrm>
              <a:off x="761" y="2826"/>
              <a:ext cx="269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095DD0"/>
                  </a:solidFill>
                  <a:cs typeface="+mn-lt"/>
                </a:rPr>
                <a:t>Gestión de Usuarios</a:t>
              </a:r>
              <a:endParaRPr lang="en-US" sz="1200">
                <a:solidFill>
                  <a:srgbClr val="095DD0"/>
                </a:solidFill>
                <a:cs typeface="+mn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54305" y="2237740"/>
            <a:ext cx="2274570" cy="336550"/>
            <a:chOff x="237" y="2846"/>
            <a:chExt cx="3582" cy="530"/>
          </a:xfrm>
        </p:grpSpPr>
        <p:sp>
          <p:nvSpPr>
            <p:cNvPr id="46" name="Rounded Rectangle 45"/>
            <p:cNvSpPr/>
            <p:nvPr/>
          </p:nvSpPr>
          <p:spPr>
            <a:xfrm>
              <a:off x="237" y="2846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rgbClr val="E7F2FD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55" y="2894"/>
              <a:ext cx="2906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Inventario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8" name="Picture 37" descr="archive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9" y="2931"/>
              <a:ext cx="360" cy="360"/>
            </a:xfrm>
            <a:prstGeom prst="rect">
              <a:avLst/>
            </a:prstGeom>
          </p:spPr>
        </p:pic>
      </p:grpSp>
      <p:grpSp>
        <p:nvGrpSpPr>
          <p:cNvPr id="68" name="Group 67"/>
          <p:cNvGrpSpPr/>
          <p:nvPr/>
        </p:nvGrpSpPr>
        <p:grpSpPr>
          <a:xfrm>
            <a:off x="154305" y="2680970"/>
            <a:ext cx="2274570" cy="336550"/>
            <a:chOff x="237" y="3554"/>
            <a:chExt cx="3582" cy="530"/>
          </a:xfrm>
        </p:grpSpPr>
        <p:sp>
          <p:nvSpPr>
            <p:cNvPr id="50" name="Rounded Rectangle 49"/>
            <p:cNvSpPr/>
            <p:nvPr/>
          </p:nvSpPr>
          <p:spPr>
            <a:xfrm>
              <a:off x="237" y="3554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55" y="3602"/>
              <a:ext cx="202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Bajas Técnicas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7" name="Picture 36" descr="box-arrow-down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" y="3639"/>
              <a:ext cx="360" cy="36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54305" y="3124200"/>
            <a:ext cx="2270760" cy="336550"/>
            <a:chOff x="243" y="4262"/>
            <a:chExt cx="3576" cy="530"/>
          </a:xfrm>
        </p:grpSpPr>
        <p:sp>
          <p:nvSpPr>
            <p:cNvPr id="54" name="Rounded Rectangle 53"/>
            <p:cNvSpPr/>
            <p:nvPr/>
          </p:nvSpPr>
          <p:spPr>
            <a:xfrm>
              <a:off x="243" y="4262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61" y="4310"/>
              <a:ext cx="280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Traslados de Equipos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6" name="Picture 35" descr="arrows-left-right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9" y="4347"/>
              <a:ext cx="360" cy="360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/>
        </p:nvGrpSpPr>
        <p:grpSpPr>
          <a:xfrm>
            <a:off x="154305" y="3567430"/>
            <a:ext cx="2274570" cy="336550"/>
            <a:chOff x="237" y="4970"/>
            <a:chExt cx="3582" cy="530"/>
          </a:xfrm>
        </p:grpSpPr>
        <p:sp>
          <p:nvSpPr>
            <p:cNvPr id="58" name="Rounded Rectangle 57"/>
            <p:cNvSpPr/>
            <p:nvPr/>
          </p:nvSpPr>
          <p:spPr>
            <a:xfrm>
              <a:off x="237" y="4970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49" y="5018"/>
              <a:ext cx="207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Equipo Técnico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5" name="Picture 34" descr="identification-card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9" y="5055"/>
              <a:ext cx="360" cy="36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154305" y="4010660"/>
            <a:ext cx="2274570" cy="336550"/>
            <a:chOff x="237" y="5678"/>
            <a:chExt cx="3582" cy="530"/>
          </a:xfrm>
        </p:grpSpPr>
        <p:sp>
          <p:nvSpPr>
            <p:cNvPr id="62" name="Rounded Rectangle 61"/>
            <p:cNvSpPr/>
            <p:nvPr/>
          </p:nvSpPr>
          <p:spPr>
            <a:xfrm>
              <a:off x="237" y="5678"/>
              <a:ext cx="3582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Text Box 62"/>
            <p:cNvSpPr txBox="1"/>
            <p:nvPr/>
          </p:nvSpPr>
          <p:spPr>
            <a:xfrm>
              <a:off x="755" y="5726"/>
              <a:ext cx="1357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Reportes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  <p:pic>
          <p:nvPicPr>
            <p:cNvPr id="34" name="Picture 33" descr="chart-pie-slice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5" y="5763"/>
              <a:ext cx="360" cy="3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54305" y="1351280"/>
            <a:ext cx="2270760" cy="336550"/>
            <a:chOff x="243" y="2138"/>
            <a:chExt cx="3576" cy="530"/>
          </a:xfrm>
        </p:grpSpPr>
        <p:sp>
          <p:nvSpPr>
            <p:cNvPr id="3" name="Rounded Rectangle 2"/>
            <p:cNvSpPr/>
            <p:nvPr/>
          </p:nvSpPr>
          <p:spPr>
            <a:xfrm>
              <a:off x="243" y="2138"/>
              <a:ext cx="3576" cy="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" name="Picture 3" descr="buildings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5" y="2223"/>
              <a:ext cx="360" cy="36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761" y="2186"/>
              <a:ext cx="1860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200">
                  <a:solidFill>
                    <a:srgbClr val="354155"/>
                  </a:solidFill>
                  <a:cs typeface="+mn-lt"/>
                </a:rPr>
                <a:t>Organización</a:t>
              </a:r>
              <a:endParaRPr lang="en-US" sz="1200">
                <a:solidFill>
                  <a:srgbClr val="354155"/>
                </a:solidFill>
                <a:cs typeface="+mn-lt"/>
              </a:endParaRPr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2814955" y="876300"/>
            <a:ext cx="4156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354155"/>
                </a:solidFill>
              </a:rPr>
              <a:t>Gestión de Cuentas de Usuario</a:t>
            </a:r>
            <a:endParaRPr lang="en-US" b="1">
              <a:solidFill>
                <a:srgbClr val="354155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814955" y="1244600"/>
            <a:ext cx="26847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Administración de usuarios del sistema</a:t>
            </a:r>
            <a:endParaRPr lang="en-US" sz="1000">
              <a:solidFill>
                <a:srgbClr val="354155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815590" y="154813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0255885" y="1013460"/>
            <a:ext cx="1590040" cy="337820"/>
            <a:chOff x="16151" y="1596"/>
            <a:chExt cx="2504" cy="532"/>
          </a:xfrm>
        </p:grpSpPr>
        <p:sp>
          <p:nvSpPr>
            <p:cNvPr id="39" name="Rounded Rectangle 38"/>
            <p:cNvSpPr/>
            <p:nvPr/>
          </p:nvSpPr>
          <p:spPr>
            <a:xfrm>
              <a:off x="16151" y="1596"/>
              <a:ext cx="2345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6285" y="1669"/>
              <a:ext cx="2370" cy="386"/>
              <a:chOff x="16279" y="1669"/>
              <a:chExt cx="2370" cy="386"/>
            </a:xfrm>
          </p:grpSpPr>
          <p:pic>
            <p:nvPicPr>
              <p:cNvPr id="33" name="Picture 32" descr="plus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279" y="1718"/>
                <a:ext cx="288" cy="288"/>
              </a:xfrm>
              <a:prstGeom prst="rect">
                <a:avLst/>
              </a:prstGeom>
            </p:spPr>
          </p:pic>
          <p:sp>
            <p:nvSpPr>
              <p:cNvPr id="41" name="Text Box 40"/>
              <p:cNvSpPr txBox="1"/>
              <p:nvPr/>
            </p:nvSpPr>
            <p:spPr>
              <a:xfrm>
                <a:off x="16518" y="1669"/>
                <a:ext cx="2131" cy="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1000">
                    <a:solidFill>
                      <a:schemeClr val="bg1"/>
                    </a:solidFill>
                  </a:rPr>
                  <a:t>Agregar Usuario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>
            <a:off x="2814955" y="1710055"/>
            <a:ext cx="4752340" cy="292100"/>
            <a:chOff x="4433" y="4054"/>
            <a:chExt cx="7484" cy="460"/>
          </a:xfrm>
        </p:grpSpPr>
        <p:sp>
          <p:nvSpPr>
            <p:cNvPr id="78" name="Rounded Rectangle 77"/>
            <p:cNvSpPr/>
            <p:nvPr/>
          </p:nvSpPr>
          <p:spPr>
            <a:xfrm>
              <a:off x="4433" y="4054"/>
              <a:ext cx="7485" cy="461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79" name="Picture 78" descr="magnifying-glass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52" y="4141"/>
              <a:ext cx="288" cy="288"/>
            </a:xfrm>
            <a:prstGeom prst="rect">
              <a:avLst/>
            </a:prstGeom>
          </p:spPr>
        </p:pic>
        <p:sp>
          <p:nvSpPr>
            <p:cNvPr id="82" name="Text Box 81"/>
            <p:cNvSpPr txBox="1"/>
            <p:nvPr/>
          </p:nvSpPr>
          <p:spPr>
            <a:xfrm>
              <a:off x="4840" y="4092"/>
              <a:ext cx="286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BFBFBF"/>
                  </a:solidFill>
                </a:rPr>
                <a:t>Buscar por ID, nombre, ...</a:t>
              </a:r>
              <a:endParaRPr lang="en-US" sz="1000">
                <a:solidFill>
                  <a:srgbClr val="BFBFBF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856855" y="1710055"/>
            <a:ext cx="1044575" cy="292100"/>
            <a:chOff x="12830" y="4031"/>
            <a:chExt cx="1645" cy="460"/>
          </a:xfrm>
        </p:grpSpPr>
        <p:sp>
          <p:nvSpPr>
            <p:cNvPr id="84" name="Rounded Rectangle 83"/>
            <p:cNvSpPr/>
            <p:nvPr/>
          </p:nvSpPr>
          <p:spPr>
            <a:xfrm>
              <a:off x="12830" y="4031"/>
              <a:ext cx="1645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87" name="Picture 86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88" name="Text Box 87"/>
            <p:cNvSpPr txBox="1"/>
            <p:nvPr/>
          </p:nvSpPr>
          <p:spPr>
            <a:xfrm>
              <a:off x="12860" y="4067"/>
              <a:ext cx="133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Rol: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9190990" y="1710055"/>
            <a:ext cx="1277620" cy="292100"/>
            <a:chOff x="12463" y="4031"/>
            <a:chExt cx="2012" cy="460"/>
          </a:xfrm>
        </p:grpSpPr>
        <p:sp>
          <p:nvSpPr>
            <p:cNvPr id="91" name="Rounded Rectangle 90"/>
            <p:cNvSpPr/>
            <p:nvPr/>
          </p:nvSpPr>
          <p:spPr>
            <a:xfrm>
              <a:off x="12463" y="4031"/>
              <a:ext cx="2012" cy="460"/>
            </a:xfrm>
            <a:prstGeom prst="roundRect">
              <a:avLst>
                <a:gd name="adj" fmla="val 16485"/>
              </a:avLst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92" name="Picture 91" descr="caret-down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100" y="4117"/>
              <a:ext cx="288" cy="288"/>
            </a:xfrm>
            <a:prstGeom prst="rect">
              <a:avLst/>
            </a:prstGeom>
          </p:spPr>
        </p:pic>
        <p:sp>
          <p:nvSpPr>
            <p:cNvPr id="93" name="Text Box 92"/>
            <p:cNvSpPr txBox="1"/>
            <p:nvPr/>
          </p:nvSpPr>
          <p:spPr>
            <a:xfrm>
              <a:off x="12497" y="4067"/>
              <a:ext cx="169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rgbClr val="354155"/>
                  </a:solidFill>
                </a:rPr>
                <a:t>Estado: Todos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758170" y="1708785"/>
            <a:ext cx="1062990" cy="292100"/>
            <a:chOff x="16943" y="4051"/>
            <a:chExt cx="1674" cy="460"/>
          </a:xfrm>
        </p:grpSpPr>
        <p:sp>
          <p:nvSpPr>
            <p:cNvPr id="100" name="Rounded Rectangle 99"/>
            <p:cNvSpPr/>
            <p:nvPr/>
          </p:nvSpPr>
          <p:spPr>
            <a:xfrm>
              <a:off x="16943" y="4051"/>
              <a:ext cx="1675" cy="46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03" name="Picture 102" descr="download-fill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107" y="4138"/>
              <a:ext cx="288" cy="288"/>
            </a:xfrm>
            <a:prstGeom prst="rect">
              <a:avLst/>
            </a:prstGeom>
          </p:spPr>
        </p:pic>
        <p:sp>
          <p:nvSpPr>
            <p:cNvPr id="102" name="Text Box 101"/>
            <p:cNvSpPr txBox="1"/>
            <p:nvPr/>
          </p:nvSpPr>
          <p:spPr>
            <a:xfrm>
              <a:off x="17350" y="4089"/>
              <a:ext cx="1146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Exportar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2815590" y="2224405"/>
            <a:ext cx="9110980" cy="2916555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ound Same Side Corner Rectangle 107"/>
          <p:cNvSpPr/>
          <p:nvPr/>
        </p:nvSpPr>
        <p:spPr>
          <a:xfrm>
            <a:off x="2821940" y="2202815"/>
            <a:ext cx="9104630" cy="490220"/>
          </a:xfrm>
          <a:prstGeom prst="round2SameRect">
            <a:avLst>
              <a:gd name="adj1" fmla="val 31347"/>
              <a:gd name="adj2" fmla="val 0"/>
            </a:avLst>
          </a:prstGeom>
          <a:solidFill>
            <a:srgbClr val="F8FAFC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14955" y="319024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15590" y="367792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821940" y="416560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821940" y="4653280"/>
            <a:ext cx="9105265" cy="10795"/>
          </a:xfrm>
          <a:prstGeom prst="line">
            <a:avLst/>
          </a:prstGeom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 Box 131"/>
          <p:cNvSpPr txBox="1"/>
          <p:nvPr/>
        </p:nvSpPr>
        <p:spPr>
          <a:xfrm>
            <a:off x="2947670" y="2310130"/>
            <a:ext cx="86169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Nombre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3" name="Text Box 132"/>
          <p:cNvSpPr txBox="1"/>
          <p:nvPr/>
        </p:nvSpPr>
        <p:spPr>
          <a:xfrm>
            <a:off x="7635240" y="2310130"/>
            <a:ext cx="45720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Rol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4" name="Text Box 133"/>
          <p:cNvSpPr txBox="1"/>
          <p:nvPr/>
        </p:nvSpPr>
        <p:spPr>
          <a:xfrm>
            <a:off x="5010150" y="2310130"/>
            <a:ext cx="1424305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Departamento</a:t>
            </a:r>
            <a:endParaRPr lang="en-US" sz="1200" b="1">
              <a:solidFill>
                <a:srgbClr val="354155"/>
              </a:solidFill>
            </a:endParaRPr>
          </a:p>
        </p:txBody>
      </p:sp>
      <p:sp>
        <p:nvSpPr>
          <p:cNvPr id="135" name="Text Box 134"/>
          <p:cNvSpPr txBox="1"/>
          <p:nvPr/>
        </p:nvSpPr>
        <p:spPr>
          <a:xfrm>
            <a:off x="9293225" y="2310130"/>
            <a:ext cx="167386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sz="1200" b="1">
                <a:solidFill>
                  <a:srgbClr val="354155"/>
                </a:solidFill>
              </a:rPr>
              <a:t>Estado de cuenta</a:t>
            </a:r>
            <a:endParaRPr lang="en-US" sz="1200" b="1">
              <a:solidFill>
                <a:srgbClr val="354155"/>
              </a:solidFill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11150600" y="2817495"/>
            <a:ext cx="632460" cy="274320"/>
            <a:chOff x="17560" y="4437"/>
            <a:chExt cx="996" cy="432"/>
          </a:xfrm>
        </p:grpSpPr>
        <p:grpSp>
          <p:nvGrpSpPr>
            <p:cNvPr id="141" name="Group 140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29" name="Rounded Rectangle 128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0" name="Picture 129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11" name="Group 110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05" name="Picture 104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sp>
        <p:nvSpPr>
          <p:cNvPr id="203" name="Text Box 202"/>
          <p:cNvSpPr txBox="1"/>
          <p:nvPr/>
        </p:nvSpPr>
        <p:spPr>
          <a:xfrm>
            <a:off x="5010150" y="2755265"/>
            <a:ext cx="16643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Análisis Forense y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Respuesta a Incidentes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04" name="Text Box 203"/>
          <p:cNvSpPr txBox="1"/>
          <p:nvPr/>
        </p:nvSpPr>
        <p:spPr>
          <a:xfrm>
            <a:off x="2947670" y="2832100"/>
            <a:ext cx="10731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Elena Morales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663815" y="2832100"/>
            <a:ext cx="695325" cy="245110"/>
            <a:chOff x="12069" y="6588"/>
            <a:chExt cx="1095" cy="386"/>
          </a:xfrm>
        </p:grpSpPr>
        <p:sp>
          <p:nvSpPr>
            <p:cNvPr id="218" name="Rounded Rectangle 217"/>
            <p:cNvSpPr/>
            <p:nvPr/>
          </p:nvSpPr>
          <p:spPr>
            <a:xfrm>
              <a:off x="12069" y="6595"/>
              <a:ext cx="1068" cy="373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solidFill>
                <a:srgbClr val="FFED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Text Box 218"/>
            <p:cNvSpPr txBox="1"/>
            <p:nvPr/>
          </p:nvSpPr>
          <p:spPr>
            <a:xfrm>
              <a:off x="12069" y="6588"/>
              <a:ext cx="109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9A361A"/>
                  </a:solidFill>
                </a:rPr>
                <a:t>Director</a:t>
              </a:r>
              <a:endParaRPr lang="en-US" sz="1000">
                <a:solidFill>
                  <a:srgbClr val="9A361A"/>
                </a:solidFill>
              </a:endParaRPr>
            </a:p>
          </p:txBody>
        </p:sp>
      </p:grpSp>
      <p:sp>
        <p:nvSpPr>
          <p:cNvPr id="215" name="Text Box 214"/>
          <p:cNvSpPr txBox="1"/>
          <p:nvPr/>
        </p:nvSpPr>
        <p:spPr>
          <a:xfrm>
            <a:off x="5010150" y="3242945"/>
            <a:ext cx="12998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Almacenamiento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y Backup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16" name="Text Box 215"/>
          <p:cNvSpPr txBox="1"/>
          <p:nvPr/>
        </p:nvSpPr>
        <p:spPr>
          <a:xfrm>
            <a:off x="2947670" y="3319780"/>
            <a:ext cx="125984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Carmen Sánchez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6" name="Rounded Rectangle 235"/>
          <p:cNvSpPr/>
          <p:nvPr/>
        </p:nvSpPr>
        <p:spPr>
          <a:xfrm>
            <a:off x="7663815" y="3820795"/>
            <a:ext cx="992505" cy="236855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solidFill>
              <a:srgbClr val="FDF8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8" name="Text Box 237"/>
          <p:cNvSpPr txBox="1"/>
          <p:nvPr/>
        </p:nvSpPr>
        <p:spPr>
          <a:xfrm>
            <a:off x="5010150" y="374015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Infraestructura </a:t>
            </a:r>
            <a:endParaRPr lang="en-US" sz="1000">
              <a:solidFill>
                <a:srgbClr val="354155"/>
              </a:solidFill>
            </a:endParaRPr>
          </a:p>
          <a:p>
            <a:pPr algn="l"/>
            <a:r>
              <a:rPr lang="en-US" sz="1000">
                <a:solidFill>
                  <a:srgbClr val="354155"/>
                </a:solidFill>
              </a:rPr>
              <a:t>como Servicio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39" name="Text Box 238"/>
          <p:cNvSpPr txBox="1"/>
          <p:nvPr/>
        </p:nvSpPr>
        <p:spPr>
          <a:xfrm>
            <a:off x="2947670" y="3816985"/>
            <a:ext cx="101155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Isabel Castro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41" name="Text Box 240"/>
          <p:cNvSpPr txBox="1"/>
          <p:nvPr/>
        </p:nvSpPr>
        <p:spPr>
          <a:xfrm>
            <a:off x="7663815" y="3816985"/>
            <a:ext cx="99250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24A0D"/>
                </a:solidFill>
              </a:rPr>
              <a:t>Responsable</a:t>
            </a:r>
            <a:endParaRPr lang="en-US" sz="1000">
              <a:solidFill>
                <a:srgbClr val="824A0D"/>
              </a:solidFill>
            </a:endParaRPr>
          </a:p>
        </p:txBody>
      </p:sp>
      <p:sp>
        <p:nvSpPr>
          <p:cNvPr id="265" name="Rounded Rectangle 264"/>
          <p:cNvSpPr/>
          <p:nvPr/>
        </p:nvSpPr>
        <p:spPr>
          <a:xfrm>
            <a:off x="7663815" y="4297680"/>
            <a:ext cx="694690" cy="23685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solidFill>
              <a:srgbClr val="F2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7663815" y="4293870"/>
            <a:ext cx="67183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FF6D3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en-US" sz="1000">
                <a:solidFill>
                  <a:srgbClr val="8E54BD"/>
                </a:solidFill>
              </a:rPr>
              <a:t>Técnico</a:t>
            </a:r>
            <a:endParaRPr lang="en-US" sz="1000">
              <a:solidFill>
                <a:srgbClr val="8E54BD"/>
              </a:solidFill>
            </a:endParaRPr>
          </a:p>
        </p:txBody>
      </p:sp>
      <p:sp>
        <p:nvSpPr>
          <p:cNvPr id="267" name="Text Box 266"/>
          <p:cNvSpPr txBox="1"/>
          <p:nvPr/>
        </p:nvSpPr>
        <p:spPr>
          <a:xfrm>
            <a:off x="5010150" y="4217035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Soporte a Nodos Remotos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68" name="Text Box 267"/>
          <p:cNvSpPr txBox="1"/>
          <p:nvPr/>
        </p:nvSpPr>
        <p:spPr>
          <a:xfrm>
            <a:off x="2947670" y="4293870"/>
            <a:ext cx="8540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Jorge Silva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255" name="Group 254"/>
          <p:cNvGrpSpPr/>
          <p:nvPr/>
        </p:nvGrpSpPr>
        <p:grpSpPr>
          <a:xfrm>
            <a:off x="7663815" y="4773295"/>
            <a:ext cx="746125" cy="245110"/>
            <a:chOff x="12069" y="7517"/>
            <a:chExt cx="1175" cy="386"/>
          </a:xfrm>
        </p:grpSpPr>
        <p:sp>
          <p:nvSpPr>
            <p:cNvPr id="274" name="Rounded Rectangle 273"/>
            <p:cNvSpPr/>
            <p:nvPr/>
          </p:nvSpPr>
          <p:spPr>
            <a:xfrm>
              <a:off x="12069" y="7523"/>
              <a:ext cx="1175" cy="373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solidFill>
                <a:srgbClr val="FE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9" name="Text Box 278"/>
            <p:cNvSpPr txBox="1"/>
            <p:nvPr/>
          </p:nvSpPr>
          <p:spPr>
            <a:xfrm>
              <a:off x="12069" y="7517"/>
              <a:ext cx="117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A33030"/>
                  </a:solidFill>
                </a:rPr>
                <a:t>Logística</a:t>
              </a:r>
              <a:endParaRPr lang="en-US" sz="1000">
                <a:solidFill>
                  <a:srgbClr val="A33030"/>
                </a:solidFill>
              </a:endParaRPr>
            </a:p>
          </p:txBody>
        </p:sp>
      </p:grpSp>
      <p:sp>
        <p:nvSpPr>
          <p:cNvPr id="276" name="Text Box 275"/>
          <p:cNvSpPr txBox="1"/>
          <p:nvPr/>
        </p:nvSpPr>
        <p:spPr>
          <a:xfrm>
            <a:off x="5010150" y="469646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Reparación y Refabricación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277" name="Text Box 276"/>
          <p:cNvSpPr txBox="1"/>
          <p:nvPr/>
        </p:nvSpPr>
        <p:spPr>
          <a:xfrm>
            <a:off x="2947670" y="4773295"/>
            <a:ext cx="89281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>
                <a:solidFill>
                  <a:srgbClr val="354155"/>
                </a:solidFill>
              </a:rPr>
              <a:t>Carlos Ruiz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83" name="Rectangles 82"/>
          <p:cNvSpPr/>
          <p:nvPr/>
        </p:nvSpPr>
        <p:spPr>
          <a:xfrm>
            <a:off x="-2204720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-1832610" y="1679575"/>
            <a:ext cx="1073785" cy="473075"/>
          </a:xfrm>
          <a:prstGeom prst="rect">
            <a:avLst/>
          </a:prstGeom>
          <a:solidFill>
            <a:srgbClr val="35415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-1833880" y="2336165"/>
            <a:ext cx="1073785" cy="443865"/>
          </a:xfrm>
          <a:prstGeom prst="rect">
            <a:avLst/>
          </a:prstGeom>
          <a:solidFill>
            <a:srgbClr val="E5EAF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-1832610" y="2963545"/>
            <a:ext cx="1073785" cy="418465"/>
          </a:xfrm>
          <a:prstGeom prst="rect">
            <a:avLst/>
          </a:prstGeom>
          <a:solidFill>
            <a:srgbClr val="F8FA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s 85"/>
          <p:cNvSpPr/>
          <p:nvPr/>
        </p:nvSpPr>
        <p:spPr>
          <a:xfrm>
            <a:off x="-1833880" y="1045845"/>
            <a:ext cx="1073785" cy="450215"/>
          </a:xfrm>
          <a:prstGeom prst="rect">
            <a:avLst/>
          </a:prstGeom>
          <a:solidFill>
            <a:srgbClr val="095DD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Rectangles 70"/>
          <p:cNvSpPr/>
          <p:nvPr/>
        </p:nvSpPr>
        <p:spPr>
          <a:xfrm>
            <a:off x="-1832610" y="3565525"/>
            <a:ext cx="1073785" cy="418465"/>
          </a:xfrm>
          <a:prstGeom prst="rect">
            <a:avLst/>
          </a:prstGeom>
          <a:solidFill>
            <a:srgbClr val="E7F2F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Rectangles 80"/>
          <p:cNvSpPr/>
          <p:nvPr/>
        </p:nvSpPr>
        <p:spPr>
          <a:xfrm>
            <a:off x="-1832610" y="4155440"/>
            <a:ext cx="1073785" cy="443865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-1704340" y="320675"/>
            <a:ext cx="788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Basic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-1795145" y="1731645"/>
            <a:ext cx="4635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-1828165" y="2373630"/>
            <a:ext cx="6102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Border</a:t>
            </a:r>
            <a:endParaRPr lang="en-US" sz="1000"/>
          </a:p>
        </p:txBody>
      </p:sp>
      <p:sp>
        <p:nvSpPr>
          <p:cNvPr id="99" name="Text Box 98"/>
          <p:cNvSpPr txBox="1"/>
          <p:nvPr/>
        </p:nvSpPr>
        <p:spPr>
          <a:xfrm>
            <a:off x="-1818640" y="297307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101" name="Text Box 100"/>
          <p:cNvSpPr txBox="1"/>
          <p:nvPr/>
        </p:nvSpPr>
        <p:spPr>
          <a:xfrm>
            <a:off x="-1824990" y="3564890"/>
            <a:ext cx="8559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Button left</a:t>
            </a:r>
            <a:endParaRPr lang="en-US" sz="1000"/>
          </a:p>
          <a:p>
            <a:r>
              <a:rPr lang="en-US" sz="1000"/>
              <a:t>Bg</a:t>
            </a:r>
            <a:endParaRPr lang="en-US" sz="1000"/>
          </a:p>
        </p:txBody>
      </p:sp>
      <p:sp>
        <p:nvSpPr>
          <p:cNvPr id="104" name="Text Box 103"/>
          <p:cNvSpPr txBox="1"/>
          <p:nvPr/>
        </p:nvSpPr>
        <p:spPr>
          <a:xfrm>
            <a:off x="-1814195" y="4192905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PlaceHolder</a:t>
            </a:r>
            <a:endParaRPr lang="en-US" sz="1000"/>
          </a:p>
        </p:txBody>
      </p:sp>
      <p:grpSp>
        <p:nvGrpSpPr>
          <p:cNvPr id="116" name="Group 115"/>
          <p:cNvGrpSpPr/>
          <p:nvPr/>
        </p:nvGrpSpPr>
        <p:grpSpPr>
          <a:xfrm>
            <a:off x="11150600" y="3305175"/>
            <a:ext cx="632460" cy="274320"/>
            <a:chOff x="17560" y="4437"/>
            <a:chExt cx="996" cy="432"/>
          </a:xfrm>
        </p:grpSpPr>
        <p:grpSp>
          <p:nvGrpSpPr>
            <p:cNvPr id="117" name="Group 116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19" name="Picture 118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20" name="Group 119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2" name="Picture 121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79" name="Group 178"/>
          <p:cNvGrpSpPr/>
          <p:nvPr/>
        </p:nvGrpSpPr>
        <p:grpSpPr>
          <a:xfrm>
            <a:off x="11150600" y="3802380"/>
            <a:ext cx="632460" cy="274320"/>
            <a:chOff x="17960" y="4837"/>
            <a:chExt cx="996" cy="432"/>
          </a:xfrm>
        </p:grpSpPr>
        <p:grpSp>
          <p:nvGrpSpPr>
            <p:cNvPr id="124" name="Group 123"/>
            <p:cNvGrpSpPr/>
            <p:nvPr/>
          </p:nvGrpSpPr>
          <p:grpSpPr>
            <a:xfrm rot="0">
              <a:off x="17960" y="4837"/>
              <a:ext cx="432" cy="432"/>
              <a:chOff x="16172" y="6076"/>
              <a:chExt cx="432" cy="432"/>
            </a:xfrm>
          </p:grpSpPr>
          <p:sp>
            <p:nvSpPr>
              <p:cNvPr id="125" name="Rounded Rectangle 12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26" name="Picture 125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31" name="Group 130"/>
            <p:cNvGrpSpPr/>
            <p:nvPr/>
          </p:nvGrpSpPr>
          <p:grpSpPr>
            <a:xfrm rot="0">
              <a:off x="18524" y="4837"/>
              <a:ext cx="432" cy="432"/>
              <a:chOff x="18124" y="4437"/>
              <a:chExt cx="432" cy="432"/>
            </a:xfrm>
          </p:grpSpPr>
          <p:sp>
            <p:nvSpPr>
              <p:cNvPr id="137" name="Rounded Rectangle 136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38" name="Picture 13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40" name="Group 139"/>
          <p:cNvGrpSpPr/>
          <p:nvPr/>
        </p:nvGrpSpPr>
        <p:grpSpPr>
          <a:xfrm>
            <a:off x="11150600" y="4279265"/>
            <a:ext cx="632460" cy="274320"/>
            <a:chOff x="17560" y="4437"/>
            <a:chExt cx="996" cy="432"/>
          </a:xfrm>
        </p:grpSpPr>
        <p:grpSp>
          <p:nvGrpSpPr>
            <p:cNvPr id="143" name="Group 142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45" name="Rounded Rectangle 144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47" name="Picture 146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48" name="Group 147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49" name="Rounded Rectangle 148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0" name="Picture 149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151" name="Group 150"/>
          <p:cNvGrpSpPr/>
          <p:nvPr/>
        </p:nvGrpSpPr>
        <p:grpSpPr>
          <a:xfrm>
            <a:off x="11150600" y="4758690"/>
            <a:ext cx="632460" cy="274320"/>
            <a:chOff x="17560" y="4437"/>
            <a:chExt cx="996" cy="432"/>
          </a:xfrm>
        </p:grpSpPr>
        <p:grpSp>
          <p:nvGrpSpPr>
            <p:cNvPr id="152" name="Group 151"/>
            <p:cNvGrpSpPr/>
            <p:nvPr/>
          </p:nvGrpSpPr>
          <p:grpSpPr>
            <a:xfrm rot="0">
              <a:off x="17560" y="4437"/>
              <a:ext cx="432" cy="432"/>
              <a:chOff x="16172" y="6076"/>
              <a:chExt cx="432" cy="432"/>
            </a:xfrm>
          </p:grpSpPr>
          <p:sp>
            <p:nvSpPr>
              <p:cNvPr id="153" name="Rounded Rectangle 152"/>
              <p:cNvSpPr/>
              <p:nvPr/>
            </p:nvSpPr>
            <p:spPr>
              <a:xfrm>
                <a:off x="16172" y="6076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6B6D4"/>
              </a:solidFill>
              <a:ln>
                <a:solidFill>
                  <a:srgbClr val="06B6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54" name="Picture 153" descr="note-pencil-fill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3" y="6148"/>
                <a:ext cx="288" cy="288"/>
              </a:xfrm>
              <a:prstGeom prst="rect">
                <a:avLst/>
              </a:prstGeom>
            </p:spPr>
          </p:pic>
        </p:grpSp>
        <p:grpSp>
          <p:nvGrpSpPr>
            <p:cNvPr id="155" name="Group 154"/>
            <p:cNvGrpSpPr/>
            <p:nvPr/>
          </p:nvGrpSpPr>
          <p:grpSpPr>
            <a:xfrm>
              <a:off x="18124" y="4437"/>
              <a:ext cx="432" cy="432"/>
              <a:chOff x="18124" y="4437"/>
              <a:chExt cx="432" cy="432"/>
            </a:xfrm>
          </p:grpSpPr>
          <p:sp>
            <p:nvSpPr>
              <p:cNvPr id="156" name="Rounded Rectangle 155"/>
              <p:cNvSpPr/>
              <p:nvPr/>
            </p:nvSpPr>
            <p:spPr>
              <a:xfrm>
                <a:off x="18124" y="4437"/>
                <a:ext cx="432" cy="432"/>
              </a:xfrm>
              <a:prstGeom prst="roundRect">
                <a:avLst>
                  <a:gd name="adj" fmla="val 26731"/>
                </a:avLst>
              </a:prstGeom>
              <a:solidFill>
                <a:srgbClr val="095DD0"/>
              </a:solidFill>
              <a:ln>
                <a:solidFill>
                  <a:srgbClr val="095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168" name="Picture 167" descr="toggle-left-fill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8196" y="4510"/>
                <a:ext cx="288" cy="288"/>
              </a:xfrm>
              <a:prstGeom prst="rect">
                <a:avLst/>
              </a:prstGeom>
            </p:spPr>
          </p:pic>
        </p:grpSp>
      </p:grpSp>
      <p:grpSp>
        <p:nvGrpSpPr>
          <p:cNvPr id="225" name="Group 224"/>
          <p:cNvGrpSpPr/>
          <p:nvPr/>
        </p:nvGrpSpPr>
        <p:grpSpPr>
          <a:xfrm>
            <a:off x="9293225" y="2832100"/>
            <a:ext cx="808990" cy="245110"/>
            <a:chOff x="14635" y="4460"/>
            <a:chExt cx="1274" cy="386"/>
          </a:xfrm>
        </p:grpSpPr>
        <p:grpSp>
          <p:nvGrpSpPr>
            <p:cNvPr id="201" name="Group 200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02" name="Rounded Rectangle 201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08" name="Text Box 207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09" name="Oval 208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81" name="Rectangles 280"/>
          <p:cNvSpPr/>
          <p:nvPr/>
        </p:nvSpPr>
        <p:spPr>
          <a:xfrm>
            <a:off x="-4302125" y="68897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2" name="Rectangles 281"/>
          <p:cNvSpPr/>
          <p:nvPr/>
        </p:nvSpPr>
        <p:spPr>
          <a:xfrm>
            <a:off x="-3931285" y="1647825"/>
            <a:ext cx="1073785" cy="473075"/>
          </a:xfrm>
          <a:prstGeom prst="rect">
            <a:avLst/>
          </a:prstGeom>
          <a:solidFill>
            <a:srgbClr val="DCFCE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3" name="Rectangles 282"/>
          <p:cNvSpPr/>
          <p:nvPr/>
        </p:nvSpPr>
        <p:spPr>
          <a:xfrm>
            <a:off x="-3932555" y="2304415"/>
            <a:ext cx="1073785" cy="443865"/>
          </a:xfrm>
          <a:prstGeom prst="rect">
            <a:avLst/>
          </a:prstGeom>
          <a:solidFill>
            <a:srgbClr val="2344A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4" name="Rectangles 283"/>
          <p:cNvSpPr/>
          <p:nvPr/>
        </p:nvSpPr>
        <p:spPr>
          <a:xfrm>
            <a:off x="-3931285" y="2931795"/>
            <a:ext cx="1073785" cy="418465"/>
          </a:xfrm>
          <a:prstGeom prst="rect">
            <a:avLst/>
          </a:prstGeom>
          <a:solidFill>
            <a:srgbClr val="DBEA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5" name="Rectangles 284"/>
          <p:cNvSpPr/>
          <p:nvPr/>
        </p:nvSpPr>
        <p:spPr>
          <a:xfrm>
            <a:off x="-3932555" y="1014095"/>
            <a:ext cx="1073785" cy="450215"/>
          </a:xfrm>
          <a:prstGeom prst="rect">
            <a:avLst/>
          </a:prstGeom>
          <a:solidFill>
            <a:srgbClr val="30784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6" name="Rectangles 285"/>
          <p:cNvSpPr/>
          <p:nvPr/>
        </p:nvSpPr>
        <p:spPr>
          <a:xfrm>
            <a:off x="-3931285" y="3533775"/>
            <a:ext cx="1073785" cy="418465"/>
          </a:xfrm>
          <a:prstGeom prst="rect">
            <a:avLst/>
          </a:prstGeom>
          <a:solidFill>
            <a:srgbClr val="A2442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7" name="Rectangles 286"/>
          <p:cNvSpPr/>
          <p:nvPr/>
        </p:nvSpPr>
        <p:spPr>
          <a:xfrm>
            <a:off x="-3931285" y="4123690"/>
            <a:ext cx="1073785" cy="443865"/>
          </a:xfrm>
          <a:prstGeom prst="rect">
            <a:avLst/>
          </a:prstGeom>
          <a:solidFill>
            <a:srgbClr val="FFEDD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8" name="Rectangles 287"/>
          <p:cNvSpPr/>
          <p:nvPr/>
        </p:nvSpPr>
        <p:spPr>
          <a:xfrm>
            <a:off x="-3930650" y="4789805"/>
            <a:ext cx="1073785" cy="418465"/>
          </a:xfrm>
          <a:prstGeom prst="rect">
            <a:avLst/>
          </a:prstGeom>
          <a:solidFill>
            <a:srgbClr val="A3303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9" name="Rectangles 288"/>
          <p:cNvSpPr/>
          <p:nvPr/>
        </p:nvSpPr>
        <p:spPr>
          <a:xfrm>
            <a:off x="-3930650" y="5379720"/>
            <a:ext cx="1073785" cy="443865"/>
          </a:xfrm>
          <a:prstGeom prst="rect">
            <a:avLst/>
          </a:prstGeom>
          <a:solidFill>
            <a:srgbClr val="FEE2E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Text Box 209"/>
          <p:cNvSpPr txBox="1"/>
          <p:nvPr/>
        </p:nvSpPr>
        <p:spPr>
          <a:xfrm>
            <a:off x="-4302125" y="299085"/>
            <a:ext cx="18732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Tags for States</a:t>
            </a:r>
            <a:endParaRPr lang="en-US"/>
          </a:p>
        </p:txBody>
      </p:sp>
      <p:sp>
        <p:nvSpPr>
          <p:cNvPr id="211" name="Text Box 210"/>
          <p:cNvSpPr txBox="1"/>
          <p:nvPr/>
        </p:nvSpPr>
        <p:spPr>
          <a:xfrm>
            <a:off x="-3932555" y="10128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Operational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2" name="Text Box 211"/>
          <p:cNvSpPr txBox="1"/>
          <p:nvPr/>
        </p:nvSpPr>
        <p:spPr>
          <a:xfrm>
            <a:off x="-3930650" y="232727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Being Transfer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3" name="Text Box 212"/>
          <p:cNvSpPr txBox="1"/>
          <p:nvPr/>
        </p:nvSpPr>
        <p:spPr>
          <a:xfrm>
            <a:off x="-3910330" y="353758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Maintenance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1" name="Text Box 220"/>
          <p:cNvSpPr txBox="1"/>
          <p:nvPr/>
        </p:nvSpPr>
        <p:spPr>
          <a:xfrm>
            <a:off x="-3930650" y="479742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Decommissioning Font</a:t>
            </a:r>
            <a:endParaRPr lang="en-US" sz="1000">
              <a:solidFill>
                <a:schemeClr val="bg1"/>
              </a:solidFill>
            </a:endParaRPr>
          </a:p>
        </p:txBody>
      </p:sp>
      <p:grpSp>
        <p:nvGrpSpPr>
          <p:cNvPr id="226" name="Group 225"/>
          <p:cNvGrpSpPr/>
          <p:nvPr/>
        </p:nvGrpSpPr>
        <p:grpSpPr>
          <a:xfrm>
            <a:off x="9293225" y="3319780"/>
            <a:ext cx="808990" cy="245110"/>
            <a:chOff x="14635" y="4460"/>
            <a:chExt cx="1274" cy="386"/>
          </a:xfrm>
        </p:grpSpPr>
        <p:grpSp>
          <p:nvGrpSpPr>
            <p:cNvPr id="227" name="Group 226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28" name="Rounded Rectangle 227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29" name="Text Box 228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30" name="Oval 229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9293225" y="4290060"/>
            <a:ext cx="808990" cy="245110"/>
            <a:chOff x="14635" y="4460"/>
            <a:chExt cx="1274" cy="386"/>
          </a:xfrm>
        </p:grpSpPr>
        <p:grpSp>
          <p:nvGrpSpPr>
            <p:cNvPr id="232" name="Group 231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33" name="Rounded Rectangle 232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34" name="Text Box 233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3" name="Oval 24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9293225" y="4777740"/>
            <a:ext cx="808990" cy="245110"/>
            <a:chOff x="14635" y="4460"/>
            <a:chExt cx="1274" cy="386"/>
          </a:xfrm>
        </p:grpSpPr>
        <p:grpSp>
          <p:nvGrpSpPr>
            <p:cNvPr id="245" name="Group 244"/>
            <p:cNvGrpSpPr/>
            <p:nvPr/>
          </p:nvGrpSpPr>
          <p:grpSpPr>
            <a:xfrm>
              <a:off x="14635" y="4460"/>
              <a:ext cx="1274" cy="386"/>
              <a:chOff x="12069" y="5820"/>
              <a:chExt cx="1274" cy="386"/>
            </a:xfrm>
          </p:grpSpPr>
          <p:sp>
            <p:nvSpPr>
              <p:cNvPr id="246" name="Rounded Rectangle 245"/>
              <p:cNvSpPr/>
              <p:nvPr/>
            </p:nvSpPr>
            <p:spPr>
              <a:xfrm>
                <a:off x="12069" y="5826"/>
                <a:ext cx="1274" cy="373"/>
              </a:xfrm>
              <a:prstGeom prst="roundRect">
                <a:avLst>
                  <a:gd name="adj" fmla="val 50000"/>
                </a:avLst>
              </a:prstGeom>
              <a:solidFill>
                <a:srgbClr val="DCFCE7"/>
              </a:solidFill>
              <a:ln>
                <a:solidFill>
                  <a:srgbClr val="DCFC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47" name="Text Box 246"/>
              <p:cNvSpPr txBox="1"/>
              <p:nvPr/>
            </p:nvSpPr>
            <p:spPr>
              <a:xfrm>
                <a:off x="12434" y="5820"/>
                <a:ext cx="90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p>
                <a:pPr algn="r"/>
                <a:r>
                  <a:rPr lang="en-US" sz="1000">
                    <a:solidFill>
                      <a:srgbClr val="3A8054"/>
                    </a:solidFill>
                  </a:rPr>
                  <a:t>Activo</a:t>
                </a:r>
                <a:endParaRPr lang="en-US" sz="1000">
                  <a:solidFill>
                    <a:srgbClr val="3A8054"/>
                  </a:solidFill>
                </a:endParaRPr>
              </a:p>
            </p:txBody>
          </p:sp>
        </p:grpSp>
        <p:sp>
          <p:nvSpPr>
            <p:cNvPr id="248" name="Oval 247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21C45D"/>
            </a:solidFill>
            <a:ln>
              <a:solidFill>
                <a:srgbClr val="21C4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9293225" y="3816985"/>
            <a:ext cx="897890" cy="245110"/>
            <a:chOff x="14635" y="4460"/>
            <a:chExt cx="1414" cy="386"/>
          </a:xfrm>
        </p:grpSpPr>
        <p:grpSp>
          <p:nvGrpSpPr>
            <p:cNvPr id="250" name="Group 249"/>
            <p:cNvGrpSpPr/>
            <p:nvPr/>
          </p:nvGrpSpPr>
          <p:grpSpPr>
            <a:xfrm>
              <a:off x="14635" y="4460"/>
              <a:ext cx="1414" cy="386"/>
              <a:chOff x="12069" y="5820"/>
              <a:chExt cx="1414" cy="386"/>
            </a:xfrm>
          </p:grpSpPr>
          <p:sp>
            <p:nvSpPr>
              <p:cNvPr id="251" name="Rounded Rectangle 250"/>
              <p:cNvSpPr/>
              <p:nvPr/>
            </p:nvSpPr>
            <p:spPr>
              <a:xfrm>
                <a:off x="12069" y="5826"/>
                <a:ext cx="1414" cy="373"/>
              </a:xfrm>
              <a:prstGeom prst="roundRect">
                <a:avLst>
                  <a:gd name="adj" fmla="val 50000"/>
                </a:avLst>
              </a:prstGeom>
              <a:solidFill>
                <a:srgbClr val="E5E7EB"/>
              </a:solidFill>
              <a:ln>
                <a:solidFill>
                  <a:srgbClr val="E5E7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52" name="Text Box 251"/>
              <p:cNvSpPr txBox="1"/>
              <p:nvPr/>
            </p:nvSpPr>
            <p:spPr>
              <a:xfrm>
                <a:off x="12262" y="5820"/>
                <a:ext cx="1221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8FF6D3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p>
                <a:pPr algn="r"/>
                <a:r>
                  <a:rPr lang="en-US" sz="1000">
                    <a:solidFill>
                      <a:srgbClr val="354155"/>
                    </a:solidFill>
                  </a:rPr>
                  <a:t>Inactivo</a:t>
                </a:r>
                <a:endParaRPr lang="en-US" sz="1000">
                  <a:solidFill>
                    <a:srgbClr val="354155"/>
                  </a:solidFill>
                </a:endParaRPr>
              </a:p>
            </p:txBody>
          </p:sp>
        </p:grpSp>
        <p:sp>
          <p:nvSpPr>
            <p:cNvPr id="253" name="Oval 252"/>
            <p:cNvSpPr/>
            <p:nvPr/>
          </p:nvSpPr>
          <p:spPr>
            <a:xfrm>
              <a:off x="14854" y="4582"/>
              <a:ext cx="144" cy="144"/>
            </a:xfrm>
            <a:prstGeom prst="ellipse">
              <a:avLst/>
            </a:prstGeom>
            <a:solidFill>
              <a:srgbClr val="686F7D"/>
            </a:solidFill>
            <a:ln>
              <a:solidFill>
                <a:srgbClr val="6B72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7635240" y="3319780"/>
            <a:ext cx="1082675" cy="245110"/>
            <a:chOff x="12069" y="7517"/>
            <a:chExt cx="1705" cy="386"/>
          </a:xfrm>
        </p:grpSpPr>
        <p:sp>
          <p:nvSpPr>
            <p:cNvPr id="257" name="Rounded Rectangle 256"/>
            <p:cNvSpPr/>
            <p:nvPr/>
          </p:nvSpPr>
          <p:spPr>
            <a:xfrm>
              <a:off x="12069" y="7523"/>
              <a:ext cx="1705" cy="373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solidFill>
                <a:srgbClr val="DBEAF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8" name="Text Box 257"/>
            <p:cNvSpPr txBox="1"/>
            <p:nvPr/>
          </p:nvSpPr>
          <p:spPr>
            <a:xfrm>
              <a:off x="12069" y="7517"/>
              <a:ext cx="170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FF6D3"/>
                  </a:solidFill>
                </a14:hiddenFill>
              </a:ext>
            </a:extLst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55B8"/>
                  </a:solidFill>
                </a:rPr>
                <a:t>Administrador</a:t>
              </a:r>
              <a:endParaRPr lang="en-US" sz="1000">
                <a:solidFill>
                  <a:srgbClr val="3555B8"/>
                </a:solidFill>
              </a:endParaRPr>
            </a:p>
          </p:txBody>
        </p:sp>
      </p:grpSp>
      <p:sp>
        <p:nvSpPr>
          <p:cNvPr id="48" name="Rectangles 47"/>
          <p:cNvSpPr/>
          <p:nvPr/>
        </p:nvSpPr>
        <p:spPr>
          <a:xfrm>
            <a:off x="0" y="635"/>
            <a:ext cx="12255500" cy="6896100"/>
          </a:xfrm>
          <a:prstGeom prst="rect">
            <a:avLst/>
          </a:prstGeom>
          <a:solidFill>
            <a:srgbClr val="354155">
              <a:alpha val="8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3747135" y="1504950"/>
            <a:ext cx="4698365" cy="3727450"/>
          </a:xfrm>
          <a:prstGeom prst="roundRect">
            <a:avLst>
              <a:gd name="adj" fmla="val 423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5" name="Text Box 114"/>
          <p:cNvSpPr txBox="1"/>
          <p:nvPr/>
        </p:nvSpPr>
        <p:spPr>
          <a:xfrm>
            <a:off x="3915410" y="1695450"/>
            <a:ext cx="25520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solidFill>
                  <a:srgbClr val="354155"/>
                </a:solidFill>
                <a:sym typeface="+mn-ea"/>
              </a:rPr>
              <a:t>Editar Usuario</a:t>
            </a:r>
            <a:endParaRPr lang="en-US" sz="1400" b="1">
              <a:solidFill>
                <a:srgbClr val="354155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024630" y="2506345"/>
            <a:ext cx="4206875" cy="330200"/>
          </a:xfrm>
          <a:prstGeom prst="roundRect">
            <a:avLst/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Text Box 59"/>
          <p:cNvSpPr txBox="1"/>
          <p:nvPr/>
        </p:nvSpPr>
        <p:spPr>
          <a:xfrm>
            <a:off x="3940810" y="2261235"/>
            <a:ext cx="75374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Nombre*</a:t>
            </a:r>
            <a:endParaRPr lang="en-US" sz="1000">
              <a:solidFill>
                <a:srgbClr val="354155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022090" y="3194050"/>
            <a:ext cx="2011680" cy="330200"/>
          </a:xfrm>
          <a:prstGeom prst="roundRect">
            <a:avLst/>
          </a:prstGeom>
          <a:solidFill>
            <a:schemeClr val="bg1"/>
          </a:solidFill>
          <a:ln>
            <a:solidFill>
              <a:srgbClr val="E5EA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Text Box 69"/>
          <p:cNvSpPr txBox="1"/>
          <p:nvPr/>
        </p:nvSpPr>
        <p:spPr>
          <a:xfrm>
            <a:off x="3940810" y="2941320"/>
            <a:ext cx="4476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354155"/>
                </a:solidFill>
              </a:rPr>
              <a:t>Rol*</a:t>
            </a:r>
            <a:endParaRPr lang="en-US" sz="1000">
              <a:solidFill>
                <a:srgbClr val="354155"/>
              </a:solidFill>
            </a:endParaRPr>
          </a:p>
        </p:txBody>
      </p:sp>
      <p:grpSp>
        <p:nvGrpSpPr>
          <p:cNvPr id="72" name="Group 71"/>
          <p:cNvGrpSpPr/>
          <p:nvPr/>
        </p:nvGrpSpPr>
        <p:grpSpPr>
          <a:xfrm rot="0">
            <a:off x="6137910" y="2941320"/>
            <a:ext cx="2092960" cy="582930"/>
            <a:chOff x="9642" y="2963"/>
            <a:chExt cx="3296" cy="918"/>
          </a:xfrm>
        </p:grpSpPr>
        <p:sp>
          <p:nvSpPr>
            <p:cNvPr id="73" name="Rounded Rectangle 72"/>
            <p:cNvSpPr/>
            <p:nvPr/>
          </p:nvSpPr>
          <p:spPr>
            <a:xfrm>
              <a:off x="9770" y="3361"/>
              <a:ext cx="3168" cy="5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4" name="Text Box 73"/>
            <p:cNvSpPr txBox="1"/>
            <p:nvPr/>
          </p:nvSpPr>
          <p:spPr>
            <a:xfrm>
              <a:off x="9642" y="2963"/>
              <a:ext cx="1843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Departamento*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 rot="0">
            <a:off x="3940810" y="3629025"/>
            <a:ext cx="4290695" cy="575310"/>
            <a:chOff x="6206" y="4040"/>
            <a:chExt cx="6757" cy="906"/>
          </a:xfrm>
        </p:grpSpPr>
        <p:sp>
          <p:nvSpPr>
            <p:cNvPr id="77" name="Rounded Rectangle 76"/>
            <p:cNvSpPr/>
            <p:nvPr/>
          </p:nvSpPr>
          <p:spPr>
            <a:xfrm>
              <a:off x="6338" y="4426"/>
              <a:ext cx="6625" cy="5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4" name="Text Box 93"/>
            <p:cNvSpPr txBox="1"/>
            <p:nvPr/>
          </p:nvSpPr>
          <p:spPr>
            <a:xfrm>
              <a:off x="6206" y="4040"/>
              <a:ext cx="1604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Contrasena*: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grpSp>
        <p:nvGrpSpPr>
          <p:cNvPr id="223" name="Group 222"/>
          <p:cNvGrpSpPr/>
          <p:nvPr/>
        </p:nvGrpSpPr>
        <p:grpSpPr>
          <a:xfrm rot="0">
            <a:off x="7255510" y="4652645"/>
            <a:ext cx="975995" cy="337820"/>
            <a:chOff x="11426" y="8615"/>
            <a:chExt cx="1537" cy="532"/>
          </a:xfrm>
        </p:grpSpPr>
        <p:sp>
          <p:nvSpPr>
            <p:cNvPr id="299" name="Rounded Rectangle 298"/>
            <p:cNvSpPr/>
            <p:nvPr/>
          </p:nvSpPr>
          <p:spPr>
            <a:xfrm>
              <a:off x="11426" y="8615"/>
              <a:ext cx="1537" cy="532"/>
            </a:xfrm>
            <a:prstGeom prst="roundRect">
              <a:avLst>
                <a:gd name="adj" fmla="val 19005"/>
              </a:avLst>
            </a:prstGeom>
            <a:solidFill>
              <a:srgbClr val="095DD0"/>
            </a:solidFill>
            <a:ln>
              <a:solidFill>
                <a:srgbClr val="235DE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01" name="Text Box 300"/>
            <p:cNvSpPr txBox="1"/>
            <p:nvPr/>
          </p:nvSpPr>
          <p:spPr>
            <a:xfrm>
              <a:off x="11856" y="8688"/>
              <a:ext cx="110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en-US" sz="1000">
                  <a:solidFill>
                    <a:schemeClr val="bg1"/>
                  </a:solidFill>
                </a:rPr>
                <a:t>Guardar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pic>
          <p:nvPicPr>
            <p:cNvPr id="97" name="Picture 96" descr="floppy-disk-back-fill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603" y="8737"/>
              <a:ext cx="288" cy="288"/>
            </a:xfrm>
            <a:prstGeom prst="rect">
              <a:avLst/>
            </a:prstGeom>
          </p:spPr>
        </p:pic>
      </p:grpSp>
      <p:grpSp>
        <p:nvGrpSpPr>
          <p:cNvPr id="222" name="Group 221"/>
          <p:cNvGrpSpPr/>
          <p:nvPr/>
        </p:nvGrpSpPr>
        <p:grpSpPr>
          <a:xfrm rot="0">
            <a:off x="6155055" y="4653915"/>
            <a:ext cx="1002665" cy="336550"/>
            <a:chOff x="9387" y="7348"/>
            <a:chExt cx="1579" cy="530"/>
          </a:xfrm>
        </p:grpSpPr>
        <p:sp>
          <p:nvSpPr>
            <p:cNvPr id="303" name="Rounded Rectangle 302"/>
            <p:cNvSpPr/>
            <p:nvPr/>
          </p:nvSpPr>
          <p:spPr>
            <a:xfrm>
              <a:off x="9387" y="7348"/>
              <a:ext cx="1579" cy="531"/>
            </a:xfrm>
            <a:prstGeom prst="roundRect">
              <a:avLst>
                <a:gd name="adj" fmla="val 16485"/>
              </a:avLst>
            </a:prstGeom>
            <a:solidFill>
              <a:srgbClr val="E5EAF1"/>
            </a:solidFill>
            <a:ln>
              <a:solidFill>
                <a:srgbClr val="E5E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27" name="Picture 126" descr="x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546" y="7470"/>
              <a:ext cx="288" cy="288"/>
            </a:xfrm>
            <a:prstGeom prst="rect">
              <a:avLst/>
            </a:prstGeom>
          </p:spPr>
        </p:pic>
        <p:sp>
          <p:nvSpPr>
            <p:cNvPr id="305" name="Text Box 304"/>
            <p:cNvSpPr txBox="1"/>
            <p:nvPr/>
          </p:nvSpPr>
          <p:spPr>
            <a:xfrm>
              <a:off x="9794" y="7420"/>
              <a:ext cx="1172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rgbClr val="354155"/>
                  </a:solidFill>
                </a:rPr>
                <a:t>Cancelar</a:t>
              </a:r>
              <a:endParaRPr lang="en-US" sz="1000">
                <a:solidFill>
                  <a:srgbClr val="354155"/>
                </a:solidFill>
              </a:endParaRPr>
            </a:p>
          </p:txBody>
        </p:sp>
      </p:grpSp>
      <p:pic>
        <p:nvPicPr>
          <p:cNvPr id="128" name="Picture 127" descr="caret-dow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125" y="3255645"/>
            <a:ext cx="182880" cy="182880"/>
          </a:xfrm>
          <a:prstGeom prst="rect">
            <a:avLst/>
          </a:prstGeom>
        </p:spPr>
      </p:pic>
      <p:pic>
        <p:nvPicPr>
          <p:cNvPr id="139" name="Picture 138" descr="caret-dow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88660" y="3267710"/>
            <a:ext cx="182880" cy="182880"/>
          </a:xfrm>
          <a:prstGeom prst="rect">
            <a:avLst/>
          </a:prstGeom>
        </p:spPr>
      </p:pic>
      <p:sp>
        <p:nvSpPr>
          <p:cNvPr id="49" name="Text Box 48"/>
          <p:cNvSpPr txBox="1"/>
          <p:nvPr/>
        </p:nvSpPr>
        <p:spPr>
          <a:xfrm>
            <a:off x="4020820" y="2548890"/>
            <a:ext cx="137096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 b="1">
                <a:solidFill>
                  <a:srgbClr val="354155"/>
                </a:solidFill>
              </a:rPr>
              <a:t>Carmen Sánchez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4024630" y="3236595"/>
            <a:ext cx="76771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 b="1">
                <a:solidFill>
                  <a:srgbClr val="354155"/>
                </a:solidFill>
              </a:rPr>
              <a:t>Director</a:t>
            </a:r>
            <a:endParaRPr lang="en-US" sz="1000" b="1">
              <a:solidFill>
                <a:srgbClr val="354155"/>
              </a:solidFill>
            </a:endParaRPr>
          </a:p>
        </p:txBody>
      </p:sp>
      <p:sp>
        <p:nvSpPr>
          <p:cNvPr id="75" name="Text Box 74"/>
          <p:cNvSpPr txBox="1"/>
          <p:nvPr/>
        </p:nvSpPr>
        <p:spPr>
          <a:xfrm>
            <a:off x="6219190" y="3224530"/>
            <a:ext cx="181102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000" b="1">
                <a:solidFill>
                  <a:srgbClr val="354155"/>
                </a:solidFill>
                <a:sym typeface="+mn-ea"/>
              </a:rPr>
              <a:t>Análisis Forense y d ...</a:t>
            </a:r>
            <a:endParaRPr lang="en-US" sz="1000" b="1">
              <a:solidFill>
                <a:srgbClr val="35415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" name="Rectangles 82"/>
          <p:cNvSpPr/>
          <p:nvPr/>
        </p:nvSpPr>
        <p:spPr>
          <a:xfrm>
            <a:off x="4690745" y="79311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5062855" y="1783715"/>
            <a:ext cx="1073785" cy="473075"/>
          </a:xfrm>
          <a:prstGeom prst="rect">
            <a:avLst/>
          </a:prstGeom>
          <a:solidFill>
            <a:srgbClr val="35415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5061585" y="2440305"/>
            <a:ext cx="1073785" cy="443865"/>
          </a:xfrm>
          <a:prstGeom prst="rect">
            <a:avLst/>
          </a:prstGeom>
          <a:solidFill>
            <a:srgbClr val="E5EAF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5062855" y="3067685"/>
            <a:ext cx="1073785" cy="418465"/>
          </a:xfrm>
          <a:prstGeom prst="rect">
            <a:avLst/>
          </a:prstGeom>
          <a:solidFill>
            <a:srgbClr val="F8FA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s 85"/>
          <p:cNvSpPr/>
          <p:nvPr/>
        </p:nvSpPr>
        <p:spPr>
          <a:xfrm>
            <a:off x="5061585" y="1149985"/>
            <a:ext cx="1073785" cy="450215"/>
          </a:xfrm>
          <a:prstGeom prst="rect">
            <a:avLst/>
          </a:prstGeom>
          <a:solidFill>
            <a:srgbClr val="095DD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Rectangles 70"/>
          <p:cNvSpPr/>
          <p:nvPr/>
        </p:nvSpPr>
        <p:spPr>
          <a:xfrm>
            <a:off x="5062855" y="3669665"/>
            <a:ext cx="1073785" cy="418465"/>
          </a:xfrm>
          <a:prstGeom prst="rect">
            <a:avLst/>
          </a:prstGeom>
          <a:solidFill>
            <a:srgbClr val="E7F2F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Rectangles 80"/>
          <p:cNvSpPr/>
          <p:nvPr/>
        </p:nvSpPr>
        <p:spPr>
          <a:xfrm>
            <a:off x="5062855" y="4259580"/>
            <a:ext cx="1073785" cy="443865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1" name="Rectangles 280"/>
          <p:cNvSpPr/>
          <p:nvPr/>
        </p:nvSpPr>
        <p:spPr>
          <a:xfrm>
            <a:off x="2638425" y="81470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2" name="Rectangles 281"/>
          <p:cNvSpPr/>
          <p:nvPr/>
        </p:nvSpPr>
        <p:spPr>
          <a:xfrm>
            <a:off x="3009265" y="1773555"/>
            <a:ext cx="1073785" cy="473075"/>
          </a:xfrm>
          <a:prstGeom prst="rect">
            <a:avLst/>
          </a:prstGeom>
          <a:solidFill>
            <a:srgbClr val="DCFCE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3" name="Rectangles 282"/>
          <p:cNvSpPr/>
          <p:nvPr/>
        </p:nvSpPr>
        <p:spPr>
          <a:xfrm>
            <a:off x="3007995" y="2430145"/>
            <a:ext cx="1073785" cy="443865"/>
          </a:xfrm>
          <a:prstGeom prst="rect">
            <a:avLst/>
          </a:prstGeom>
          <a:solidFill>
            <a:srgbClr val="2344A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4" name="Rectangles 283"/>
          <p:cNvSpPr/>
          <p:nvPr/>
        </p:nvSpPr>
        <p:spPr>
          <a:xfrm>
            <a:off x="3009265" y="3057525"/>
            <a:ext cx="1073785" cy="418465"/>
          </a:xfrm>
          <a:prstGeom prst="rect">
            <a:avLst/>
          </a:prstGeom>
          <a:solidFill>
            <a:srgbClr val="DBEA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5" name="Rectangles 284"/>
          <p:cNvSpPr/>
          <p:nvPr/>
        </p:nvSpPr>
        <p:spPr>
          <a:xfrm>
            <a:off x="3007995" y="1139825"/>
            <a:ext cx="1073785" cy="450215"/>
          </a:xfrm>
          <a:prstGeom prst="rect">
            <a:avLst/>
          </a:prstGeom>
          <a:solidFill>
            <a:srgbClr val="30784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6" name="Rectangles 285"/>
          <p:cNvSpPr/>
          <p:nvPr/>
        </p:nvSpPr>
        <p:spPr>
          <a:xfrm>
            <a:off x="3009265" y="3659505"/>
            <a:ext cx="1073785" cy="418465"/>
          </a:xfrm>
          <a:prstGeom prst="rect">
            <a:avLst/>
          </a:prstGeom>
          <a:solidFill>
            <a:srgbClr val="A2442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7" name="Rectangles 286"/>
          <p:cNvSpPr/>
          <p:nvPr/>
        </p:nvSpPr>
        <p:spPr>
          <a:xfrm>
            <a:off x="3009265" y="4249420"/>
            <a:ext cx="1073785" cy="443865"/>
          </a:xfrm>
          <a:prstGeom prst="rect">
            <a:avLst/>
          </a:prstGeom>
          <a:solidFill>
            <a:srgbClr val="FFEDD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8" name="Rectangles 287"/>
          <p:cNvSpPr/>
          <p:nvPr/>
        </p:nvSpPr>
        <p:spPr>
          <a:xfrm>
            <a:off x="3009900" y="4915535"/>
            <a:ext cx="1073785" cy="418465"/>
          </a:xfrm>
          <a:prstGeom prst="rect">
            <a:avLst/>
          </a:prstGeom>
          <a:solidFill>
            <a:srgbClr val="A3303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9" name="Rectangles 288"/>
          <p:cNvSpPr/>
          <p:nvPr/>
        </p:nvSpPr>
        <p:spPr>
          <a:xfrm>
            <a:off x="3009900" y="5505450"/>
            <a:ext cx="1073785" cy="443865"/>
          </a:xfrm>
          <a:prstGeom prst="rect">
            <a:avLst/>
          </a:prstGeom>
          <a:solidFill>
            <a:srgbClr val="FEE2E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2" name="Rectangles 291"/>
          <p:cNvSpPr/>
          <p:nvPr/>
        </p:nvSpPr>
        <p:spPr>
          <a:xfrm>
            <a:off x="547370" y="814705"/>
            <a:ext cx="1816100" cy="577469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3" name="Rectangles 292"/>
          <p:cNvSpPr/>
          <p:nvPr/>
        </p:nvSpPr>
        <p:spPr>
          <a:xfrm>
            <a:off x="918845" y="1116330"/>
            <a:ext cx="1073785" cy="418465"/>
          </a:xfrm>
          <a:prstGeom prst="rect">
            <a:avLst/>
          </a:prstGeom>
          <a:solidFill>
            <a:srgbClr val="06B6D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4" name="Rectangles 293"/>
          <p:cNvSpPr/>
          <p:nvPr/>
        </p:nvSpPr>
        <p:spPr>
          <a:xfrm>
            <a:off x="918845" y="1706245"/>
            <a:ext cx="1073785" cy="443865"/>
          </a:xfrm>
          <a:prstGeom prst="rect">
            <a:avLst/>
          </a:prstGeom>
          <a:solidFill>
            <a:srgbClr val="EE434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638425" y="424815"/>
            <a:ext cx="18732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Tags for States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25195" y="424815"/>
            <a:ext cx="10674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Buttons</a:t>
            </a:r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5191125" y="424815"/>
            <a:ext cx="788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Basic</a:t>
            </a:r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5100320" y="1835785"/>
            <a:ext cx="4635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067300" y="2477770"/>
            <a:ext cx="6102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Border</a:t>
            </a:r>
            <a:endParaRPr lang="en-US" sz="1000"/>
          </a:p>
        </p:txBody>
      </p:sp>
      <p:sp>
        <p:nvSpPr>
          <p:cNvPr id="31" name="Text Box 30"/>
          <p:cNvSpPr txBox="1"/>
          <p:nvPr/>
        </p:nvSpPr>
        <p:spPr>
          <a:xfrm>
            <a:off x="5076825" y="307721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32" name="Text Box 31"/>
          <p:cNvSpPr txBox="1"/>
          <p:nvPr/>
        </p:nvSpPr>
        <p:spPr>
          <a:xfrm>
            <a:off x="5070475" y="3669030"/>
            <a:ext cx="10020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BackGround </a:t>
            </a:r>
            <a:endParaRPr lang="en-US" sz="1000"/>
          </a:p>
          <a:p>
            <a:r>
              <a:rPr lang="en-US" sz="1000"/>
              <a:t>Alternative</a:t>
            </a:r>
            <a:endParaRPr lang="en-US" sz="1000"/>
          </a:p>
        </p:txBody>
      </p:sp>
      <p:sp>
        <p:nvSpPr>
          <p:cNvPr id="33" name="Text Box 32"/>
          <p:cNvSpPr txBox="1"/>
          <p:nvPr/>
        </p:nvSpPr>
        <p:spPr>
          <a:xfrm>
            <a:off x="5081270" y="4297045"/>
            <a:ext cx="94043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/>
              <a:t>PlaceHolder</a:t>
            </a:r>
            <a:endParaRPr lang="en-US" sz="1000"/>
          </a:p>
        </p:txBody>
      </p:sp>
      <p:sp>
        <p:nvSpPr>
          <p:cNvPr id="34" name="Text Box 33"/>
          <p:cNvSpPr txBox="1"/>
          <p:nvPr/>
        </p:nvSpPr>
        <p:spPr>
          <a:xfrm>
            <a:off x="3007995" y="113855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Operational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3009900" y="245300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Being Transfer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3030220" y="366331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Maintenance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3009900" y="492315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Decommissioning Font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26465" y="1773555"/>
            <a:ext cx="10655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Delete Button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925195" y="1160780"/>
            <a:ext cx="1035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Edit Button</a:t>
            </a:r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10703</Words>
  <Application>WPS Presentation</Application>
  <PresentationFormat>宽屏</PresentationFormat>
  <Paragraphs>1496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DejaVu Sans</vt:lpstr>
      <vt:lpstr>Microsoft YaHei</vt:lpstr>
      <vt:lpstr>Droid Sans Fallback</vt:lpstr>
      <vt:lpstr>Arial Unicode MS</vt:lpstr>
      <vt:lpstr>Arial Black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lianny</cp:lastModifiedBy>
  <cp:revision>14</cp:revision>
  <dcterms:created xsi:type="dcterms:W3CDTF">2025-11-08T23:02:44Z</dcterms:created>
  <dcterms:modified xsi:type="dcterms:W3CDTF">2025-11-08T23:02:44Z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